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0"/>
  </p:notesMasterIdLst>
  <p:sldIdLst>
    <p:sldId id="456" r:id="rId5"/>
    <p:sldId id="428" r:id="rId6"/>
    <p:sldId id="493" r:id="rId7"/>
    <p:sldId id="484" r:id="rId8"/>
    <p:sldId id="494" r:id="rId9"/>
    <p:sldId id="496" r:id="rId10"/>
    <p:sldId id="497" r:id="rId11"/>
    <p:sldId id="498" r:id="rId12"/>
    <p:sldId id="492" r:id="rId13"/>
    <p:sldId id="460" r:id="rId14"/>
    <p:sldId id="474" r:id="rId15"/>
    <p:sldId id="473" r:id="rId16"/>
    <p:sldId id="476" r:id="rId17"/>
    <p:sldId id="463" r:id="rId18"/>
    <p:sldId id="280" r:id="rId19"/>
    <p:sldId id="281" r:id="rId20"/>
    <p:sldId id="486" r:id="rId21"/>
    <p:sldId id="482" r:id="rId22"/>
    <p:sldId id="487" r:id="rId23"/>
    <p:sldId id="480" r:id="rId24"/>
    <p:sldId id="488" r:id="rId25"/>
    <p:sldId id="490" r:id="rId26"/>
    <p:sldId id="491" r:id="rId27"/>
    <p:sldId id="419" r:id="rId28"/>
    <p:sldId id="461" r:id="rId29"/>
    <p:sldId id="436" r:id="rId30"/>
    <p:sldId id="437" r:id="rId31"/>
    <p:sldId id="438" r:id="rId32"/>
    <p:sldId id="431" r:id="rId33"/>
    <p:sldId id="430" r:id="rId34"/>
    <p:sldId id="429" r:id="rId35"/>
    <p:sldId id="495" r:id="rId36"/>
    <p:sldId id="452" r:id="rId37"/>
    <p:sldId id="450" r:id="rId38"/>
    <p:sldId id="483" r:id="rId39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E6A006-9D71-0030-07D5-29D58192690E}" name="Jess Lee" initials="JL" userId="S::jess@capitaloutcomes.co::c7037801-8a2d-46cc-8eff-406ea0b9aa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A99D"/>
    <a:srgbClr val="000000"/>
    <a:srgbClr val="93F205"/>
    <a:srgbClr val="4EF446"/>
    <a:srgbClr val="E1D527"/>
    <a:srgbClr val="669E91"/>
    <a:srgbClr val="3D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003DF-DF0B-4CD9-A6CD-4C10FCF72A66}" v="1702" dt="2025-07-08T02:07:03.015"/>
    <p1510:client id="{9C41037A-7752-43D4-BB6C-56387C56D041}" v="10" dt="2025-07-08T04:52:05.936"/>
    <p1510:client id="{C95E764A-2D25-4C03-8621-7874C58B9F9C}" v="2232" dt="2025-07-07T06:58:34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5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Hatzis" userId="d20e85e6-8c62-4cea-90da-668b10cd095d" providerId="ADAL" clId="{9C41037A-7752-43D4-BB6C-56387C56D041}"/>
    <pc:docChg chg="undo custSel addSld delSld modSld sldOrd">
      <pc:chgData name="Nick Hatzis" userId="d20e85e6-8c62-4cea-90da-668b10cd095d" providerId="ADAL" clId="{9C41037A-7752-43D4-BB6C-56387C56D041}" dt="2025-07-08T05:44:26.519" v="3152" actId="20577"/>
      <pc:docMkLst>
        <pc:docMk/>
      </pc:docMkLst>
      <pc:sldChg chg="ord">
        <pc:chgData name="Nick Hatzis" userId="d20e85e6-8c62-4cea-90da-668b10cd095d" providerId="ADAL" clId="{9C41037A-7752-43D4-BB6C-56387C56D041}" dt="2025-07-08T02:49:03.139" v="1"/>
        <pc:sldMkLst>
          <pc:docMk/>
          <pc:sldMk cId="3650580818" sldId="429"/>
        </pc:sldMkLst>
      </pc:sldChg>
      <pc:sldChg chg="ord">
        <pc:chgData name="Nick Hatzis" userId="d20e85e6-8c62-4cea-90da-668b10cd095d" providerId="ADAL" clId="{9C41037A-7752-43D4-BB6C-56387C56D041}" dt="2025-07-08T02:49:03.139" v="1"/>
        <pc:sldMkLst>
          <pc:docMk/>
          <pc:sldMk cId="2066964420" sldId="430"/>
        </pc:sldMkLst>
      </pc:sldChg>
      <pc:sldChg chg="ord">
        <pc:chgData name="Nick Hatzis" userId="d20e85e6-8c62-4cea-90da-668b10cd095d" providerId="ADAL" clId="{9C41037A-7752-43D4-BB6C-56387C56D041}" dt="2025-07-08T02:49:03.139" v="1"/>
        <pc:sldMkLst>
          <pc:docMk/>
          <pc:sldMk cId="492076568" sldId="431"/>
        </pc:sldMkLst>
      </pc:sldChg>
      <pc:sldChg chg="modSp mod">
        <pc:chgData name="Nick Hatzis" userId="d20e85e6-8c62-4cea-90da-668b10cd095d" providerId="ADAL" clId="{9C41037A-7752-43D4-BB6C-56387C56D041}" dt="2025-07-08T05:27:21.472" v="2947" actId="20577"/>
        <pc:sldMkLst>
          <pc:docMk/>
          <pc:sldMk cId="497875752" sldId="456"/>
        </pc:sldMkLst>
        <pc:spChg chg="mod">
          <ac:chgData name="Nick Hatzis" userId="d20e85e6-8c62-4cea-90da-668b10cd095d" providerId="ADAL" clId="{9C41037A-7752-43D4-BB6C-56387C56D041}" dt="2025-07-08T05:27:21.472" v="2947" actId="20577"/>
          <ac:spMkLst>
            <pc:docMk/>
            <pc:sldMk cId="497875752" sldId="456"/>
            <ac:spMk id="2" creationId="{82212069-7972-F712-71BF-8D4264C21C45}"/>
          </ac:spMkLst>
        </pc:spChg>
      </pc:sldChg>
      <pc:sldChg chg="add">
        <pc:chgData name="Nick Hatzis" userId="d20e85e6-8c62-4cea-90da-668b10cd095d" providerId="ADAL" clId="{9C41037A-7752-43D4-BB6C-56387C56D041}" dt="2025-07-08T04:19:04.172" v="2095"/>
        <pc:sldMkLst>
          <pc:docMk/>
          <pc:sldMk cId="2440130906" sldId="495"/>
        </pc:sldMkLst>
      </pc:sldChg>
      <pc:sldChg chg="del">
        <pc:chgData name="Nick Hatzis" userId="d20e85e6-8c62-4cea-90da-668b10cd095d" providerId="ADAL" clId="{9C41037A-7752-43D4-BB6C-56387C56D041}" dt="2025-07-08T04:18:57.600" v="2094" actId="2696"/>
        <pc:sldMkLst>
          <pc:docMk/>
          <pc:sldMk cId="4042263063" sldId="495"/>
        </pc:sldMkLst>
      </pc:sldChg>
      <pc:sldChg chg="delSp modSp new mod">
        <pc:chgData name="Nick Hatzis" userId="d20e85e6-8c62-4cea-90da-668b10cd095d" providerId="ADAL" clId="{9C41037A-7752-43D4-BB6C-56387C56D041}" dt="2025-07-08T05:44:26.519" v="3152" actId="20577"/>
        <pc:sldMkLst>
          <pc:docMk/>
          <pc:sldMk cId="3660610938" sldId="496"/>
        </pc:sldMkLst>
        <pc:spChg chg="mod">
          <ac:chgData name="Nick Hatzis" userId="d20e85e6-8c62-4cea-90da-668b10cd095d" providerId="ADAL" clId="{9C41037A-7752-43D4-BB6C-56387C56D041}" dt="2025-07-08T02:49:22.968" v="5" actId="20577"/>
          <ac:spMkLst>
            <pc:docMk/>
            <pc:sldMk cId="3660610938" sldId="496"/>
            <ac:spMk id="2" creationId="{3FB04EAC-6C02-1DA2-C302-313F6B8B73A2}"/>
          </ac:spMkLst>
        </pc:spChg>
        <pc:spChg chg="del">
          <ac:chgData name="Nick Hatzis" userId="d20e85e6-8c62-4cea-90da-668b10cd095d" providerId="ADAL" clId="{9C41037A-7752-43D4-BB6C-56387C56D041}" dt="2025-07-08T02:49:15.033" v="3" actId="478"/>
          <ac:spMkLst>
            <pc:docMk/>
            <pc:sldMk cId="3660610938" sldId="496"/>
            <ac:spMk id="3" creationId="{3E116755-4E7B-E91D-0124-8216DDF79288}"/>
          </ac:spMkLst>
        </pc:spChg>
        <pc:spChg chg="mod">
          <ac:chgData name="Nick Hatzis" userId="d20e85e6-8c62-4cea-90da-668b10cd095d" providerId="ADAL" clId="{9C41037A-7752-43D4-BB6C-56387C56D041}" dt="2025-07-08T05:44:26.519" v="3152" actId="20577"/>
          <ac:spMkLst>
            <pc:docMk/>
            <pc:sldMk cId="3660610938" sldId="496"/>
            <ac:spMk id="5" creationId="{944069BE-E5B2-64A6-11C7-4B3EB035CFD4}"/>
          </ac:spMkLst>
        </pc:spChg>
      </pc:sldChg>
      <pc:sldChg chg="addSp delSp modSp add mod">
        <pc:chgData name="Nick Hatzis" userId="d20e85e6-8c62-4cea-90da-668b10cd095d" providerId="ADAL" clId="{9C41037A-7752-43D4-BB6C-56387C56D041}" dt="2025-07-08T04:57:08.314" v="2923" actId="27636"/>
        <pc:sldMkLst>
          <pc:docMk/>
          <pc:sldMk cId="3718734849" sldId="497"/>
        </pc:sldMkLst>
        <pc:spChg chg="mod">
          <ac:chgData name="Nick Hatzis" userId="d20e85e6-8c62-4cea-90da-668b10cd095d" providerId="ADAL" clId="{9C41037A-7752-43D4-BB6C-56387C56D041}" dt="2025-07-08T02:56:49.988" v="1038" actId="20577"/>
          <ac:spMkLst>
            <pc:docMk/>
            <pc:sldMk cId="3718734849" sldId="497"/>
            <ac:spMk id="2" creationId="{67348851-4474-4A3A-FF79-BB0F7190C4D1}"/>
          </ac:spMkLst>
        </pc:spChg>
        <pc:spChg chg="mod">
          <ac:chgData name="Nick Hatzis" userId="d20e85e6-8c62-4cea-90da-668b10cd095d" providerId="ADAL" clId="{9C41037A-7752-43D4-BB6C-56387C56D041}" dt="2025-07-08T04:57:08.314" v="2923" actId="27636"/>
          <ac:spMkLst>
            <pc:docMk/>
            <pc:sldMk cId="3718734849" sldId="497"/>
            <ac:spMk id="5" creationId="{71F396F1-8FC6-8B7F-2AD0-F15530266743}"/>
          </ac:spMkLst>
        </pc:spChg>
        <pc:spChg chg="add del">
          <ac:chgData name="Nick Hatzis" userId="d20e85e6-8c62-4cea-90da-668b10cd095d" providerId="ADAL" clId="{9C41037A-7752-43D4-BB6C-56387C56D041}" dt="2025-07-08T03:48:38.706" v="1796" actId="22"/>
          <ac:spMkLst>
            <pc:docMk/>
            <pc:sldMk cId="3718734849" sldId="497"/>
            <ac:spMk id="6" creationId="{598C6599-92EF-60AE-9DBB-009C8A51A296}"/>
          </ac:spMkLst>
        </pc:spChg>
      </pc:sldChg>
      <pc:sldChg chg="modSp add mod">
        <pc:chgData name="Nick Hatzis" userId="d20e85e6-8c62-4cea-90da-668b10cd095d" providerId="ADAL" clId="{9C41037A-7752-43D4-BB6C-56387C56D041}" dt="2025-07-08T04:55:34.281" v="2808" actId="20577"/>
        <pc:sldMkLst>
          <pc:docMk/>
          <pc:sldMk cId="1107244092" sldId="498"/>
        </pc:sldMkLst>
        <pc:spChg chg="mod">
          <ac:chgData name="Nick Hatzis" userId="d20e85e6-8c62-4cea-90da-668b10cd095d" providerId="ADAL" clId="{9C41037A-7752-43D4-BB6C-56387C56D041}" dt="2025-07-08T03:48:47.612" v="1815" actId="20577"/>
          <ac:spMkLst>
            <pc:docMk/>
            <pc:sldMk cId="1107244092" sldId="498"/>
            <ac:spMk id="2" creationId="{0D909A76-1998-FB0B-B9A1-080325DAB0E8}"/>
          </ac:spMkLst>
        </pc:spChg>
        <pc:spChg chg="mod">
          <ac:chgData name="Nick Hatzis" userId="d20e85e6-8c62-4cea-90da-668b10cd095d" providerId="ADAL" clId="{9C41037A-7752-43D4-BB6C-56387C56D041}" dt="2025-07-08T04:55:34.281" v="2808" actId="20577"/>
          <ac:spMkLst>
            <pc:docMk/>
            <pc:sldMk cId="1107244092" sldId="498"/>
            <ac:spMk id="5" creationId="{A2C30922-32DF-6F0A-CA79-2DE95B51E6B8}"/>
          </ac:spMkLst>
        </pc:spChg>
      </pc:sldChg>
      <pc:sldChg chg="add del">
        <pc:chgData name="Nick Hatzis" userId="d20e85e6-8c62-4cea-90da-668b10cd095d" providerId="ADAL" clId="{9C41037A-7752-43D4-BB6C-56387C56D041}" dt="2025-07-08T04:18:48.287" v="2093"/>
        <pc:sldMkLst>
          <pc:docMk/>
          <pc:sldMk cId="4087303288" sldId="499"/>
        </pc:sldMkLst>
      </pc:sldChg>
    </pc:docChg>
  </pc:docChgLst>
</pc:chgInfo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hyperlink" Target="https://atchisonanalytics.github.io/Wattle.html" TargetMode="External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hyperlink" Target="https://atchisonanalytics.github.io/Wattl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CIO Functions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KIMI Pre-Product DD</a:t>
          </a: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KIMI Build Out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Provide comprehensive governance of the approved product list as well as ongoing management and recommendations</a:t>
          </a: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endParaRPr lang="en-AU" sz="1200" dirty="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r>
            <a:rPr lang="en-US" sz="1200" dirty="0"/>
            <a:t>Execute initial build out of 3x investment products over 18 months.</a:t>
          </a:r>
          <a:endParaRPr lang="en-AU" sz="1200" dirty="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Direct Loan Portfolio</a:t>
          </a: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Review and make recommendations of direct loan opportunities.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44B580EF-F2D5-4F58-82E0-D84199344FC1}">
      <dgm:prSet custT="1"/>
      <dgm:spPr/>
      <dgm:t>
        <a:bodyPr/>
        <a:lstStyle/>
        <a:p>
          <a:r>
            <a:rPr lang="en-AU" sz="1200" dirty="0">
              <a:latin typeface="Arial" panose="020B0604020202020204"/>
              <a:ea typeface="+mn-ea"/>
              <a:cs typeface="+mn-cs"/>
            </a:rPr>
            <a:t>Conduct independent reviews of KIMI products, including analysis of corporate structures, personnel and process.</a:t>
          </a:r>
        </a:p>
      </dgm:t>
    </dgm:pt>
    <dgm:pt modelId="{AF298583-6FC7-4033-86CE-A28A11021671}" type="parTrans" cxnId="{3D078C65-0ECD-4BAD-946F-941ECC1F0BF4}">
      <dgm:prSet/>
      <dgm:spPr/>
      <dgm:t>
        <a:bodyPr/>
        <a:lstStyle/>
        <a:p>
          <a:endParaRPr lang="en-AU"/>
        </a:p>
      </dgm:t>
    </dgm:pt>
    <dgm:pt modelId="{BCC723BD-0504-47B3-880C-2E76782CDCFA}" type="sibTrans" cxnId="{3D078C65-0ECD-4BAD-946F-941ECC1F0BF4}">
      <dgm:prSet/>
      <dgm:spPr/>
      <dgm:t>
        <a:bodyPr/>
        <a:lstStyle/>
        <a:p>
          <a:endParaRPr lang="en-AU"/>
        </a:p>
      </dgm:t>
    </dgm:pt>
    <dgm:pt modelId="{2F375BEC-AE67-4B36-B3A2-F19D6684E965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Quarterly asset allocation reviews. Providing alignment with current market dynamics and key objectives.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79A27CB1-BFF0-476C-84A3-06E819E86183}" type="parTrans" cxnId="{B3134356-2394-4677-AB24-4355ECB63529}">
      <dgm:prSet/>
      <dgm:spPr/>
      <dgm:t>
        <a:bodyPr/>
        <a:lstStyle/>
        <a:p>
          <a:endParaRPr lang="en-AU"/>
        </a:p>
      </dgm:t>
    </dgm:pt>
    <dgm:pt modelId="{85A1ACE4-6700-42B4-A5A3-8AF20093BCE9}" type="sibTrans" cxnId="{B3134356-2394-4677-AB24-4355ECB63529}">
      <dgm:prSet/>
      <dgm:spPr/>
      <dgm:t>
        <a:bodyPr/>
        <a:lstStyle/>
        <a:p>
          <a:endParaRPr lang="en-AU"/>
        </a:p>
      </dgm:t>
    </dgm:pt>
    <dgm:pt modelId="{F536EE10-2670-4AA8-8EA0-E8A11D61A183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Construct new reporting system that helps streamline the direct loan portfolio and move away from excel based tracking.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112BB077-2191-46D9-AE19-8EC2C7F9B3FF}" type="parTrans" cxnId="{614AB7D4-2D15-4FCD-BA94-B14A419F3DCF}">
      <dgm:prSet/>
      <dgm:spPr/>
      <dgm:t>
        <a:bodyPr/>
        <a:lstStyle/>
        <a:p>
          <a:endParaRPr lang="en-AU"/>
        </a:p>
      </dgm:t>
    </dgm:pt>
    <dgm:pt modelId="{4EB8CA56-E8AC-47F1-8AC7-906EC72D4730}" type="sibTrans" cxnId="{614AB7D4-2D15-4FCD-BA94-B14A419F3DCF}">
      <dgm:prSet/>
      <dgm:spPr/>
      <dgm:t>
        <a:bodyPr/>
        <a:lstStyle/>
        <a:p>
          <a:endParaRPr lang="en-AU"/>
        </a:p>
      </dgm:t>
    </dgm:pt>
    <dgm:pt modelId="{00D8A1A5-2948-4A65-8978-2AED72FC1929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Portfolio risk monitoring and reporting.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B2D204FA-97AD-4BF2-B284-5A8F9B4B2569}" type="parTrans" cxnId="{4FDB3D7E-212C-4494-B014-1E2338F086FD}">
      <dgm:prSet/>
      <dgm:spPr/>
      <dgm:t>
        <a:bodyPr/>
        <a:lstStyle/>
        <a:p>
          <a:endParaRPr lang="en-AU"/>
        </a:p>
      </dgm:t>
    </dgm:pt>
    <dgm:pt modelId="{EB85F6BE-7D99-4446-BAA5-87438A77E960}" type="sibTrans" cxnId="{4FDB3D7E-212C-4494-B014-1E2338F086FD}">
      <dgm:prSet/>
      <dgm:spPr/>
      <dgm:t>
        <a:bodyPr/>
        <a:lstStyle/>
        <a:p>
          <a:endParaRPr lang="en-AU"/>
        </a:p>
      </dgm:t>
    </dgm:pt>
    <dgm:pt modelId="{01FEC1E1-A35C-41D9-B497-7787C0A98A0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Manager due-diligence, selection and evaluation. Report on any changes within approved managers.</a:t>
          </a:r>
        </a:p>
      </dgm:t>
    </dgm:pt>
    <dgm:pt modelId="{C449C770-3086-49ED-8725-A879B0790476}" type="parTrans" cxnId="{6EFA82EA-F5AF-4749-916F-50C342E65A2C}">
      <dgm:prSet/>
      <dgm:spPr/>
      <dgm:t>
        <a:bodyPr/>
        <a:lstStyle/>
        <a:p>
          <a:endParaRPr lang="en-AU"/>
        </a:p>
      </dgm:t>
    </dgm:pt>
    <dgm:pt modelId="{00E596BB-C5AD-4CEE-A43E-DB35F0DDBB02}" type="sibTrans" cxnId="{6EFA82EA-F5AF-4749-916F-50C342E65A2C}">
      <dgm:prSet/>
      <dgm:spPr/>
      <dgm:t>
        <a:bodyPr/>
        <a:lstStyle/>
        <a:p>
          <a:endParaRPr lang="en-AU"/>
        </a:p>
      </dgm:t>
    </dgm:pt>
    <dgm:pt modelId="{1C33EF60-B218-44E0-A7D8-F0DD20658152}">
      <dgm:prSet phldrT="[Text]" custT="1"/>
      <dgm:spPr/>
      <dgm:t>
        <a:bodyPr/>
        <a:lstStyle/>
        <a:p>
          <a:r>
            <a:rPr lang="en-AU" sz="1200" dirty="0"/>
            <a:t>Provide ongoing investment management function of each product strategy.</a:t>
          </a:r>
        </a:p>
      </dgm:t>
    </dgm:pt>
    <dgm:pt modelId="{C3E9CE83-8B06-427B-AFFE-2A116511348F}" type="parTrans" cxnId="{61E448FD-33CD-4CFC-99DB-3F30B5E088A1}">
      <dgm:prSet/>
      <dgm:spPr/>
      <dgm:t>
        <a:bodyPr/>
        <a:lstStyle/>
        <a:p>
          <a:endParaRPr lang="en-AU"/>
        </a:p>
      </dgm:t>
    </dgm:pt>
    <dgm:pt modelId="{42B066E8-7B7E-48BE-9614-8D372B6BC303}" type="sibTrans" cxnId="{61E448FD-33CD-4CFC-99DB-3F30B5E088A1}">
      <dgm:prSet/>
      <dgm:spPr/>
      <dgm:t>
        <a:bodyPr/>
        <a:lstStyle/>
        <a:p>
          <a:endParaRPr lang="en-AU"/>
        </a:p>
      </dgm:t>
    </dgm:pt>
    <dgm:pt modelId="{FD7C536C-51D9-4097-B405-351445C5D4FB}">
      <dgm:prSet custT="1"/>
      <dgm:spPr/>
      <dgm:t>
        <a:bodyPr/>
        <a:lstStyle/>
        <a:p>
          <a:r>
            <a:rPr lang="en-AU" sz="1200" dirty="0">
              <a:latin typeface="Arial" panose="020B0604020202020204"/>
              <a:ea typeface="+mn-ea"/>
              <a:cs typeface="+mn-cs"/>
            </a:rPr>
            <a:t>Provide reports validating opportunity as well as identifying key risk factors.</a:t>
          </a:r>
        </a:p>
      </dgm:t>
    </dgm:pt>
    <dgm:pt modelId="{24EE6AAE-C76E-4C62-BADC-DC089FEC3274}" type="parTrans" cxnId="{4CEA654F-63DB-47CB-859A-078CC4C0D801}">
      <dgm:prSet/>
      <dgm:spPr/>
      <dgm:t>
        <a:bodyPr/>
        <a:lstStyle/>
        <a:p>
          <a:endParaRPr lang="en-AU"/>
        </a:p>
      </dgm:t>
    </dgm:pt>
    <dgm:pt modelId="{756BF43E-463B-4BA1-9B34-896F20A1AB35}" type="sibTrans" cxnId="{4CEA654F-63DB-47CB-859A-078CC4C0D801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4" custScaleX="100769" custScaleY="177721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4" custScaleY="206057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4" custScaleY="101143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4" custLinFactNeighborY="3558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4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4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FCE31064-67A4-4BEC-AFB9-3A75A9C9E103}" type="presOf" srcId="{FD7C536C-51D9-4097-B405-351445C5D4FB}" destId="{4302BC3C-57DB-47DE-97B3-A55EA511B4CF}" srcOrd="0" destOrd="2" presId="urn:microsoft.com/office/officeart/2005/8/layout/vList5"/>
    <dgm:cxn modelId="{3D078C65-0ECD-4BAD-946F-941ECC1F0BF4}" srcId="{5708EEB3-DE51-433B-A60F-872B7852BCD2}" destId="{44B580EF-F2D5-4F58-82E0-D84199344FC1}" srcOrd="1" destOrd="0" parTransId="{AF298583-6FC7-4033-86CE-A28A11021671}" sibTransId="{BCC723BD-0504-47B3-880C-2E76782CDCFA}"/>
    <dgm:cxn modelId="{15A37067-3126-4B05-9645-9480F962F75C}" type="presOf" srcId="{01FEC1E1-A35C-41D9-B497-7787C0A98A01}" destId="{51EAAC29-7133-48E2-BA20-1C59C0CE160D}" srcOrd="0" destOrd="1" presId="urn:microsoft.com/office/officeart/2005/8/layout/vList5"/>
    <dgm:cxn modelId="{4CEA654F-63DB-47CB-859A-078CC4C0D801}" srcId="{5708EEB3-DE51-433B-A60F-872B7852BCD2}" destId="{FD7C536C-51D9-4097-B405-351445C5D4FB}" srcOrd="2" destOrd="0" parTransId="{24EE6AAE-C76E-4C62-BADC-DC089FEC3274}" sibTransId="{756BF43E-463B-4BA1-9B34-896F20A1AB35}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95CB9353-3EC7-424D-AD90-89CA76842BA1}" type="presOf" srcId="{00D8A1A5-2948-4A65-8978-2AED72FC1929}" destId="{51EAAC29-7133-48E2-BA20-1C59C0CE160D}" srcOrd="0" destOrd="3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B3134356-2394-4677-AB24-4355ECB63529}" srcId="{AA9211D3-58F5-489C-A0E6-EB2C7F48F056}" destId="{2F375BEC-AE67-4B36-B3A2-F19D6684E965}" srcOrd="2" destOrd="0" parTransId="{79A27CB1-BFF0-476C-84A3-06E819E86183}" sibTransId="{85A1ACE4-6700-42B4-A5A3-8AF20093BCE9}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084E3D79-B4FC-4214-86D4-7F558E34F90F}" type="presOf" srcId="{44B580EF-F2D5-4F58-82E0-D84199344FC1}" destId="{4302BC3C-57DB-47DE-97B3-A55EA511B4CF}" srcOrd="0" destOrd="1" presId="urn:microsoft.com/office/officeart/2005/8/layout/vList5"/>
    <dgm:cxn modelId="{4FDB3D7E-212C-4494-B014-1E2338F086FD}" srcId="{AA9211D3-58F5-489C-A0E6-EB2C7F48F056}" destId="{00D8A1A5-2948-4A65-8978-2AED72FC1929}" srcOrd="3" destOrd="0" parTransId="{B2D204FA-97AD-4BF2-B284-5A8F9B4B2569}" sibTransId="{EB85F6BE-7D99-4446-BAA5-87438A77E96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F59CDF91-9516-4F12-8FA2-F272FD21DE14}" type="presOf" srcId="{F536EE10-2670-4AA8-8EA0-E8A11D61A183}" destId="{5D3C169D-592D-43B3-96A2-E2AF00F98FCB}" srcOrd="0" destOrd="1" presId="urn:microsoft.com/office/officeart/2005/8/layout/vList5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CCB593AD-CE4E-4D15-BD5C-D8274D9B2A0D}" type="presOf" srcId="{1C33EF60-B218-44E0-A7D8-F0DD20658152}" destId="{CC9BA2DD-C916-4847-89FF-21DD6BD06D62}" srcOrd="0" destOrd="1" presId="urn:microsoft.com/office/officeart/2005/8/layout/vList5"/>
    <dgm:cxn modelId="{B10237CC-852C-4EFF-959F-5DD6318FF42B}" type="presOf" srcId="{2F375BEC-AE67-4B36-B3A2-F19D6684E965}" destId="{51EAAC29-7133-48E2-BA20-1C59C0CE160D}" srcOrd="0" destOrd="2" presId="urn:microsoft.com/office/officeart/2005/8/layout/vList5"/>
    <dgm:cxn modelId="{614AB7D4-2D15-4FCD-BA94-B14A419F3DCF}" srcId="{D516ECE9-BCB2-427B-B4C7-DEBFD86EB069}" destId="{F536EE10-2670-4AA8-8EA0-E8A11D61A183}" srcOrd="1" destOrd="0" parTransId="{112BB077-2191-46D9-AE19-8EC2C7F9B3FF}" sibTransId="{4EB8CA56-E8AC-47F1-8AC7-906EC72D4730}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6EFA82EA-F5AF-4749-916F-50C342E65A2C}" srcId="{AA9211D3-58F5-489C-A0E6-EB2C7F48F056}" destId="{01FEC1E1-A35C-41D9-B497-7787C0A98A01}" srcOrd="1" destOrd="0" parTransId="{C449C770-3086-49ED-8725-A879B0790476}" sibTransId="{00E596BB-C5AD-4CEE-A43E-DB35F0DDBB02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61E448FD-33CD-4CFC-99DB-3F30B5E088A1}" srcId="{12E69C22-CF89-414C-BBB7-E78EA5EFF4F3}" destId="{1C33EF60-B218-44E0-A7D8-F0DD20658152}" srcOrd="1" destOrd="0" parTransId="{C3E9CE83-8B06-427B-AFFE-2A116511348F}" sibTransId="{42B066E8-7B7E-48BE-9614-8D372B6BC303}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23B178-8CFB-4560-A7DA-8B4FB15D3334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AU"/>
        </a:p>
      </dgm:t>
    </dgm:pt>
    <dgm:pt modelId="{24F31CB4-2BB9-49E6-8AA9-93198DFC50E1}">
      <dgm:prSet phldrT="[Text]" custT="1"/>
      <dgm:spPr/>
      <dgm:t>
        <a:bodyPr/>
        <a:lstStyle/>
        <a:p>
          <a:r>
            <a:rPr lang="en-AU" sz="1400"/>
            <a:t>1. Market Outlook</a:t>
          </a:r>
        </a:p>
      </dgm:t>
    </dgm:pt>
    <dgm:pt modelId="{8DB5A4D8-5117-43C3-94B4-A02168352966}" type="parTrans" cxnId="{E99FDD0D-99AA-479C-9F38-6ED5B927CE48}">
      <dgm:prSet/>
      <dgm:spPr/>
      <dgm:t>
        <a:bodyPr/>
        <a:lstStyle/>
        <a:p>
          <a:endParaRPr lang="en-AU" sz="1200"/>
        </a:p>
      </dgm:t>
    </dgm:pt>
    <dgm:pt modelId="{8E514F06-D5F6-4144-AE6F-C7D5075F4BC0}" type="sibTrans" cxnId="{E99FDD0D-99AA-479C-9F38-6ED5B927CE48}">
      <dgm:prSet/>
      <dgm:spPr/>
      <dgm:t>
        <a:bodyPr/>
        <a:lstStyle/>
        <a:p>
          <a:endParaRPr lang="en-AU" sz="1200"/>
        </a:p>
      </dgm:t>
    </dgm:pt>
    <dgm:pt modelId="{5D659DC0-2840-44FB-ACB8-F3F81D121D88}">
      <dgm:prSet phldrT="[Text]" custT="1"/>
      <dgm:spPr/>
      <dgm:t>
        <a:bodyPr/>
        <a:lstStyle/>
        <a:p>
          <a:r>
            <a:rPr lang="en-AU" sz="1400"/>
            <a:t>2. Portfolio Objectives</a:t>
          </a:r>
        </a:p>
      </dgm:t>
    </dgm:pt>
    <dgm:pt modelId="{9B8C4C53-DBE7-405C-866A-F0FE78195780}" type="parTrans" cxnId="{F647C768-BF6D-4053-997D-682D263A87EE}">
      <dgm:prSet/>
      <dgm:spPr/>
      <dgm:t>
        <a:bodyPr/>
        <a:lstStyle/>
        <a:p>
          <a:endParaRPr lang="en-AU" sz="1200"/>
        </a:p>
      </dgm:t>
    </dgm:pt>
    <dgm:pt modelId="{AABB2831-2C73-400C-91F0-C4AA7DEF7BAC}" type="sibTrans" cxnId="{F647C768-BF6D-4053-997D-682D263A87EE}">
      <dgm:prSet/>
      <dgm:spPr/>
      <dgm:t>
        <a:bodyPr/>
        <a:lstStyle/>
        <a:p>
          <a:endParaRPr lang="en-AU" sz="1200"/>
        </a:p>
      </dgm:t>
    </dgm:pt>
    <dgm:pt modelId="{B2F1A852-BB71-4CAF-9FCE-F0CE411BFE1C}">
      <dgm:prSet phldrT="[Text]" custT="1"/>
      <dgm:spPr/>
      <dgm:t>
        <a:bodyPr/>
        <a:lstStyle/>
        <a:p>
          <a:r>
            <a:rPr lang="en-AU" sz="1400"/>
            <a:t>3. Stress Test and Optimise</a:t>
          </a:r>
        </a:p>
      </dgm:t>
    </dgm:pt>
    <dgm:pt modelId="{B6E98022-C293-4801-A70C-648CB3E55F10}" type="parTrans" cxnId="{DBAE73E5-D9DE-4EFB-8AC4-858A8AA45C8F}">
      <dgm:prSet/>
      <dgm:spPr/>
      <dgm:t>
        <a:bodyPr/>
        <a:lstStyle/>
        <a:p>
          <a:endParaRPr lang="en-AU" sz="1200"/>
        </a:p>
      </dgm:t>
    </dgm:pt>
    <dgm:pt modelId="{0BFB0821-2C59-4F46-B237-50EDEED4C162}" type="sibTrans" cxnId="{DBAE73E5-D9DE-4EFB-8AC4-858A8AA45C8F}">
      <dgm:prSet/>
      <dgm:spPr/>
      <dgm:t>
        <a:bodyPr/>
        <a:lstStyle/>
        <a:p>
          <a:endParaRPr lang="en-AU" sz="1200"/>
        </a:p>
      </dgm:t>
    </dgm:pt>
    <dgm:pt modelId="{CC0D0199-3702-4A90-AAEF-09BA62E6403A}">
      <dgm:prSet phldrT="[Text]" custT="1"/>
      <dgm:spPr>
        <a:solidFill>
          <a:srgbClr val="00B050"/>
        </a:solidFill>
      </dgm:spPr>
      <dgm:t>
        <a:bodyPr/>
        <a:lstStyle/>
        <a:p>
          <a:r>
            <a:rPr lang="en-AU" sz="1400"/>
            <a:t>4. Build Sector Portfolios</a:t>
          </a:r>
        </a:p>
      </dgm:t>
    </dgm:pt>
    <dgm:pt modelId="{109EA025-8AAF-470E-94D2-82081D296A70}" type="parTrans" cxnId="{3D6828F3-212A-43C5-8E5F-EDD9E64E0031}">
      <dgm:prSet/>
      <dgm:spPr/>
      <dgm:t>
        <a:bodyPr/>
        <a:lstStyle/>
        <a:p>
          <a:endParaRPr lang="en-AU" sz="1200"/>
        </a:p>
      </dgm:t>
    </dgm:pt>
    <dgm:pt modelId="{6F5D5C6A-C882-4D9C-ACAD-1A7D02B2B2CA}" type="sibTrans" cxnId="{3D6828F3-212A-43C5-8E5F-EDD9E64E0031}">
      <dgm:prSet/>
      <dgm:spPr/>
      <dgm:t>
        <a:bodyPr/>
        <a:lstStyle/>
        <a:p>
          <a:endParaRPr lang="en-AU" sz="1200"/>
        </a:p>
      </dgm:t>
    </dgm:pt>
    <dgm:pt modelId="{628FD705-3BB6-4E33-8AA8-649B809C1528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ctr"/>
          <a:r>
            <a:rPr lang="en-AU" sz="1400"/>
            <a:t>5. Bottom-up risk analysis</a:t>
          </a:r>
        </a:p>
      </dgm:t>
    </dgm:pt>
    <dgm:pt modelId="{6D9490DF-4CC4-467A-B6D0-A0BE1928E2C9}" type="parTrans" cxnId="{D9645AAC-CA0D-4F1B-8D11-5357B57672F3}">
      <dgm:prSet/>
      <dgm:spPr/>
      <dgm:t>
        <a:bodyPr/>
        <a:lstStyle/>
        <a:p>
          <a:endParaRPr lang="en-AU" sz="1200"/>
        </a:p>
      </dgm:t>
    </dgm:pt>
    <dgm:pt modelId="{B95D2551-6910-4098-AE54-E1C1EAE981E2}" type="sibTrans" cxnId="{D9645AAC-CA0D-4F1B-8D11-5357B57672F3}">
      <dgm:prSet/>
      <dgm:spPr>
        <a:ln>
          <a:solidFill>
            <a:srgbClr val="3D555E"/>
          </a:solidFill>
        </a:ln>
      </dgm:spPr>
      <dgm:t>
        <a:bodyPr/>
        <a:lstStyle/>
        <a:p>
          <a:endParaRPr lang="en-AU" sz="1200"/>
        </a:p>
      </dgm:t>
    </dgm:pt>
    <dgm:pt modelId="{ACC78C4C-B4F2-4C9E-8C9F-AAB18BA25EB7}">
      <dgm:prSet custT="1"/>
      <dgm:spPr>
        <a:solidFill>
          <a:schemeClr val="accent5"/>
        </a:solidFill>
      </dgm:spPr>
      <dgm:t>
        <a:bodyPr/>
        <a:lstStyle/>
        <a:p>
          <a:r>
            <a:rPr lang="en-AU" sz="1400"/>
            <a:t>7. Monitor</a:t>
          </a:r>
        </a:p>
      </dgm:t>
    </dgm:pt>
    <dgm:pt modelId="{55401761-6097-4FA7-9024-1A616E122252}" type="parTrans" cxnId="{A7CEFE50-F26A-4044-8D67-672D610C2E1E}">
      <dgm:prSet/>
      <dgm:spPr/>
      <dgm:t>
        <a:bodyPr/>
        <a:lstStyle/>
        <a:p>
          <a:endParaRPr lang="en-AU" sz="1200"/>
        </a:p>
      </dgm:t>
    </dgm:pt>
    <dgm:pt modelId="{08216E1C-FDFD-4063-921E-648C12ACA347}" type="sibTrans" cxnId="{A7CEFE50-F26A-4044-8D67-672D610C2E1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AU" sz="1200" b="1"/>
        </a:p>
      </dgm:t>
    </dgm:pt>
    <dgm:pt modelId="{EB296364-B3B7-4B78-B6BD-F06D2A0E2A77}">
      <dgm:prSet custT="1"/>
      <dgm:spPr>
        <a:solidFill>
          <a:srgbClr val="669E91"/>
        </a:solidFill>
      </dgm:spPr>
      <dgm:t>
        <a:bodyPr/>
        <a:lstStyle/>
        <a:p>
          <a:r>
            <a:rPr lang="en-AU" sz="1400"/>
            <a:t>6. Refine</a:t>
          </a:r>
        </a:p>
      </dgm:t>
    </dgm:pt>
    <dgm:pt modelId="{DE57795D-C4DD-4B22-BA3B-647126CD97EA}" type="parTrans" cxnId="{D0B27A47-52AE-4913-BEDC-F52D7DC4AF9D}">
      <dgm:prSet/>
      <dgm:spPr/>
      <dgm:t>
        <a:bodyPr/>
        <a:lstStyle/>
        <a:p>
          <a:endParaRPr lang="en-AU" sz="1200"/>
        </a:p>
      </dgm:t>
    </dgm:pt>
    <dgm:pt modelId="{379CBE8F-81CC-4EFD-A510-024EB52C558E}" type="sibTrans" cxnId="{D0B27A47-52AE-4913-BEDC-F52D7DC4AF9D}">
      <dgm:prSet/>
      <dgm:spPr/>
      <dgm:t>
        <a:bodyPr/>
        <a:lstStyle/>
        <a:p>
          <a:endParaRPr lang="en-AU" sz="1200"/>
        </a:p>
      </dgm:t>
    </dgm:pt>
    <dgm:pt modelId="{7BC285B8-4953-46B0-B4AF-86A433B49359}" type="pres">
      <dgm:prSet presAssocID="{5223B178-8CFB-4560-A7DA-8B4FB15D3334}" presName="cycle" presStyleCnt="0">
        <dgm:presLayoutVars>
          <dgm:dir/>
          <dgm:resizeHandles val="exact"/>
        </dgm:presLayoutVars>
      </dgm:prSet>
      <dgm:spPr/>
    </dgm:pt>
    <dgm:pt modelId="{7499D5ED-4986-4DFF-BCF8-06BD4EE96BE0}" type="pres">
      <dgm:prSet presAssocID="{24F31CB4-2BB9-49E6-8AA9-93198DFC50E1}" presName="node" presStyleLbl="node1" presStyleIdx="0" presStyleCnt="7" custScaleX="150602" custRadScaleRad="100136" custRadScaleInc="2785">
        <dgm:presLayoutVars>
          <dgm:bulletEnabled val="1"/>
        </dgm:presLayoutVars>
      </dgm:prSet>
      <dgm:spPr/>
    </dgm:pt>
    <dgm:pt modelId="{09D4E4F1-1C4D-474B-A7DD-6A88472C99DA}" type="pres">
      <dgm:prSet presAssocID="{24F31CB4-2BB9-49E6-8AA9-93198DFC50E1}" presName="spNode" presStyleCnt="0"/>
      <dgm:spPr/>
    </dgm:pt>
    <dgm:pt modelId="{41E875C4-FE0F-4A00-BD55-1E86F05E7823}" type="pres">
      <dgm:prSet presAssocID="{8E514F06-D5F6-4144-AE6F-C7D5075F4BC0}" presName="sibTrans" presStyleLbl="sibTrans1D1" presStyleIdx="0" presStyleCnt="7"/>
      <dgm:spPr/>
    </dgm:pt>
    <dgm:pt modelId="{6EB0E9F9-081F-44D5-B29E-588BC86C347E}" type="pres">
      <dgm:prSet presAssocID="{5D659DC0-2840-44FB-ACB8-F3F81D121D88}" presName="node" presStyleLbl="node1" presStyleIdx="1" presStyleCnt="7" custScaleX="156176" custRadScaleRad="111569" custRadScaleInc="44586">
        <dgm:presLayoutVars>
          <dgm:bulletEnabled val="1"/>
        </dgm:presLayoutVars>
      </dgm:prSet>
      <dgm:spPr/>
    </dgm:pt>
    <dgm:pt modelId="{D62A2D54-7265-45C4-AC68-F547F9BED7C1}" type="pres">
      <dgm:prSet presAssocID="{5D659DC0-2840-44FB-ACB8-F3F81D121D88}" presName="spNode" presStyleCnt="0"/>
      <dgm:spPr/>
    </dgm:pt>
    <dgm:pt modelId="{DA6D0E5F-B31C-4CCE-BF48-2C06D9180D7D}" type="pres">
      <dgm:prSet presAssocID="{AABB2831-2C73-400C-91F0-C4AA7DEF7BAC}" presName="sibTrans" presStyleLbl="sibTrans1D1" presStyleIdx="1" presStyleCnt="7"/>
      <dgm:spPr/>
    </dgm:pt>
    <dgm:pt modelId="{4C72FB03-591D-46B8-987A-D2B74AF65811}" type="pres">
      <dgm:prSet presAssocID="{B2F1A852-BB71-4CAF-9FCE-F0CE411BFE1C}" presName="node" presStyleLbl="node1" presStyleIdx="2" presStyleCnt="7" custScaleX="155986" custRadScaleRad="111026" custRadScaleInc="-33241">
        <dgm:presLayoutVars>
          <dgm:bulletEnabled val="1"/>
        </dgm:presLayoutVars>
      </dgm:prSet>
      <dgm:spPr/>
    </dgm:pt>
    <dgm:pt modelId="{011F894F-9054-4D4F-94B0-F8425096B747}" type="pres">
      <dgm:prSet presAssocID="{B2F1A852-BB71-4CAF-9FCE-F0CE411BFE1C}" presName="spNode" presStyleCnt="0"/>
      <dgm:spPr/>
    </dgm:pt>
    <dgm:pt modelId="{C5F32DFF-D1B0-4293-B00D-E3E7EC6C17D3}" type="pres">
      <dgm:prSet presAssocID="{0BFB0821-2C59-4F46-B237-50EDEED4C162}" presName="sibTrans" presStyleLbl="sibTrans1D1" presStyleIdx="2" presStyleCnt="7"/>
      <dgm:spPr/>
    </dgm:pt>
    <dgm:pt modelId="{BDD2DDF9-237A-4C22-914E-58CB84A379E8}" type="pres">
      <dgm:prSet presAssocID="{CC0D0199-3702-4A90-AAEF-09BA62E6403A}" presName="node" presStyleLbl="node1" presStyleIdx="3" presStyleCnt="7" custScaleX="159397" custRadScaleRad="101891" custRadScaleInc="-67586">
        <dgm:presLayoutVars>
          <dgm:bulletEnabled val="1"/>
        </dgm:presLayoutVars>
      </dgm:prSet>
      <dgm:spPr/>
    </dgm:pt>
    <dgm:pt modelId="{29C2AEE6-7C57-4722-BA1F-33B4F8CE7A21}" type="pres">
      <dgm:prSet presAssocID="{CC0D0199-3702-4A90-AAEF-09BA62E6403A}" presName="spNode" presStyleCnt="0"/>
      <dgm:spPr/>
    </dgm:pt>
    <dgm:pt modelId="{9E306667-702C-4FC8-AC15-C000FB8AFB6A}" type="pres">
      <dgm:prSet presAssocID="{6F5D5C6A-C882-4D9C-ACAD-1A7D02B2B2CA}" presName="sibTrans" presStyleLbl="sibTrans1D1" presStyleIdx="3" presStyleCnt="7"/>
      <dgm:spPr/>
    </dgm:pt>
    <dgm:pt modelId="{FC9CB1D9-B68F-4B0B-8E42-C8358F1BEC70}" type="pres">
      <dgm:prSet presAssocID="{628FD705-3BB6-4E33-8AA8-649B809C1528}" presName="node" presStyleLbl="node1" presStyleIdx="4" presStyleCnt="7" custScaleX="147531" custRadScaleRad="99903" custRadScaleInc="58702">
        <dgm:presLayoutVars>
          <dgm:bulletEnabled val="1"/>
        </dgm:presLayoutVars>
      </dgm:prSet>
      <dgm:spPr/>
    </dgm:pt>
    <dgm:pt modelId="{5D220864-70B9-497B-85B2-6D3759B53D03}" type="pres">
      <dgm:prSet presAssocID="{628FD705-3BB6-4E33-8AA8-649B809C1528}" presName="spNode" presStyleCnt="0"/>
      <dgm:spPr/>
    </dgm:pt>
    <dgm:pt modelId="{5C3361FE-477F-4973-80CB-4C3ACF7F6BE0}" type="pres">
      <dgm:prSet presAssocID="{B95D2551-6910-4098-AE54-E1C1EAE981E2}" presName="sibTrans" presStyleLbl="sibTrans1D1" presStyleIdx="4" presStyleCnt="7"/>
      <dgm:spPr/>
    </dgm:pt>
    <dgm:pt modelId="{481C02FE-3D0E-47F5-B86E-44A83BECDDCE}" type="pres">
      <dgm:prSet presAssocID="{EB296364-B3B7-4B78-B6BD-F06D2A0E2A77}" presName="node" presStyleLbl="node1" presStyleIdx="5" presStyleCnt="7" custScaleX="180497" custRadScaleRad="104617" custRadScaleInc="33125">
        <dgm:presLayoutVars>
          <dgm:bulletEnabled val="1"/>
        </dgm:presLayoutVars>
      </dgm:prSet>
      <dgm:spPr/>
    </dgm:pt>
    <dgm:pt modelId="{58BFBA07-03A2-44BD-A071-082B5539047C}" type="pres">
      <dgm:prSet presAssocID="{EB296364-B3B7-4B78-B6BD-F06D2A0E2A77}" presName="spNode" presStyleCnt="0"/>
      <dgm:spPr/>
    </dgm:pt>
    <dgm:pt modelId="{08143117-5653-4A6A-94C3-ECE5DFCDEDC3}" type="pres">
      <dgm:prSet presAssocID="{379CBE8F-81CC-4EFD-A510-024EB52C558E}" presName="sibTrans" presStyleLbl="sibTrans1D1" presStyleIdx="5" presStyleCnt="7"/>
      <dgm:spPr/>
    </dgm:pt>
    <dgm:pt modelId="{5963E2B0-D5A1-4565-92A8-D2C34B0EE4E4}" type="pres">
      <dgm:prSet presAssocID="{ACC78C4C-B4F2-4C9E-8C9F-AAB18BA25EB7}" presName="node" presStyleLbl="node1" presStyleIdx="6" presStyleCnt="7" custScaleX="178244" custRadScaleRad="110937" custRadScaleInc="-49285">
        <dgm:presLayoutVars>
          <dgm:bulletEnabled val="1"/>
        </dgm:presLayoutVars>
      </dgm:prSet>
      <dgm:spPr/>
    </dgm:pt>
    <dgm:pt modelId="{51622731-E740-4EAF-B682-13351F1D635C}" type="pres">
      <dgm:prSet presAssocID="{ACC78C4C-B4F2-4C9E-8C9F-AAB18BA25EB7}" presName="spNode" presStyleCnt="0"/>
      <dgm:spPr/>
    </dgm:pt>
    <dgm:pt modelId="{BFDDC2E6-03D7-4A74-8F34-2B6D18086AC4}" type="pres">
      <dgm:prSet presAssocID="{08216E1C-FDFD-4063-921E-648C12ACA347}" presName="sibTrans" presStyleLbl="sibTrans1D1" presStyleIdx="6" presStyleCnt="7"/>
      <dgm:spPr/>
    </dgm:pt>
  </dgm:ptLst>
  <dgm:cxnLst>
    <dgm:cxn modelId="{C21E5201-48B8-4F3A-93E8-8A9D2C929D83}" type="presOf" srcId="{5D659DC0-2840-44FB-ACB8-F3F81D121D88}" destId="{6EB0E9F9-081F-44D5-B29E-588BC86C347E}" srcOrd="0" destOrd="0" presId="urn:microsoft.com/office/officeart/2005/8/layout/cycle5"/>
    <dgm:cxn modelId="{E0854908-1656-41FF-B68E-473761612F52}" type="presOf" srcId="{EB296364-B3B7-4B78-B6BD-F06D2A0E2A77}" destId="{481C02FE-3D0E-47F5-B86E-44A83BECDDCE}" srcOrd="0" destOrd="0" presId="urn:microsoft.com/office/officeart/2005/8/layout/cycle5"/>
    <dgm:cxn modelId="{E99FDD0D-99AA-479C-9F38-6ED5B927CE48}" srcId="{5223B178-8CFB-4560-A7DA-8B4FB15D3334}" destId="{24F31CB4-2BB9-49E6-8AA9-93198DFC50E1}" srcOrd="0" destOrd="0" parTransId="{8DB5A4D8-5117-43C3-94B4-A02168352966}" sibTransId="{8E514F06-D5F6-4144-AE6F-C7D5075F4BC0}"/>
    <dgm:cxn modelId="{F573F524-1961-43D7-85F8-A209FFB3EFFB}" type="presOf" srcId="{AABB2831-2C73-400C-91F0-C4AA7DEF7BAC}" destId="{DA6D0E5F-B31C-4CCE-BF48-2C06D9180D7D}" srcOrd="0" destOrd="0" presId="urn:microsoft.com/office/officeart/2005/8/layout/cycle5"/>
    <dgm:cxn modelId="{E4838940-1FFF-490A-ABAB-FABA83B44C98}" type="presOf" srcId="{B2F1A852-BB71-4CAF-9FCE-F0CE411BFE1C}" destId="{4C72FB03-591D-46B8-987A-D2B74AF65811}" srcOrd="0" destOrd="0" presId="urn:microsoft.com/office/officeart/2005/8/layout/cycle5"/>
    <dgm:cxn modelId="{2AB4AB5B-110F-4D26-BAD3-AEEB70EECA80}" type="presOf" srcId="{CC0D0199-3702-4A90-AAEF-09BA62E6403A}" destId="{BDD2DDF9-237A-4C22-914E-58CB84A379E8}" srcOrd="0" destOrd="0" presId="urn:microsoft.com/office/officeart/2005/8/layout/cycle5"/>
    <dgm:cxn modelId="{D0B27A47-52AE-4913-BEDC-F52D7DC4AF9D}" srcId="{5223B178-8CFB-4560-A7DA-8B4FB15D3334}" destId="{EB296364-B3B7-4B78-B6BD-F06D2A0E2A77}" srcOrd="5" destOrd="0" parTransId="{DE57795D-C4DD-4B22-BA3B-647126CD97EA}" sibTransId="{379CBE8F-81CC-4EFD-A510-024EB52C558E}"/>
    <dgm:cxn modelId="{F647C768-BF6D-4053-997D-682D263A87EE}" srcId="{5223B178-8CFB-4560-A7DA-8B4FB15D3334}" destId="{5D659DC0-2840-44FB-ACB8-F3F81D121D88}" srcOrd="1" destOrd="0" parTransId="{9B8C4C53-DBE7-405C-866A-F0FE78195780}" sibTransId="{AABB2831-2C73-400C-91F0-C4AA7DEF7BAC}"/>
    <dgm:cxn modelId="{A7CEFE50-F26A-4044-8D67-672D610C2E1E}" srcId="{5223B178-8CFB-4560-A7DA-8B4FB15D3334}" destId="{ACC78C4C-B4F2-4C9E-8C9F-AAB18BA25EB7}" srcOrd="6" destOrd="0" parTransId="{55401761-6097-4FA7-9024-1A616E122252}" sibTransId="{08216E1C-FDFD-4063-921E-648C12ACA347}"/>
    <dgm:cxn modelId="{F556C577-0D5C-4366-AD57-B8B947A4104D}" type="presOf" srcId="{B95D2551-6910-4098-AE54-E1C1EAE981E2}" destId="{5C3361FE-477F-4973-80CB-4C3ACF7F6BE0}" srcOrd="0" destOrd="0" presId="urn:microsoft.com/office/officeart/2005/8/layout/cycle5"/>
    <dgm:cxn modelId="{BCCE7897-31E6-4D6F-A1E7-FB2323CFA07E}" type="presOf" srcId="{6F5D5C6A-C882-4D9C-ACAD-1A7D02B2B2CA}" destId="{9E306667-702C-4FC8-AC15-C000FB8AFB6A}" srcOrd="0" destOrd="0" presId="urn:microsoft.com/office/officeart/2005/8/layout/cycle5"/>
    <dgm:cxn modelId="{D9645AAC-CA0D-4F1B-8D11-5357B57672F3}" srcId="{5223B178-8CFB-4560-A7DA-8B4FB15D3334}" destId="{628FD705-3BB6-4E33-8AA8-649B809C1528}" srcOrd="4" destOrd="0" parTransId="{6D9490DF-4CC4-467A-B6D0-A0BE1928E2C9}" sibTransId="{B95D2551-6910-4098-AE54-E1C1EAE981E2}"/>
    <dgm:cxn modelId="{E1DB27AE-829D-4404-80A8-5094CD492394}" type="presOf" srcId="{ACC78C4C-B4F2-4C9E-8C9F-AAB18BA25EB7}" destId="{5963E2B0-D5A1-4565-92A8-D2C34B0EE4E4}" srcOrd="0" destOrd="0" presId="urn:microsoft.com/office/officeart/2005/8/layout/cycle5"/>
    <dgm:cxn modelId="{D990B5B5-4BF8-418C-AAB1-F1EF3267F836}" type="presOf" srcId="{08216E1C-FDFD-4063-921E-648C12ACA347}" destId="{BFDDC2E6-03D7-4A74-8F34-2B6D18086AC4}" srcOrd="0" destOrd="0" presId="urn:microsoft.com/office/officeart/2005/8/layout/cycle5"/>
    <dgm:cxn modelId="{0E4197CA-7272-40B3-871E-3E457756437F}" type="presOf" srcId="{0BFB0821-2C59-4F46-B237-50EDEED4C162}" destId="{C5F32DFF-D1B0-4293-B00D-E3E7EC6C17D3}" srcOrd="0" destOrd="0" presId="urn:microsoft.com/office/officeart/2005/8/layout/cycle5"/>
    <dgm:cxn modelId="{634F6CDC-42F9-4DE0-9743-8F53BB6EB3C3}" type="presOf" srcId="{628FD705-3BB6-4E33-8AA8-649B809C1528}" destId="{FC9CB1D9-B68F-4B0B-8E42-C8358F1BEC70}" srcOrd="0" destOrd="0" presId="urn:microsoft.com/office/officeart/2005/8/layout/cycle5"/>
    <dgm:cxn modelId="{DBAE73E5-D9DE-4EFB-8AC4-858A8AA45C8F}" srcId="{5223B178-8CFB-4560-A7DA-8B4FB15D3334}" destId="{B2F1A852-BB71-4CAF-9FCE-F0CE411BFE1C}" srcOrd="2" destOrd="0" parTransId="{B6E98022-C293-4801-A70C-648CB3E55F10}" sibTransId="{0BFB0821-2C59-4F46-B237-50EDEED4C162}"/>
    <dgm:cxn modelId="{274F71E6-A199-44D8-A85A-00B66E8DD01A}" type="presOf" srcId="{24F31CB4-2BB9-49E6-8AA9-93198DFC50E1}" destId="{7499D5ED-4986-4DFF-BCF8-06BD4EE96BE0}" srcOrd="0" destOrd="0" presId="urn:microsoft.com/office/officeart/2005/8/layout/cycle5"/>
    <dgm:cxn modelId="{4A71DFE7-B3E9-4736-A09B-746C1C944C5A}" type="presOf" srcId="{5223B178-8CFB-4560-A7DA-8B4FB15D3334}" destId="{7BC285B8-4953-46B0-B4AF-86A433B49359}" srcOrd="0" destOrd="0" presId="urn:microsoft.com/office/officeart/2005/8/layout/cycle5"/>
    <dgm:cxn modelId="{8A1E3AEC-894D-4020-A978-41E646AC3276}" type="presOf" srcId="{379CBE8F-81CC-4EFD-A510-024EB52C558E}" destId="{08143117-5653-4A6A-94C3-ECE5DFCDEDC3}" srcOrd="0" destOrd="0" presId="urn:microsoft.com/office/officeart/2005/8/layout/cycle5"/>
    <dgm:cxn modelId="{C78AE0EE-7486-4A99-A7D8-23A26E48426E}" type="presOf" srcId="{8E514F06-D5F6-4144-AE6F-C7D5075F4BC0}" destId="{41E875C4-FE0F-4A00-BD55-1E86F05E7823}" srcOrd="0" destOrd="0" presId="urn:microsoft.com/office/officeart/2005/8/layout/cycle5"/>
    <dgm:cxn modelId="{3D6828F3-212A-43C5-8E5F-EDD9E64E0031}" srcId="{5223B178-8CFB-4560-A7DA-8B4FB15D3334}" destId="{CC0D0199-3702-4A90-AAEF-09BA62E6403A}" srcOrd="3" destOrd="0" parTransId="{109EA025-8AAF-470E-94D2-82081D296A70}" sibTransId="{6F5D5C6A-C882-4D9C-ACAD-1A7D02B2B2CA}"/>
    <dgm:cxn modelId="{6108F631-D1E0-47CB-ABE3-C1B74DCFF2AE}" type="presParOf" srcId="{7BC285B8-4953-46B0-B4AF-86A433B49359}" destId="{7499D5ED-4986-4DFF-BCF8-06BD4EE96BE0}" srcOrd="0" destOrd="0" presId="urn:microsoft.com/office/officeart/2005/8/layout/cycle5"/>
    <dgm:cxn modelId="{5C3EE449-1EB5-46AD-9BF5-FB121352381F}" type="presParOf" srcId="{7BC285B8-4953-46B0-B4AF-86A433B49359}" destId="{09D4E4F1-1C4D-474B-A7DD-6A88472C99DA}" srcOrd="1" destOrd="0" presId="urn:microsoft.com/office/officeart/2005/8/layout/cycle5"/>
    <dgm:cxn modelId="{60D946F2-E993-4995-AC1A-DB5201F4BAA8}" type="presParOf" srcId="{7BC285B8-4953-46B0-B4AF-86A433B49359}" destId="{41E875C4-FE0F-4A00-BD55-1E86F05E7823}" srcOrd="2" destOrd="0" presId="urn:microsoft.com/office/officeart/2005/8/layout/cycle5"/>
    <dgm:cxn modelId="{1E9157B7-C289-438E-87CD-F77D4ED2A65B}" type="presParOf" srcId="{7BC285B8-4953-46B0-B4AF-86A433B49359}" destId="{6EB0E9F9-081F-44D5-B29E-588BC86C347E}" srcOrd="3" destOrd="0" presId="urn:microsoft.com/office/officeart/2005/8/layout/cycle5"/>
    <dgm:cxn modelId="{5F7717B7-A49C-456E-ACC5-CB65A8370E72}" type="presParOf" srcId="{7BC285B8-4953-46B0-B4AF-86A433B49359}" destId="{D62A2D54-7265-45C4-AC68-F547F9BED7C1}" srcOrd="4" destOrd="0" presId="urn:microsoft.com/office/officeart/2005/8/layout/cycle5"/>
    <dgm:cxn modelId="{135A6C89-50E8-4CB2-92DB-FCEE0D0B48A9}" type="presParOf" srcId="{7BC285B8-4953-46B0-B4AF-86A433B49359}" destId="{DA6D0E5F-B31C-4CCE-BF48-2C06D9180D7D}" srcOrd="5" destOrd="0" presId="urn:microsoft.com/office/officeart/2005/8/layout/cycle5"/>
    <dgm:cxn modelId="{E9C26B35-D833-4BDF-BABC-4213474ACC2B}" type="presParOf" srcId="{7BC285B8-4953-46B0-B4AF-86A433B49359}" destId="{4C72FB03-591D-46B8-987A-D2B74AF65811}" srcOrd="6" destOrd="0" presId="urn:microsoft.com/office/officeart/2005/8/layout/cycle5"/>
    <dgm:cxn modelId="{C08D4734-CD96-4907-954A-E49362F2C447}" type="presParOf" srcId="{7BC285B8-4953-46B0-B4AF-86A433B49359}" destId="{011F894F-9054-4D4F-94B0-F8425096B747}" srcOrd="7" destOrd="0" presId="urn:microsoft.com/office/officeart/2005/8/layout/cycle5"/>
    <dgm:cxn modelId="{DA874767-974B-4945-9B89-F2F6174461FD}" type="presParOf" srcId="{7BC285B8-4953-46B0-B4AF-86A433B49359}" destId="{C5F32DFF-D1B0-4293-B00D-E3E7EC6C17D3}" srcOrd="8" destOrd="0" presId="urn:microsoft.com/office/officeart/2005/8/layout/cycle5"/>
    <dgm:cxn modelId="{81653E46-A360-4A79-8C26-2432CF805F9D}" type="presParOf" srcId="{7BC285B8-4953-46B0-B4AF-86A433B49359}" destId="{BDD2DDF9-237A-4C22-914E-58CB84A379E8}" srcOrd="9" destOrd="0" presId="urn:microsoft.com/office/officeart/2005/8/layout/cycle5"/>
    <dgm:cxn modelId="{4A97520A-5C61-4CF3-879E-D8606904A316}" type="presParOf" srcId="{7BC285B8-4953-46B0-B4AF-86A433B49359}" destId="{29C2AEE6-7C57-4722-BA1F-33B4F8CE7A21}" srcOrd="10" destOrd="0" presId="urn:microsoft.com/office/officeart/2005/8/layout/cycle5"/>
    <dgm:cxn modelId="{2148A6B0-6186-4B15-9013-23941F5EE5E6}" type="presParOf" srcId="{7BC285B8-4953-46B0-B4AF-86A433B49359}" destId="{9E306667-702C-4FC8-AC15-C000FB8AFB6A}" srcOrd="11" destOrd="0" presId="urn:microsoft.com/office/officeart/2005/8/layout/cycle5"/>
    <dgm:cxn modelId="{46A912B5-10CF-4456-BB99-20F14EAA7822}" type="presParOf" srcId="{7BC285B8-4953-46B0-B4AF-86A433B49359}" destId="{FC9CB1D9-B68F-4B0B-8E42-C8358F1BEC70}" srcOrd="12" destOrd="0" presId="urn:microsoft.com/office/officeart/2005/8/layout/cycle5"/>
    <dgm:cxn modelId="{77DE8B0F-3E63-4534-AE45-D71B8A660688}" type="presParOf" srcId="{7BC285B8-4953-46B0-B4AF-86A433B49359}" destId="{5D220864-70B9-497B-85B2-6D3759B53D03}" srcOrd="13" destOrd="0" presId="urn:microsoft.com/office/officeart/2005/8/layout/cycle5"/>
    <dgm:cxn modelId="{EAD1B40F-8BD9-47EF-802A-9AAA0F6F2F00}" type="presParOf" srcId="{7BC285B8-4953-46B0-B4AF-86A433B49359}" destId="{5C3361FE-477F-4973-80CB-4C3ACF7F6BE0}" srcOrd="14" destOrd="0" presId="urn:microsoft.com/office/officeart/2005/8/layout/cycle5"/>
    <dgm:cxn modelId="{FEFE798E-2CB4-478D-953A-58D59235187B}" type="presParOf" srcId="{7BC285B8-4953-46B0-B4AF-86A433B49359}" destId="{481C02FE-3D0E-47F5-B86E-44A83BECDDCE}" srcOrd="15" destOrd="0" presId="urn:microsoft.com/office/officeart/2005/8/layout/cycle5"/>
    <dgm:cxn modelId="{D23654AC-CA2F-4452-8C24-03EBF243110A}" type="presParOf" srcId="{7BC285B8-4953-46B0-B4AF-86A433B49359}" destId="{58BFBA07-03A2-44BD-A071-082B5539047C}" srcOrd="16" destOrd="0" presId="urn:microsoft.com/office/officeart/2005/8/layout/cycle5"/>
    <dgm:cxn modelId="{6E7252DB-576E-4B5B-9B06-BE897118A688}" type="presParOf" srcId="{7BC285B8-4953-46B0-B4AF-86A433B49359}" destId="{08143117-5653-4A6A-94C3-ECE5DFCDEDC3}" srcOrd="17" destOrd="0" presId="urn:microsoft.com/office/officeart/2005/8/layout/cycle5"/>
    <dgm:cxn modelId="{210070C9-8F5D-41FA-9CAC-4D553D817BB5}" type="presParOf" srcId="{7BC285B8-4953-46B0-B4AF-86A433B49359}" destId="{5963E2B0-D5A1-4565-92A8-D2C34B0EE4E4}" srcOrd="18" destOrd="0" presId="urn:microsoft.com/office/officeart/2005/8/layout/cycle5"/>
    <dgm:cxn modelId="{27374591-96F3-4464-93B8-EF5BDF7F142E}" type="presParOf" srcId="{7BC285B8-4953-46B0-B4AF-86A433B49359}" destId="{51622731-E740-4EAF-B682-13351F1D635C}" srcOrd="19" destOrd="0" presId="urn:microsoft.com/office/officeart/2005/8/layout/cycle5"/>
    <dgm:cxn modelId="{BF60804F-683E-4A8B-B0BC-8C31BF99799D}" type="presParOf" srcId="{7BC285B8-4953-46B0-B4AF-86A433B49359}" destId="{BFDDC2E6-03D7-4A74-8F34-2B6D18086AC4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23B178-8CFB-4560-A7DA-8B4FB15D3334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AU"/>
        </a:p>
      </dgm:t>
    </dgm:pt>
    <dgm:pt modelId="{24F31CB4-2BB9-49E6-8AA9-93198DFC50E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AU" sz="1200"/>
            <a:t>1. Market Outlook</a:t>
          </a:r>
        </a:p>
      </dgm:t>
    </dgm:pt>
    <dgm:pt modelId="{8DB5A4D8-5117-43C3-94B4-A02168352966}" type="parTrans" cxnId="{E99FDD0D-99AA-479C-9F38-6ED5B927CE48}">
      <dgm:prSet/>
      <dgm:spPr/>
      <dgm:t>
        <a:bodyPr/>
        <a:lstStyle/>
        <a:p>
          <a:endParaRPr lang="en-AU" sz="1200"/>
        </a:p>
      </dgm:t>
    </dgm:pt>
    <dgm:pt modelId="{8E514F06-D5F6-4144-AE6F-C7D5075F4BC0}" type="sibTrans" cxnId="{E99FDD0D-99AA-479C-9F38-6ED5B927CE48}">
      <dgm:prSet/>
      <dgm:spPr/>
      <dgm:t>
        <a:bodyPr/>
        <a:lstStyle/>
        <a:p>
          <a:endParaRPr lang="en-AU" sz="1200"/>
        </a:p>
      </dgm:t>
    </dgm:pt>
    <dgm:pt modelId="{5D659DC0-2840-44FB-ACB8-F3F81D121D88}">
      <dgm:prSet phldrT="[Text]" custT="1"/>
      <dgm:spPr>
        <a:solidFill>
          <a:srgbClr val="E1D527"/>
        </a:solidFill>
      </dgm:spPr>
      <dgm:t>
        <a:bodyPr/>
        <a:lstStyle/>
        <a:p>
          <a:r>
            <a:rPr lang="en-AU" sz="1200"/>
            <a:t>2. Portfolio Objectives</a:t>
          </a:r>
        </a:p>
      </dgm:t>
    </dgm:pt>
    <dgm:pt modelId="{9B8C4C53-DBE7-405C-866A-F0FE78195780}" type="parTrans" cxnId="{F647C768-BF6D-4053-997D-682D263A87EE}">
      <dgm:prSet/>
      <dgm:spPr/>
      <dgm:t>
        <a:bodyPr/>
        <a:lstStyle/>
        <a:p>
          <a:endParaRPr lang="en-AU" sz="1200"/>
        </a:p>
      </dgm:t>
    </dgm:pt>
    <dgm:pt modelId="{AABB2831-2C73-400C-91F0-C4AA7DEF7BAC}" type="sibTrans" cxnId="{F647C768-BF6D-4053-997D-682D263A87EE}">
      <dgm:prSet/>
      <dgm:spPr/>
      <dgm:t>
        <a:bodyPr/>
        <a:lstStyle/>
        <a:p>
          <a:endParaRPr lang="en-AU" sz="1200"/>
        </a:p>
      </dgm:t>
    </dgm:pt>
    <dgm:pt modelId="{B2F1A852-BB71-4CAF-9FCE-F0CE411BFE1C}">
      <dgm:prSet phldrT="[Text]" custT="1"/>
      <dgm:spPr>
        <a:solidFill>
          <a:srgbClr val="92D050"/>
        </a:solidFill>
      </dgm:spPr>
      <dgm:t>
        <a:bodyPr/>
        <a:lstStyle/>
        <a:p>
          <a:r>
            <a:rPr lang="en-AU" sz="1200"/>
            <a:t>3. Stress Test and Optimise</a:t>
          </a:r>
        </a:p>
      </dgm:t>
    </dgm:pt>
    <dgm:pt modelId="{B6E98022-C293-4801-A70C-648CB3E55F10}" type="parTrans" cxnId="{DBAE73E5-D9DE-4EFB-8AC4-858A8AA45C8F}">
      <dgm:prSet/>
      <dgm:spPr/>
      <dgm:t>
        <a:bodyPr/>
        <a:lstStyle/>
        <a:p>
          <a:endParaRPr lang="en-AU" sz="1200"/>
        </a:p>
      </dgm:t>
    </dgm:pt>
    <dgm:pt modelId="{0BFB0821-2C59-4F46-B237-50EDEED4C162}" type="sibTrans" cxnId="{DBAE73E5-D9DE-4EFB-8AC4-858A8AA45C8F}">
      <dgm:prSet/>
      <dgm:spPr/>
      <dgm:t>
        <a:bodyPr/>
        <a:lstStyle/>
        <a:p>
          <a:endParaRPr lang="en-AU" sz="1200"/>
        </a:p>
      </dgm:t>
    </dgm:pt>
    <dgm:pt modelId="{CC0D0199-3702-4A90-AAEF-09BA62E6403A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4. Build Sector Portfolios</a:t>
          </a:r>
        </a:p>
      </dgm:t>
    </dgm:pt>
    <dgm:pt modelId="{109EA025-8AAF-470E-94D2-82081D296A70}" type="parTrans" cxnId="{3D6828F3-212A-43C5-8E5F-EDD9E64E0031}">
      <dgm:prSet/>
      <dgm:spPr/>
      <dgm:t>
        <a:bodyPr/>
        <a:lstStyle/>
        <a:p>
          <a:endParaRPr lang="en-AU" sz="1200"/>
        </a:p>
      </dgm:t>
    </dgm:pt>
    <dgm:pt modelId="{6F5D5C6A-C882-4D9C-ACAD-1A7D02B2B2CA}" type="sibTrans" cxnId="{3D6828F3-212A-43C5-8E5F-EDD9E64E0031}">
      <dgm:prSet/>
      <dgm:spPr/>
      <dgm:t>
        <a:bodyPr/>
        <a:lstStyle/>
        <a:p>
          <a:endParaRPr lang="en-AU" sz="1200"/>
        </a:p>
      </dgm:t>
    </dgm:pt>
    <dgm:pt modelId="{628FD705-3BB6-4E33-8AA8-649B809C1528}">
      <dgm:prSet phldrT="[Text]" custT="1"/>
      <dgm:spPr>
        <a:solidFill>
          <a:schemeClr val="bg2"/>
        </a:solidFill>
      </dgm:spPr>
      <dgm:t>
        <a:bodyPr/>
        <a:lstStyle/>
        <a:p>
          <a:pPr algn="ctr"/>
          <a:r>
            <a:rPr lang="en-AU" sz="1200"/>
            <a:t>5. Bottom-up risk analysis</a:t>
          </a:r>
        </a:p>
      </dgm:t>
    </dgm:pt>
    <dgm:pt modelId="{6D9490DF-4CC4-467A-B6D0-A0BE1928E2C9}" type="parTrans" cxnId="{D9645AAC-CA0D-4F1B-8D11-5357B57672F3}">
      <dgm:prSet/>
      <dgm:spPr/>
      <dgm:t>
        <a:bodyPr/>
        <a:lstStyle/>
        <a:p>
          <a:endParaRPr lang="en-AU" sz="1200"/>
        </a:p>
      </dgm:t>
    </dgm:pt>
    <dgm:pt modelId="{B95D2551-6910-4098-AE54-E1C1EAE981E2}" type="sibTrans" cxnId="{D9645AAC-CA0D-4F1B-8D11-5357B57672F3}">
      <dgm:prSet/>
      <dgm:spPr>
        <a:ln>
          <a:solidFill>
            <a:srgbClr val="3D555E"/>
          </a:solidFill>
        </a:ln>
      </dgm:spPr>
      <dgm:t>
        <a:bodyPr/>
        <a:lstStyle/>
        <a:p>
          <a:endParaRPr lang="en-AU" sz="1200"/>
        </a:p>
      </dgm:t>
    </dgm:pt>
    <dgm:pt modelId="{ACC78C4C-B4F2-4C9E-8C9F-AAB18BA25EB7}">
      <dgm:prSet custT="1"/>
      <dgm:spPr>
        <a:solidFill>
          <a:schemeClr val="bg2"/>
        </a:solidFill>
      </dgm:spPr>
      <dgm:t>
        <a:bodyPr/>
        <a:lstStyle/>
        <a:p>
          <a:r>
            <a:rPr lang="en-AU" sz="1200"/>
            <a:t>7. Monitor</a:t>
          </a:r>
        </a:p>
      </dgm:t>
    </dgm:pt>
    <dgm:pt modelId="{55401761-6097-4FA7-9024-1A616E122252}" type="parTrans" cxnId="{A7CEFE50-F26A-4044-8D67-672D610C2E1E}">
      <dgm:prSet/>
      <dgm:spPr/>
      <dgm:t>
        <a:bodyPr/>
        <a:lstStyle/>
        <a:p>
          <a:endParaRPr lang="en-AU" sz="1200"/>
        </a:p>
      </dgm:t>
    </dgm:pt>
    <dgm:pt modelId="{08216E1C-FDFD-4063-921E-648C12ACA347}" type="sibTrans" cxnId="{A7CEFE50-F26A-4044-8D67-672D610C2E1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AU" sz="1200"/>
        </a:p>
      </dgm:t>
    </dgm:pt>
    <dgm:pt modelId="{EB296364-B3B7-4B78-B6BD-F06D2A0E2A77}">
      <dgm:prSet custT="1"/>
      <dgm:spPr>
        <a:solidFill>
          <a:schemeClr val="bg2"/>
        </a:solidFill>
      </dgm:spPr>
      <dgm:t>
        <a:bodyPr/>
        <a:lstStyle/>
        <a:p>
          <a:r>
            <a:rPr lang="en-AU" sz="1200"/>
            <a:t>6. Refine</a:t>
          </a:r>
        </a:p>
      </dgm:t>
    </dgm:pt>
    <dgm:pt modelId="{DE57795D-C4DD-4B22-BA3B-647126CD97EA}" type="parTrans" cxnId="{D0B27A47-52AE-4913-BEDC-F52D7DC4AF9D}">
      <dgm:prSet/>
      <dgm:spPr/>
      <dgm:t>
        <a:bodyPr/>
        <a:lstStyle/>
        <a:p>
          <a:endParaRPr lang="en-AU" sz="1200"/>
        </a:p>
      </dgm:t>
    </dgm:pt>
    <dgm:pt modelId="{379CBE8F-81CC-4EFD-A510-024EB52C558E}" type="sibTrans" cxnId="{D0B27A47-52AE-4913-BEDC-F52D7DC4AF9D}">
      <dgm:prSet/>
      <dgm:spPr/>
      <dgm:t>
        <a:bodyPr/>
        <a:lstStyle/>
        <a:p>
          <a:endParaRPr lang="en-AU" sz="1200"/>
        </a:p>
      </dgm:t>
    </dgm:pt>
    <dgm:pt modelId="{7BC285B8-4953-46B0-B4AF-86A433B49359}" type="pres">
      <dgm:prSet presAssocID="{5223B178-8CFB-4560-A7DA-8B4FB15D3334}" presName="cycle" presStyleCnt="0">
        <dgm:presLayoutVars>
          <dgm:dir/>
          <dgm:resizeHandles val="exact"/>
        </dgm:presLayoutVars>
      </dgm:prSet>
      <dgm:spPr/>
    </dgm:pt>
    <dgm:pt modelId="{7499D5ED-4986-4DFF-BCF8-06BD4EE96BE0}" type="pres">
      <dgm:prSet presAssocID="{24F31CB4-2BB9-49E6-8AA9-93198DFC50E1}" presName="node" presStyleLbl="node1" presStyleIdx="0" presStyleCnt="7" custScaleX="150602" custRadScaleRad="100136" custRadScaleInc="2785">
        <dgm:presLayoutVars>
          <dgm:bulletEnabled val="1"/>
        </dgm:presLayoutVars>
      </dgm:prSet>
      <dgm:spPr/>
    </dgm:pt>
    <dgm:pt modelId="{09D4E4F1-1C4D-474B-A7DD-6A88472C99DA}" type="pres">
      <dgm:prSet presAssocID="{24F31CB4-2BB9-49E6-8AA9-93198DFC50E1}" presName="spNode" presStyleCnt="0"/>
      <dgm:spPr/>
    </dgm:pt>
    <dgm:pt modelId="{41E875C4-FE0F-4A00-BD55-1E86F05E7823}" type="pres">
      <dgm:prSet presAssocID="{8E514F06-D5F6-4144-AE6F-C7D5075F4BC0}" presName="sibTrans" presStyleLbl="sibTrans1D1" presStyleIdx="0" presStyleCnt="7"/>
      <dgm:spPr/>
    </dgm:pt>
    <dgm:pt modelId="{6EB0E9F9-081F-44D5-B29E-588BC86C347E}" type="pres">
      <dgm:prSet presAssocID="{5D659DC0-2840-44FB-ACB8-F3F81D121D88}" presName="node" presStyleLbl="node1" presStyleIdx="1" presStyleCnt="7" custScaleX="156176" custRadScaleRad="111569" custRadScaleInc="44586">
        <dgm:presLayoutVars>
          <dgm:bulletEnabled val="1"/>
        </dgm:presLayoutVars>
      </dgm:prSet>
      <dgm:spPr/>
    </dgm:pt>
    <dgm:pt modelId="{D62A2D54-7265-45C4-AC68-F547F9BED7C1}" type="pres">
      <dgm:prSet presAssocID="{5D659DC0-2840-44FB-ACB8-F3F81D121D88}" presName="spNode" presStyleCnt="0"/>
      <dgm:spPr/>
    </dgm:pt>
    <dgm:pt modelId="{DA6D0E5F-B31C-4CCE-BF48-2C06D9180D7D}" type="pres">
      <dgm:prSet presAssocID="{AABB2831-2C73-400C-91F0-C4AA7DEF7BAC}" presName="sibTrans" presStyleLbl="sibTrans1D1" presStyleIdx="1" presStyleCnt="7"/>
      <dgm:spPr/>
    </dgm:pt>
    <dgm:pt modelId="{4C72FB03-591D-46B8-987A-D2B74AF65811}" type="pres">
      <dgm:prSet presAssocID="{B2F1A852-BB71-4CAF-9FCE-F0CE411BFE1C}" presName="node" presStyleLbl="node1" presStyleIdx="2" presStyleCnt="7" custScaleX="155986" custRadScaleRad="111026" custRadScaleInc="-33241">
        <dgm:presLayoutVars>
          <dgm:bulletEnabled val="1"/>
        </dgm:presLayoutVars>
      </dgm:prSet>
      <dgm:spPr/>
    </dgm:pt>
    <dgm:pt modelId="{011F894F-9054-4D4F-94B0-F8425096B747}" type="pres">
      <dgm:prSet presAssocID="{B2F1A852-BB71-4CAF-9FCE-F0CE411BFE1C}" presName="spNode" presStyleCnt="0"/>
      <dgm:spPr/>
    </dgm:pt>
    <dgm:pt modelId="{C5F32DFF-D1B0-4293-B00D-E3E7EC6C17D3}" type="pres">
      <dgm:prSet presAssocID="{0BFB0821-2C59-4F46-B237-50EDEED4C162}" presName="sibTrans" presStyleLbl="sibTrans1D1" presStyleIdx="2" presStyleCnt="7"/>
      <dgm:spPr/>
    </dgm:pt>
    <dgm:pt modelId="{BDD2DDF9-237A-4C22-914E-58CB84A379E8}" type="pres">
      <dgm:prSet presAssocID="{CC0D0199-3702-4A90-AAEF-09BA62E6403A}" presName="node" presStyleLbl="node1" presStyleIdx="3" presStyleCnt="7" custScaleX="159397" custRadScaleRad="101891" custRadScaleInc="-67586">
        <dgm:presLayoutVars>
          <dgm:bulletEnabled val="1"/>
        </dgm:presLayoutVars>
      </dgm:prSet>
      <dgm:spPr/>
    </dgm:pt>
    <dgm:pt modelId="{29C2AEE6-7C57-4722-BA1F-33B4F8CE7A21}" type="pres">
      <dgm:prSet presAssocID="{CC0D0199-3702-4A90-AAEF-09BA62E6403A}" presName="spNode" presStyleCnt="0"/>
      <dgm:spPr/>
    </dgm:pt>
    <dgm:pt modelId="{9E306667-702C-4FC8-AC15-C000FB8AFB6A}" type="pres">
      <dgm:prSet presAssocID="{6F5D5C6A-C882-4D9C-ACAD-1A7D02B2B2CA}" presName="sibTrans" presStyleLbl="sibTrans1D1" presStyleIdx="3" presStyleCnt="7"/>
      <dgm:spPr/>
    </dgm:pt>
    <dgm:pt modelId="{FC9CB1D9-B68F-4B0B-8E42-C8358F1BEC70}" type="pres">
      <dgm:prSet presAssocID="{628FD705-3BB6-4E33-8AA8-649B809C1528}" presName="node" presStyleLbl="node1" presStyleIdx="4" presStyleCnt="7" custScaleX="147531" custRadScaleRad="99903" custRadScaleInc="58702">
        <dgm:presLayoutVars>
          <dgm:bulletEnabled val="1"/>
        </dgm:presLayoutVars>
      </dgm:prSet>
      <dgm:spPr/>
    </dgm:pt>
    <dgm:pt modelId="{5D220864-70B9-497B-85B2-6D3759B53D03}" type="pres">
      <dgm:prSet presAssocID="{628FD705-3BB6-4E33-8AA8-649B809C1528}" presName="spNode" presStyleCnt="0"/>
      <dgm:spPr/>
    </dgm:pt>
    <dgm:pt modelId="{5C3361FE-477F-4973-80CB-4C3ACF7F6BE0}" type="pres">
      <dgm:prSet presAssocID="{B95D2551-6910-4098-AE54-E1C1EAE981E2}" presName="sibTrans" presStyleLbl="sibTrans1D1" presStyleIdx="4" presStyleCnt="7"/>
      <dgm:spPr/>
    </dgm:pt>
    <dgm:pt modelId="{481C02FE-3D0E-47F5-B86E-44A83BECDDCE}" type="pres">
      <dgm:prSet presAssocID="{EB296364-B3B7-4B78-B6BD-F06D2A0E2A77}" presName="node" presStyleLbl="node1" presStyleIdx="5" presStyleCnt="7" custScaleX="180497" custRadScaleRad="104617" custRadScaleInc="33125">
        <dgm:presLayoutVars>
          <dgm:bulletEnabled val="1"/>
        </dgm:presLayoutVars>
      </dgm:prSet>
      <dgm:spPr/>
    </dgm:pt>
    <dgm:pt modelId="{58BFBA07-03A2-44BD-A071-082B5539047C}" type="pres">
      <dgm:prSet presAssocID="{EB296364-B3B7-4B78-B6BD-F06D2A0E2A77}" presName="spNode" presStyleCnt="0"/>
      <dgm:spPr/>
    </dgm:pt>
    <dgm:pt modelId="{08143117-5653-4A6A-94C3-ECE5DFCDEDC3}" type="pres">
      <dgm:prSet presAssocID="{379CBE8F-81CC-4EFD-A510-024EB52C558E}" presName="sibTrans" presStyleLbl="sibTrans1D1" presStyleIdx="5" presStyleCnt="7"/>
      <dgm:spPr/>
    </dgm:pt>
    <dgm:pt modelId="{5963E2B0-D5A1-4565-92A8-D2C34B0EE4E4}" type="pres">
      <dgm:prSet presAssocID="{ACC78C4C-B4F2-4C9E-8C9F-AAB18BA25EB7}" presName="node" presStyleLbl="node1" presStyleIdx="6" presStyleCnt="7" custScaleX="178244" custRadScaleRad="110937" custRadScaleInc="-49285">
        <dgm:presLayoutVars>
          <dgm:bulletEnabled val="1"/>
        </dgm:presLayoutVars>
      </dgm:prSet>
      <dgm:spPr/>
    </dgm:pt>
    <dgm:pt modelId="{51622731-E740-4EAF-B682-13351F1D635C}" type="pres">
      <dgm:prSet presAssocID="{ACC78C4C-B4F2-4C9E-8C9F-AAB18BA25EB7}" presName="spNode" presStyleCnt="0"/>
      <dgm:spPr/>
    </dgm:pt>
    <dgm:pt modelId="{BFDDC2E6-03D7-4A74-8F34-2B6D18086AC4}" type="pres">
      <dgm:prSet presAssocID="{08216E1C-FDFD-4063-921E-648C12ACA347}" presName="sibTrans" presStyleLbl="sibTrans1D1" presStyleIdx="6" presStyleCnt="7"/>
      <dgm:spPr/>
    </dgm:pt>
  </dgm:ptLst>
  <dgm:cxnLst>
    <dgm:cxn modelId="{C21E5201-48B8-4F3A-93E8-8A9D2C929D83}" type="presOf" srcId="{5D659DC0-2840-44FB-ACB8-F3F81D121D88}" destId="{6EB0E9F9-081F-44D5-B29E-588BC86C347E}" srcOrd="0" destOrd="0" presId="urn:microsoft.com/office/officeart/2005/8/layout/cycle5"/>
    <dgm:cxn modelId="{E0854908-1656-41FF-B68E-473761612F52}" type="presOf" srcId="{EB296364-B3B7-4B78-B6BD-F06D2A0E2A77}" destId="{481C02FE-3D0E-47F5-B86E-44A83BECDDCE}" srcOrd="0" destOrd="0" presId="urn:microsoft.com/office/officeart/2005/8/layout/cycle5"/>
    <dgm:cxn modelId="{E99FDD0D-99AA-479C-9F38-6ED5B927CE48}" srcId="{5223B178-8CFB-4560-A7DA-8B4FB15D3334}" destId="{24F31CB4-2BB9-49E6-8AA9-93198DFC50E1}" srcOrd="0" destOrd="0" parTransId="{8DB5A4D8-5117-43C3-94B4-A02168352966}" sibTransId="{8E514F06-D5F6-4144-AE6F-C7D5075F4BC0}"/>
    <dgm:cxn modelId="{F573F524-1961-43D7-85F8-A209FFB3EFFB}" type="presOf" srcId="{AABB2831-2C73-400C-91F0-C4AA7DEF7BAC}" destId="{DA6D0E5F-B31C-4CCE-BF48-2C06D9180D7D}" srcOrd="0" destOrd="0" presId="urn:microsoft.com/office/officeart/2005/8/layout/cycle5"/>
    <dgm:cxn modelId="{E4838940-1FFF-490A-ABAB-FABA83B44C98}" type="presOf" srcId="{B2F1A852-BB71-4CAF-9FCE-F0CE411BFE1C}" destId="{4C72FB03-591D-46B8-987A-D2B74AF65811}" srcOrd="0" destOrd="0" presId="urn:microsoft.com/office/officeart/2005/8/layout/cycle5"/>
    <dgm:cxn modelId="{2AB4AB5B-110F-4D26-BAD3-AEEB70EECA80}" type="presOf" srcId="{CC0D0199-3702-4A90-AAEF-09BA62E6403A}" destId="{BDD2DDF9-237A-4C22-914E-58CB84A379E8}" srcOrd="0" destOrd="0" presId="urn:microsoft.com/office/officeart/2005/8/layout/cycle5"/>
    <dgm:cxn modelId="{D0B27A47-52AE-4913-BEDC-F52D7DC4AF9D}" srcId="{5223B178-8CFB-4560-A7DA-8B4FB15D3334}" destId="{EB296364-B3B7-4B78-B6BD-F06D2A0E2A77}" srcOrd="5" destOrd="0" parTransId="{DE57795D-C4DD-4B22-BA3B-647126CD97EA}" sibTransId="{379CBE8F-81CC-4EFD-A510-024EB52C558E}"/>
    <dgm:cxn modelId="{F647C768-BF6D-4053-997D-682D263A87EE}" srcId="{5223B178-8CFB-4560-A7DA-8B4FB15D3334}" destId="{5D659DC0-2840-44FB-ACB8-F3F81D121D88}" srcOrd="1" destOrd="0" parTransId="{9B8C4C53-DBE7-405C-866A-F0FE78195780}" sibTransId="{AABB2831-2C73-400C-91F0-C4AA7DEF7BAC}"/>
    <dgm:cxn modelId="{A7CEFE50-F26A-4044-8D67-672D610C2E1E}" srcId="{5223B178-8CFB-4560-A7DA-8B4FB15D3334}" destId="{ACC78C4C-B4F2-4C9E-8C9F-AAB18BA25EB7}" srcOrd="6" destOrd="0" parTransId="{55401761-6097-4FA7-9024-1A616E122252}" sibTransId="{08216E1C-FDFD-4063-921E-648C12ACA347}"/>
    <dgm:cxn modelId="{F556C577-0D5C-4366-AD57-B8B947A4104D}" type="presOf" srcId="{B95D2551-6910-4098-AE54-E1C1EAE981E2}" destId="{5C3361FE-477F-4973-80CB-4C3ACF7F6BE0}" srcOrd="0" destOrd="0" presId="urn:microsoft.com/office/officeart/2005/8/layout/cycle5"/>
    <dgm:cxn modelId="{BCCE7897-31E6-4D6F-A1E7-FB2323CFA07E}" type="presOf" srcId="{6F5D5C6A-C882-4D9C-ACAD-1A7D02B2B2CA}" destId="{9E306667-702C-4FC8-AC15-C000FB8AFB6A}" srcOrd="0" destOrd="0" presId="urn:microsoft.com/office/officeart/2005/8/layout/cycle5"/>
    <dgm:cxn modelId="{D9645AAC-CA0D-4F1B-8D11-5357B57672F3}" srcId="{5223B178-8CFB-4560-A7DA-8B4FB15D3334}" destId="{628FD705-3BB6-4E33-8AA8-649B809C1528}" srcOrd="4" destOrd="0" parTransId="{6D9490DF-4CC4-467A-B6D0-A0BE1928E2C9}" sibTransId="{B95D2551-6910-4098-AE54-E1C1EAE981E2}"/>
    <dgm:cxn modelId="{E1DB27AE-829D-4404-80A8-5094CD492394}" type="presOf" srcId="{ACC78C4C-B4F2-4C9E-8C9F-AAB18BA25EB7}" destId="{5963E2B0-D5A1-4565-92A8-D2C34B0EE4E4}" srcOrd="0" destOrd="0" presId="urn:microsoft.com/office/officeart/2005/8/layout/cycle5"/>
    <dgm:cxn modelId="{D990B5B5-4BF8-418C-AAB1-F1EF3267F836}" type="presOf" srcId="{08216E1C-FDFD-4063-921E-648C12ACA347}" destId="{BFDDC2E6-03D7-4A74-8F34-2B6D18086AC4}" srcOrd="0" destOrd="0" presId="urn:microsoft.com/office/officeart/2005/8/layout/cycle5"/>
    <dgm:cxn modelId="{0E4197CA-7272-40B3-871E-3E457756437F}" type="presOf" srcId="{0BFB0821-2C59-4F46-B237-50EDEED4C162}" destId="{C5F32DFF-D1B0-4293-B00D-E3E7EC6C17D3}" srcOrd="0" destOrd="0" presId="urn:microsoft.com/office/officeart/2005/8/layout/cycle5"/>
    <dgm:cxn modelId="{634F6CDC-42F9-4DE0-9743-8F53BB6EB3C3}" type="presOf" srcId="{628FD705-3BB6-4E33-8AA8-649B809C1528}" destId="{FC9CB1D9-B68F-4B0B-8E42-C8358F1BEC70}" srcOrd="0" destOrd="0" presId="urn:microsoft.com/office/officeart/2005/8/layout/cycle5"/>
    <dgm:cxn modelId="{DBAE73E5-D9DE-4EFB-8AC4-858A8AA45C8F}" srcId="{5223B178-8CFB-4560-A7DA-8B4FB15D3334}" destId="{B2F1A852-BB71-4CAF-9FCE-F0CE411BFE1C}" srcOrd="2" destOrd="0" parTransId="{B6E98022-C293-4801-A70C-648CB3E55F10}" sibTransId="{0BFB0821-2C59-4F46-B237-50EDEED4C162}"/>
    <dgm:cxn modelId="{274F71E6-A199-44D8-A85A-00B66E8DD01A}" type="presOf" srcId="{24F31CB4-2BB9-49E6-8AA9-93198DFC50E1}" destId="{7499D5ED-4986-4DFF-BCF8-06BD4EE96BE0}" srcOrd="0" destOrd="0" presId="urn:microsoft.com/office/officeart/2005/8/layout/cycle5"/>
    <dgm:cxn modelId="{4A71DFE7-B3E9-4736-A09B-746C1C944C5A}" type="presOf" srcId="{5223B178-8CFB-4560-A7DA-8B4FB15D3334}" destId="{7BC285B8-4953-46B0-B4AF-86A433B49359}" srcOrd="0" destOrd="0" presId="urn:microsoft.com/office/officeart/2005/8/layout/cycle5"/>
    <dgm:cxn modelId="{8A1E3AEC-894D-4020-A978-41E646AC3276}" type="presOf" srcId="{379CBE8F-81CC-4EFD-A510-024EB52C558E}" destId="{08143117-5653-4A6A-94C3-ECE5DFCDEDC3}" srcOrd="0" destOrd="0" presId="urn:microsoft.com/office/officeart/2005/8/layout/cycle5"/>
    <dgm:cxn modelId="{C78AE0EE-7486-4A99-A7D8-23A26E48426E}" type="presOf" srcId="{8E514F06-D5F6-4144-AE6F-C7D5075F4BC0}" destId="{41E875C4-FE0F-4A00-BD55-1E86F05E7823}" srcOrd="0" destOrd="0" presId="urn:microsoft.com/office/officeart/2005/8/layout/cycle5"/>
    <dgm:cxn modelId="{3D6828F3-212A-43C5-8E5F-EDD9E64E0031}" srcId="{5223B178-8CFB-4560-A7DA-8B4FB15D3334}" destId="{CC0D0199-3702-4A90-AAEF-09BA62E6403A}" srcOrd="3" destOrd="0" parTransId="{109EA025-8AAF-470E-94D2-82081D296A70}" sibTransId="{6F5D5C6A-C882-4D9C-ACAD-1A7D02B2B2CA}"/>
    <dgm:cxn modelId="{6108F631-D1E0-47CB-ABE3-C1B74DCFF2AE}" type="presParOf" srcId="{7BC285B8-4953-46B0-B4AF-86A433B49359}" destId="{7499D5ED-4986-4DFF-BCF8-06BD4EE96BE0}" srcOrd="0" destOrd="0" presId="urn:microsoft.com/office/officeart/2005/8/layout/cycle5"/>
    <dgm:cxn modelId="{5C3EE449-1EB5-46AD-9BF5-FB121352381F}" type="presParOf" srcId="{7BC285B8-4953-46B0-B4AF-86A433B49359}" destId="{09D4E4F1-1C4D-474B-A7DD-6A88472C99DA}" srcOrd="1" destOrd="0" presId="urn:microsoft.com/office/officeart/2005/8/layout/cycle5"/>
    <dgm:cxn modelId="{60D946F2-E993-4995-AC1A-DB5201F4BAA8}" type="presParOf" srcId="{7BC285B8-4953-46B0-B4AF-86A433B49359}" destId="{41E875C4-FE0F-4A00-BD55-1E86F05E7823}" srcOrd="2" destOrd="0" presId="urn:microsoft.com/office/officeart/2005/8/layout/cycle5"/>
    <dgm:cxn modelId="{1E9157B7-C289-438E-87CD-F77D4ED2A65B}" type="presParOf" srcId="{7BC285B8-4953-46B0-B4AF-86A433B49359}" destId="{6EB0E9F9-081F-44D5-B29E-588BC86C347E}" srcOrd="3" destOrd="0" presId="urn:microsoft.com/office/officeart/2005/8/layout/cycle5"/>
    <dgm:cxn modelId="{5F7717B7-A49C-456E-ACC5-CB65A8370E72}" type="presParOf" srcId="{7BC285B8-4953-46B0-B4AF-86A433B49359}" destId="{D62A2D54-7265-45C4-AC68-F547F9BED7C1}" srcOrd="4" destOrd="0" presId="urn:microsoft.com/office/officeart/2005/8/layout/cycle5"/>
    <dgm:cxn modelId="{135A6C89-50E8-4CB2-92DB-FCEE0D0B48A9}" type="presParOf" srcId="{7BC285B8-4953-46B0-B4AF-86A433B49359}" destId="{DA6D0E5F-B31C-4CCE-BF48-2C06D9180D7D}" srcOrd="5" destOrd="0" presId="urn:microsoft.com/office/officeart/2005/8/layout/cycle5"/>
    <dgm:cxn modelId="{E9C26B35-D833-4BDF-BABC-4213474ACC2B}" type="presParOf" srcId="{7BC285B8-4953-46B0-B4AF-86A433B49359}" destId="{4C72FB03-591D-46B8-987A-D2B74AF65811}" srcOrd="6" destOrd="0" presId="urn:microsoft.com/office/officeart/2005/8/layout/cycle5"/>
    <dgm:cxn modelId="{C08D4734-CD96-4907-954A-E49362F2C447}" type="presParOf" srcId="{7BC285B8-4953-46B0-B4AF-86A433B49359}" destId="{011F894F-9054-4D4F-94B0-F8425096B747}" srcOrd="7" destOrd="0" presId="urn:microsoft.com/office/officeart/2005/8/layout/cycle5"/>
    <dgm:cxn modelId="{DA874767-974B-4945-9B89-F2F6174461FD}" type="presParOf" srcId="{7BC285B8-4953-46B0-B4AF-86A433B49359}" destId="{C5F32DFF-D1B0-4293-B00D-E3E7EC6C17D3}" srcOrd="8" destOrd="0" presId="urn:microsoft.com/office/officeart/2005/8/layout/cycle5"/>
    <dgm:cxn modelId="{81653E46-A360-4A79-8C26-2432CF805F9D}" type="presParOf" srcId="{7BC285B8-4953-46B0-B4AF-86A433B49359}" destId="{BDD2DDF9-237A-4C22-914E-58CB84A379E8}" srcOrd="9" destOrd="0" presId="urn:microsoft.com/office/officeart/2005/8/layout/cycle5"/>
    <dgm:cxn modelId="{4A97520A-5C61-4CF3-879E-D8606904A316}" type="presParOf" srcId="{7BC285B8-4953-46B0-B4AF-86A433B49359}" destId="{29C2AEE6-7C57-4722-BA1F-33B4F8CE7A21}" srcOrd="10" destOrd="0" presId="urn:microsoft.com/office/officeart/2005/8/layout/cycle5"/>
    <dgm:cxn modelId="{2148A6B0-6186-4B15-9013-23941F5EE5E6}" type="presParOf" srcId="{7BC285B8-4953-46B0-B4AF-86A433B49359}" destId="{9E306667-702C-4FC8-AC15-C000FB8AFB6A}" srcOrd="11" destOrd="0" presId="urn:microsoft.com/office/officeart/2005/8/layout/cycle5"/>
    <dgm:cxn modelId="{46A912B5-10CF-4456-BB99-20F14EAA7822}" type="presParOf" srcId="{7BC285B8-4953-46B0-B4AF-86A433B49359}" destId="{FC9CB1D9-B68F-4B0B-8E42-C8358F1BEC70}" srcOrd="12" destOrd="0" presId="urn:microsoft.com/office/officeart/2005/8/layout/cycle5"/>
    <dgm:cxn modelId="{77DE8B0F-3E63-4534-AE45-D71B8A660688}" type="presParOf" srcId="{7BC285B8-4953-46B0-B4AF-86A433B49359}" destId="{5D220864-70B9-497B-85B2-6D3759B53D03}" srcOrd="13" destOrd="0" presId="urn:microsoft.com/office/officeart/2005/8/layout/cycle5"/>
    <dgm:cxn modelId="{EAD1B40F-8BD9-47EF-802A-9AAA0F6F2F00}" type="presParOf" srcId="{7BC285B8-4953-46B0-B4AF-86A433B49359}" destId="{5C3361FE-477F-4973-80CB-4C3ACF7F6BE0}" srcOrd="14" destOrd="0" presId="urn:microsoft.com/office/officeart/2005/8/layout/cycle5"/>
    <dgm:cxn modelId="{FEFE798E-2CB4-478D-953A-58D59235187B}" type="presParOf" srcId="{7BC285B8-4953-46B0-B4AF-86A433B49359}" destId="{481C02FE-3D0E-47F5-B86E-44A83BECDDCE}" srcOrd="15" destOrd="0" presId="urn:microsoft.com/office/officeart/2005/8/layout/cycle5"/>
    <dgm:cxn modelId="{D23654AC-CA2F-4452-8C24-03EBF243110A}" type="presParOf" srcId="{7BC285B8-4953-46B0-B4AF-86A433B49359}" destId="{58BFBA07-03A2-44BD-A071-082B5539047C}" srcOrd="16" destOrd="0" presId="urn:microsoft.com/office/officeart/2005/8/layout/cycle5"/>
    <dgm:cxn modelId="{6E7252DB-576E-4B5B-9B06-BE897118A688}" type="presParOf" srcId="{7BC285B8-4953-46B0-B4AF-86A433B49359}" destId="{08143117-5653-4A6A-94C3-ECE5DFCDEDC3}" srcOrd="17" destOrd="0" presId="urn:microsoft.com/office/officeart/2005/8/layout/cycle5"/>
    <dgm:cxn modelId="{210070C9-8F5D-41FA-9CAC-4D553D817BB5}" type="presParOf" srcId="{7BC285B8-4953-46B0-B4AF-86A433B49359}" destId="{5963E2B0-D5A1-4565-92A8-D2C34B0EE4E4}" srcOrd="18" destOrd="0" presId="urn:microsoft.com/office/officeart/2005/8/layout/cycle5"/>
    <dgm:cxn modelId="{27374591-96F3-4464-93B8-EF5BDF7F142E}" type="presParOf" srcId="{7BC285B8-4953-46B0-B4AF-86A433B49359}" destId="{51622731-E740-4EAF-B682-13351F1D635C}" srcOrd="19" destOrd="0" presId="urn:microsoft.com/office/officeart/2005/8/layout/cycle5"/>
    <dgm:cxn modelId="{BF60804F-683E-4A8B-B0BC-8C31BF99799D}" type="presParOf" srcId="{7BC285B8-4953-46B0-B4AF-86A433B49359}" destId="{BFDDC2E6-03D7-4A74-8F34-2B6D18086AC4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23B178-8CFB-4560-A7DA-8B4FB15D3334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AU"/>
        </a:p>
      </dgm:t>
    </dgm:pt>
    <dgm:pt modelId="{24F31CB4-2BB9-49E6-8AA9-93198DFC50E1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1. Market Outlook</a:t>
          </a:r>
        </a:p>
      </dgm:t>
    </dgm:pt>
    <dgm:pt modelId="{8DB5A4D8-5117-43C3-94B4-A02168352966}" type="parTrans" cxnId="{E99FDD0D-99AA-479C-9F38-6ED5B927CE48}">
      <dgm:prSet/>
      <dgm:spPr/>
      <dgm:t>
        <a:bodyPr/>
        <a:lstStyle/>
        <a:p>
          <a:endParaRPr lang="en-AU" sz="1200"/>
        </a:p>
      </dgm:t>
    </dgm:pt>
    <dgm:pt modelId="{8E514F06-D5F6-4144-AE6F-C7D5075F4BC0}" type="sibTrans" cxnId="{E99FDD0D-99AA-479C-9F38-6ED5B927CE48}">
      <dgm:prSet/>
      <dgm:spPr/>
      <dgm:t>
        <a:bodyPr/>
        <a:lstStyle/>
        <a:p>
          <a:endParaRPr lang="en-AU" sz="1200"/>
        </a:p>
      </dgm:t>
    </dgm:pt>
    <dgm:pt modelId="{5D659DC0-2840-44FB-ACB8-F3F81D121D88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2. Portfolio Objectives</a:t>
          </a:r>
        </a:p>
      </dgm:t>
    </dgm:pt>
    <dgm:pt modelId="{9B8C4C53-DBE7-405C-866A-F0FE78195780}" type="parTrans" cxnId="{F647C768-BF6D-4053-997D-682D263A87EE}">
      <dgm:prSet/>
      <dgm:spPr/>
      <dgm:t>
        <a:bodyPr/>
        <a:lstStyle/>
        <a:p>
          <a:endParaRPr lang="en-AU" sz="1200"/>
        </a:p>
      </dgm:t>
    </dgm:pt>
    <dgm:pt modelId="{AABB2831-2C73-400C-91F0-C4AA7DEF7BAC}" type="sibTrans" cxnId="{F647C768-BF6D-4053-997D-682D263A87EE}">
      <dgm:prSet/>
      <dgm:spPr/>
      <dgm:t>
        <a:bodyPr/>
        <a:lstStyle/>
        <a:p>
          <a:endParaRPr lang="en-AU" sz="1200"/>
        </a:p>
      </dgm:t>
    </dgm:pt>
    <dgm:pt modelId="{B2F1A852-BB71-4CAF-9FCE-F0CE411BFE1C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3. Stress Test and Optimise</a:t>
          </a:r>
        </a:p>
      </dgm:t>
    </dgm:pt>
    <dgm:pt modelId="{B6E98022-C293-4801-A70C-648CB3E55F10}" type="parTrans" cxnId="{DBAE73E5-D9DE-4EFB-8AC4-858A8AA45C8F}">
      <dgm:prSet/>
      <dgm:spPr/>
      <dgm:t>
        <a:bodyPr/>
        <a:lstStyle/>
        <a:p>
          <a:endParaRPr lang="en-AU" sz="1200"/>
        </a:p>
      </dgm:t>
    </dgm:pt>
    <dgm:pt modelId="{0BFB0821-2C59-4F46-B237-50EDEED4C162}" type="sibTrans" cxnId="{DBAE73E5-D9DE-4EFB-8AC4-858A8AA45C8F}">
      <dgm:prSet/>
      <dgm:spPr/>
      <dgm:t>
        <a:bodyPr/>
        <a:lstStyle/>
        <a:p>
          <a:endParaRPr lang="en-AU" sz="1200"/>
        </a:p>
      </dgm:t>
    </dgm:pt>
    <dgm:pt modelId="{CC0D0199-3702-4A90-AAEF-09BA62E6403A}">
      <dgm:prSet phldrT="[Text]" custT="1"/>
      <dgm:spPr>
        <a:solidFill>
          <a:srgbClr val="00B050"/>
        </a:solidFill>
      </dgm:spPr>
      <dgm:t>
        <a:bodyPr/>
        <a:lstStyle/>
        <a:p>
          <a:r>
            <a:rPr lang="en-AU" sz="1200"/>
            <a:t>4. Build Sector Portfolios</a:t>
          </a:r>
        </a:p>
      </dgm:t>
    </dgm:pt>
    <dgm:pt modelId="{109EA025-8AAF-470E-94D2-82081D296A70}" type="parTrans" cxnId="{3D6828F3-212A-43C5-8E5F-EDD9E64E0031}">
      <dgm:prSet/>
      <dgm:spPr/>
      <dgm:t>
        <a:bodyPr/>
        <a:lstStyle/>
        <a:p>
          <a:endParaRPr lang="en-AU" sz="1200"/>
        </a:p>
      </dgm:t>
    </dgm:pt>
    <dgm:pt modelId="{6F5D5C6A-C882-4D9C-ACAD-1A7D02B2B2CA}" type="sibTrans" cxnId="{3D6828F3-212A-43C5-8E5F-EDD9E64E0031}">
      <dgm:prSet/>
      <dgm:spPr/>
      <dgm:t>
        <a:bodyPr/>
        <a:lstStyle/>
        <a:p>
          <a:endParaRPr lang="en-AU" sz="1200"/>
        </a:p>
      </dgm:t>
    </dgm:pt>
    <dgm:pt modelId="{628FD705-3BB6-4E33-8AA8-649B809C1528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ctr"/>
          <a:r>
            <a:rPr lang="en-AU" sz="1200"/>
            <a:t>5. Bottom-up risk analysis</a:t>
          </a:r>
        </a:p>
      </dgm:t>
    </dgm:pt>
    <dgm:pt modelId="{6D9490DF-4CC4-467A-B6D0-A0BE1928E2C9}" type="parTrans" cxnId="{D9645AAC-CA0D-4F1B-8D11-5357B57672F3}">
      <dgm:prSet/>
      <dgm:spPr/>
      <dgm:t>
        <a:bodyPr/>
        <a:lstStyle/>
        <a:p>
          <a:endParaRPr lang="en-AU" sz="1200"/>
        </a:p>
      </dgm:t>
    </dgm:pt>
    <dgm:pt modelId="{B95D2551-6910-4098-AE54-E1C1EAE981E2}" type="sibTrans" cxnId="{D9645AAC-CA0D-4F1B-8D11-5357B57672F3}">
      <dgm:prSet/>
      <dgm:spPr>
        <a:ln>
          <a:solidFill>
            <a:srgbClr val="3D555E"/>
          </a:solidFill>
        </a:ln>
      </dgm:spPr>
      <dgm:t>
        <a:bodyPr/>
        <a:lstStyle/>
        <a:p>
          <a:endParaRPr lang="en-AU" sz="1200"/>
        </a:p>
      </dgm:t>
    </dgm:pt>
    <dgm:pt modelId="{ACC78C4C-B4F2-4C9E-8C9F-AAB18BA25EB7}">
      <dgm:prSet custT="1"/>
      <dgm:spPr>
        <a:solidFill>
          <a:schemeClr val="bg2"/>
        </a:solidFill>
      </dgm:spPr>
      <dgm:t>
        <a:bodyPr/>
        <a:lstStyle/>
        <a:p>
          <a:r>
            <a:rPr lang="en-AU" sz="1200"/>
            <a:t>7. Monitor</a:t>
          </a:r>
        </a:p>
      </dgm:t>
    </dgm:pt>
    <dgm:pt modelId="{55401761-6097-4FA7-9024-1A616E122252}" type="parTrans" cxnId="{A7CEFE50-F26A-4044-8D67-672D610C2E1E}">
      <dgm:prSet/>
      <dgm:spPr/>
      <dgm:t>
        <a:bodyPr/>
        <a:lstStyle/>
        <a:p>
          <a:endParaRPr lang="en-AU" sz="1200"/>
        </a:p>
      </dgm:t>
    </dgm:pt>
    <dgm:pt modelId="{08216E1C-FDFD-4063-921E-648C12ACA347}" type="sibTrans" cxnId="{A7CEFE50-F26A-4044-8D67-672D610C2E1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AU" sz="1200"/>
        </a:p>
      </dgm:t>
    </dgm:pt>
    <dgm:pt modelId="{EB296364-B3B7-4B78-B6BD-F06D2A0E2A77}">
      <dgm:prSet custT="1"/>
      <dgm:spPr>
        <a:solidFill>
          <a:schemeClr val="bg2"/>
        </a:solidFill>
      </dgm:spPr>
      <dgm:t>
        <a:bodyPr/>
        <a:lstStyle/>
        <a:p>
          <a:r>
            <a:rPr lang="en-AU" sz="1200"/>
            <a:t>6. Refine</a:t>
          </a:r>
        </a:p>
      </dgm:t>
    </dgm:pt>
    <dgm:pt modelId="{DE57795D-C4DD-4B22-BA3B-647126CD97EA}" type="parTrans" cxnId="{D0B27A47-52AE-4913-BEDC-F52D7DC4AF9D}">
      <dgm:prSet/>
      <dgm:spPr/>
      <dgm:t>
        <a:bodyPr/>
        <a:lstStyle/>
        <a:p>
          <a:endParaRPr lang="en-AU" sz="1200"/>
        </a:p>
      </dgm:t>
    </dgm:pt>
    <dgm:pt modelId="{379CBE8F-81CC-4EFD-A510-024EB52C558E}" type="sibTrans" cxnId="{D0B27A47-52AE-4913-BEDC-F52D7DC4AF9D}">
      <dgm:prSet/>
      <dgm:spPr/>
      <dgm:t>
        <a:bodyPr/>
        <a:lstStyle/>
        <a:p>
          <a:endParaRPr lang="en-AU" sz="1200"/>
        </a:p>
      </dgm:t>
    </dgm:pt>
    <dgm:pt modelId="{7BC285B8-4953-46B0-B4AF-86A433B49359}" type="pres">
      <dgm:prSet presAssocID="{5223B178-8CFB-4560-A7DA-8B4FB15D3334}" presName="cycle" presStyleCnt="0">
        <dgm:presLayoutVars>
          <dgm:dir/>
          <dgm:resizeHandles val="exact"/>
        </dgm:presLayoutVars>
      </dgm:prSet>
      <dgm:spPr/>
    </dgm:pt>
    <dgm:pt modelId="{7499D5ED-4986-4DFF-BCF8-06BD4EE96BE0}" type="pres">
      <dgm:prSet presAssocID="{24F31CB4-2BB9-49E6-8AA9-93198DFC50E1}" presName="node" presStyleLbl="node1" presStyleIdx="0" presStyleCnt="7" custScaleX="150602" custRadScaleRad="100136" custRadScaleInc="2785">
        <dgm:presLayoutVars>
          <dgm:bulletEnabled val="1"/>
        </dgm:presLayoutVars>
      </dgm:prSet>
      <dgm:spPr/>
    </dgm:pt>
    <dgm:pt modelId="{09D4E4F1-1C4D-474B-A7DD-6A88472C99DA}" type="pres">
      <dgm:prSet presAssocID="{24F31CB4-2BB9-49E6-8AA9-93198DFC50E1}" presName="spNode" presStyleCnt="0"/>
      <dgm:spPr/>
    </dgm:pt>
    <dgm:pt modelId="{41E875C4-FE0F-4A00-BD55-1E86F05E7823}" type="pres">
      <dgm:prSet presAssocID="{8E514F06-D5F6-4144-AE6F-C7D5075F4BC0}" presName="sibTrans" presStyleLbl="sibTrans1D1" presStyleIdx="0" presStyleCnt="7"/>
      <dgm:spPr/>
    </dgm:pt>
    <dgm:pt modelId="{6EB0E9F9-081F-44D5-B29E-588BC86C347E}" type="pres">
      <dgm:prSet presAssocID="{5D659DC0-2840-44FB-ACB8-F3F81D121D88}" presName="node" presStyleLbl="node1" presStyleIdx="1" presStyleCnt="7" custScaleX="156176" custRadScaleRad="111569" custRadScaleInc="44586">
        <dgm:presLayoutVars>
          <dgm:bulletEnabled val="1"/>
        </dgm:presLayoutVars>
      </dgm:prSet>
      <dgm:spPr/>
    </dgm:pt>
    <dgm:pt modelId="{D62A2D54-7265-45C4-AC68-F547F9BED7C1}" type="pres">
      <dgm:prSet presAssocID="{5D659DC0-2840-44FB-ACB8-F3F81D121D88}" presName="spNode" presStyleCnt="0"/>
      <dgm:spPr/>
    </dgm:pt>
    <dgm:pt modelId="{DA6D0E5F-B31C-4CCE-BF48-2C06D9180D7D}" type="pres">
      <dgm:prSet presAssocID="{AABB2831-2C73-400C-91F0-C4AA7DEF7BAC}" presName="sibTrans" presStyleLbl="sibTrans1D1" presStyleIdx="1" presStyleCnt="7"/>
      <dgm:spPr/>
    </dgm:pt>
    <dgm:pt modelId="{4C72FB03-591D-46B8-987A-D2B74AF65811}" type="pres">
      <dgm:prSet presAssocID="{B2F1A852-BB71-4CAF-9FCE-F0CE411BFE1C}" presName="node" presStyleLbl="node1" presStyleIdx="2" presStyleCnt="7" custScaleX="155986" custRadScaleRad="111026" custRadScaleInc="-33241">
        <dgm:presLayoutVars>
          <dgm:bulletEnabled val="1"/>
        </dgm:presLayoutVars>
      </dgm:prSet>
      <dgm:spPr/>
    </dgm:pt>
    <dgm:pt modelId="{011F894F-9054-4D4F-94B0-F8425096B747}" type="pres">
      <dgm:prSet presAssocID="{B2F1A852-BB71-4CAF-9FCE-F0CE411BFE1C}" presName="spNode" presStyleCnt="0"/>
      <dgm:spPr/>
    </dgm:pt>
    <dgm:pt modelId="{C5F32DFF-D1B0-4293-B00D-E3E7EC6C17D3}" type="pres">
      <dgm:prSet presAssocID="{0BFB0821-2C59-4F46-B237-50EDEED4C162}" presName="sibTrans" presStyleLbl="sibTrans1D1" presStyleIdx="2" presStyleCnt="7"/>
      <dgm:spPr/>
    </dgm:pt>
    <dgm:pt modelId="{BDD2DDF9-237A-4C22-914E-58CB84A379E8}" type="pres">
      <dgm:prSet presAssocID="{CC0D0199-3702-4A90-AAEF-09BA62E6403A}" presName="node" presStyleLbl="node1" presStyleIdx="3" presStyleCnt="7" custScaleX="159397" custRadScaleRad="101891" custRadScaleInc="-67586">
        <dgm:presLayoutVars>
          <dgm:bulletEnabled val="1"/>
        </dgm:presLayoutVars>
      </dgm:prSet>
      <dgm:spPr/>
    </dgm:pt>
    <dgm:pt modelId="{29C2AEE6-7C57-4722-BA1F-33B4F8CE7A21}" type="pres">
      <dgm:prSet presAssocID="{CC0D0199-3702-4A90-AAEF-09BA62E6403A}" presName="spNode" presStyleCnt="0"/>
      <dgm:spPr/>
    </dgm:pt>
    <dgm:pt modelId="{9E306667-702C-4FC8-AC15-C000FB8AFB6A}" type="pres">
      <dgm:prSet presAssocID="{6F5D5C6A-C882-4D9C-ACAD-1A7D02B2B2CA}" presName="sibTrans" presStyleLbl="sibTrans1D1" presStyleIdx="3" presStyleCnt="7"/>
      <dgm:spPr/>
    </dgm:pt>
    <dgm:pt modelId="{FC9CB1D9-B68F-4B0B-8E42-C8358F1BEC70}" type="pres">
      <dgm:prSet presAssocID="{628FD705-3BB6-4E33-8AA8-649B809C1528}" presName="node" presStyleLbl="node1" presStyleIdx="4" presStyleCnt="7" custScaleX="147531" custRadScaleRad="99903" custRadScaleInc="58702">
        <dgm:presLayoutVars>
          <dgm:bulletEnabled val="1"/>
        </dgm:presLayoutVars>
      </dgm:prSet>
      <dgm:spPr/>
    </dgm:pt>
    <dgm:pt modelId="{5D220864-70B9-497B-85B2-6D3759B53D03}" type="pres">
      <dgm:prSet presAssocID="{628FD705-3BB6-4E33-8AA8-649B809C1528}" presName="spNode" presStyleCnt="0"/>
      <dgm:spPr/>
    </dgm:pt>
    <dgm:pt modelId="{5C3361FE-477F-4973-80CB-4C3ACF7F6BE0}" type="pres">
      <dgm:prSet presAssocID="{B95D2551-6910-4098-AE54-E1C1EAE981E2}" presName="sibTrans" presStyleLbl="sibTrans1D1" presStyleIdx="4" presStyleCnt="7"/>
      <dgm:spPr/>
    </dgm:pt>
    <dgm:pt modelId="{481C02FE-3D0E-47F5-B86E-44A83BECDDCE}" type="pres">
      <dgm:prSet presAssocID="{EB296364-B3B7-4B78-B6BD-F06D2A0E2A77}" presName="node" presStyleLbl="node1" presStyleIdx="5" presStyleCnt="7" custScaleX="180497" custRadScaleRad="104617" custRadScaleInc="33125">
        <dgm:presLayoutVars>
          <dgm:bulletEnabled val="1"/>
        </dgm:presLayoutVars>
      </dgm:prSet>
      <dgm:spPr/>
    </dgm:pt>
    <dgm:pt modelId="{58BFBA07-03A2-44BD-A071-082B5539047C}" type="pres">
      <dgm:prSet presAssocID="{EB296364-B3B7-4B78-B6BD-F06D2A0E2A77}" presName="spNode" presStyleCnt="0"/>
      <dgm:spPr/>
    </dgm:pt>
    <dgm:pt modelId="{08143117-5653-4A6A-94C3-ECE5DFCDEDC3}" type="pres">
      <dgm:prSet presAssocID="{379CBE8F-81CC-4EFD-A510-024EB52C558E}" presName="sibTrans" presStyleLbl="sibTrans1D1" presStyleIdx="5" presStyleCnt="7"/>
      <dgm:spPr/>
    </dgm:pt>
    <dgm:pt modelId="{5963E2B0-D5A1-4565-92A8-D2C34B0EE4E4}" type="pres">
      <dgm:prSet presAssocID="{ACC78C4C-B4F2-4C9E-8C9F-AAB18BA25EB7}" presName="node" presStyleLbl="node1" presStyleIdx="6" presStyleCnt="7" custScaleX="178244" custRadScaleRad="110937" custRadScaleInc="-49285">
        <dgm:presLayoutVars>
          <dgm:bulletEnabled val="1"/>
        </dgm:presLayoutVars>
      </dgm:prSet>
      <dgm:spPr/>
    </dgm:pt>
    <dgm:pt modelId="{51622731-E740-4EAF-B682-13351F1D635C}" type="pres">
      <dgm:prSet presAssocID="{ACC78C4C-B4F2-4C9E-8C9F-AAB18BA25EB7}" presName="spNode" presStyleCnt="0"/>
      <dgm:spPr/>
    </dgm:pt>
    <dgm:pt modelId="{BFDDC2E6-03D7-4A74-8F34-2B6D18086AC4}" type="pres">
      <dgm:prSet presAssocID="{08216E1C-FDFD-4063-921E-648C12ACA347}" presName="sibTrans" presStyleLbl="sibTrans1D1" presStyleIdx="6" presStyleCnt="7"/>
      <dgm:spPr/>
    </dgm:pt>
  </dgm:ptLst>
  <dgm:cxnLst>
    <dgm:cxn modelId="{C21E5201-48B8-4F3A-93E8-8A9D2C929D83}" type="presOf" srcId="{5D659DC0-2840-44FB-ACB8-F3F81D121D88}" destId="{6EB0E9F9-081F-44D5-B29E-588BC86C347E}" srcOrd="0" destOrd="0" presId="urn:microsoft.com/office/officeart/2005/8/layout/cycle5"/>
    <dgm:cxn modelId="{E0854908-1656-41FF-B68E-473761612F52}" type="presOf" srcId="{EB296364-B3B7-4B78-B6BD-F06D2A0E2A77}" destId="{481C02FE-3D0E-47F5-B86E-44A83BECDDCE}" srcOrd="0" destOrd="0" presId="urn:microsoft.com/office/officeart/2005/8/layout/cycle5"/>
    <dgm:cxn modelId="{E99FDD0D-99AA-479C-9F38-6ED5B927CE48}" srcId="{5223B178-8CFB-4560-A7DA-8B4FB15D3334}" destId="{24F31CB4-2BB9-49E6-8AA9-93198DFC50E1}" srcOrd="0" destOrd="0" parTransId="{8DB5A4D8-5117-43C3-94B4-A02168352966}" sibTransId="{8E514F06-D5F6-4144-AE6F-C7D5075F4BC0}"/>
    <dgm:cxn modelId="{F573F524-1961-43D7-85F8-A209FFB3EFFB}" type="presOf" srcId="{AABB2831-2C73-400C-91F0-C4AA7DEF7BAC}" destId="{DA6D0E5F-B31C-4CCE-BF48-2C06D9180D7D}" srcOrd="0" destOrd="0" presId="urn:microsoft.com/office/officeart/2005/8/layout/cycle5"/>
    <dgm:cxn modelId="{E4838940-1FFF-490A-ABAB-FABA83B44C98}" type="presOf" srcId="{B2F1A852-BB71-4CAF-9FCE-F0CE411BFE1C}" destId="{4C72FB03-591D-46B8-987A-D2B74AF65811}" srcOrd="0" destOrd="0" presId="urn:microsoft.com/office/officeart/2005/8/layout/cycle5"/>
    <dgm:cxn modelId="{2AB4AB5B-110F-4D26-BAD3-AEEB70EECA80}" type="presOf" srcId="{CC0D0199-3702-4A90-AAEF-09BA62E6403A}" destId="{BDD2DDF9-237A-4C22-914E-58CB84A379E8}" srcOrd="0" destOrd="0" presId="urn:microsoft.com/office/officeart/2005/8/layout/cycle5"/>
    <dgm:cxn modelId="{D0B27A47-52AE-4913-BEDC-F52D7DC4AF9D}" srcId="{5223B178-8CFB-4560-A7DA-8B4FB15D3334}" destId="{EB296364-B3B7-4B78-B6BD-F06D2A0E2A77}" srcOrd="5" destOrd="0" parTransId="{DE57795D-C4DD-4B22-BA3B-647126CD97EA}" sibTransId="{379CBE8F-81CC-4EFD-A510-024EB52C558E}"/>
    <dgm:cxn modelId="{F647C768-BF6D-4053-997D-682D263A87EE}" srcId="{5223B178-8CFB-4560-A7DA-8B4FB15D3334}" destId="{5D659DC0-2840-44FB-ACB8-F3F81D121D88}" srcOrd="1" destOrd="0" parTransId="{9B8C4C53-DBE7-405C-866A-F0FE78195780}" sibTransId="{AABB2831-2C73-400C-91F0-C4AA7DEF7BAC}"/>
    <dgm:cxn modelId="{A7CEFE50-F26A-4044-8D67-672D610C2E1E}" srcId="{5223B178-8CFB-4560-A7DA-8B4FB15D3334}" destId="{ACC78C4C-B4F2-4C9E-8C9F-AAB18BA25EB7}" srcOrd="6" destOrd="0" parTransId="{55401761-6097-4FA7-9024-1A616E122252}" sibTransId="{08216E1C-FDFD-4063-921E-648C12ACA347}"/>
    <dgm:cxn modelId="{F556C577-0D5C-4366-AD57-B8B947A4104D}" type="presOf" srcId="{B95D2551-6910-4098-AE54-E1C1EAE981E2}" destId="{5C3361FE-477F-4973-80CB-4C3ACF7F6BE0}" srcOrd="0" destOrd="0" presId="urn:microsoft.com/office/officeart/2005/8/layout/cycle5"/>
    <dgm:cxn modelId="{BCCE7897-31E6-4D6F-A1E7-FB2323CFA07E}" type="presOf" srcId="{6F5D5C6A-C882-4D9C-ACAD-1A7D02B2B2CA}" destId="{9E306667-702C-4FC8-AC15-C000FB8AFB6A}" srcOrd="0" destOrd="0" presId="urn:microsoft.com/office/officeart/2005/8/layout/cycle5"/>
    <dgm:cxn modelId="{D9645AAC-CA0D-4F1B-8D11-5357B57672F3}" srcId="{5223B178-8CFB-4560-A7DA-8B4FB15D3334}" destId="{628FD705-3BB6-4E33-8AA8-649B809C1528}" srcOrd="4" destOrd="0" parTransId="{6D9490DF-4CC4-467A-B6D0-A0BE1928E2C9}" sibTransId="{B95D2551-6910-4098-AE54-E1C1EAE981E2}"/>
    <dgm:cxn modelId="{E1DB27AE-829D-4404-80A8-5094CD492394}" type="presOf" srcId="{ACC78C4C-B4F2-4C9E-8C9F-AAB18BA25EB7}" destId="{5963E2B0-D5A1-4565-92A8-D2C34B0EE4E4}" srcOrd="0" destOrd="0" presId="urn:microsoft.com/office/officeart/2005/8/layout/cycle5"/>
    <dgm:cxn modelId="{D990B5B5-4BF8-418C-AAB1-F1EF3267F836}" type="presOf" srcId="{08216E1C-FDFD-4063-921E-648C12ACA347}" destId="{BFDDC2E6-03D7-4A74-8F34-2B6D18086AC4}" srcOrd="0" destOrd="0" presId="urn:microsoft.com/office/officeart/2005/8/layout/cycle5"/>
    <dgm:cxn modelId="{0E4197CA-7272-40B3-871E-3E457756437F}" type="presOf" srcId="{0BFB0821-2C59-4F46-B237-50EDEED4C162}" destId="{C5F32DFF-D1B0-4293-B00D-E3E7EC6C17D3}" srcOrd="0" destOrd="0" presId="urn:microsoft.com/office/officeart/2005/8/layout/cycle5"/>
    <dgm:cxn modelId="{634F6CDC-42F9-4DE0-9743-8F53BB6EB3C3}" type="presOf" srcId="{628FD705-3BB6-4E33-8AA8-649B809C1528}" destId="{FC9CB1D9-B68F-4B0B-8E42-C8358F1BEC70}" srcOrd="0" destOrd="0" presId="urn:microsoft.com/office/officeart/2005/8/layout/cycle5"/>
    <dgm:cxn modelId="{DBAE73E5-D9DE-4EFB-8AC4-858A8AA45C8F}" srcId="{5223B178-8CFB-4560-A7DA-8B4FB15D3334}" destId="{B2F1A852-BB71-4CAF-9FCE-F0CE411BFE1C}" srcOrd="2" destOrd="0" parTransId="{B6E98022-C293-4801-A70C-648CB3E55F10}" sibTransId="{0BFB0821-2C59-4F46-B237-50EDEED4C162}"/>
    <dgm:cxn modelId="{274F71E6-A199-44D8-A85A-00B66E8DD01A}" type="presOf" srcId="{24F31CB4-2BB9-49E6-8AA9-93198DFC50E1}" destId="{7499D5ED-4986-4DFF-BCF8-06BD4EE96BE0}" srcOrd="0" destOrd="0" presId="urn:microsoft.com/office/officeart/2005/8/layout/cycle5"/>
    <dgm:cxn modelId="{4A71DFE7-B3E9-4736-A09B-746C1C944C5A}" type="presOf" srcId="{5223B178-8CFB-4560-A7DA-8B4FB15D3334}" destId="{7BC285B8-4953-46B0-B4AF-86A433B49359}" srcOrd="0" destOrd="0" presId="urn:microsoft.com/office/officeart/2005/8/layout/cycle5"/>
    <dgm:cxn modelId="{8A1E3AEC-894D-4020-A978-41E646AC3276}" type="presOf" srcId="{379CBE8F-81CC-4EFD-A510-024EB52C558E}" destId="{08143117-5653-4A6A-94C3-ECE5DFCDEDC3}" srcOrd="0" destOrd="0" presId="urn:microsoft.com/office/officeart/2005/8/layout/cycle5"/>
    <dgm:cxn modelId="{C78AE0EE-7486-4A99-A7D8-23A26E48426E}" type="presOf" srcId="{8E514F06-D5F6-4144-AE6F-C7D5075F4BC0}" destId="{41E875C4-FE0F-4A00-BD55-1E86F05E7823}" srcOrd="0" destOrd="0" presId="urn:microsoft.com/office/officeart/2005/8/layout/cycle5"/>
    <dgm:cxn modelId="{3D6828F3-212A-43C5-8E5F-EDD9E64E0031}" srcId="{5223B178-8CFB-4560-A7DA-8B4FB15D3334}" destId="{CC0D0199-3702-4A90-AAEF-09BA62E6403A}" srcOrd="3" destOrd="0" parTransId="{109EA025-8AAF-470E-94D2-82081D296A70}" sibTransId="{6F5D5C6A-C882-4D9C-ACAD-1A7D02B2B2CA}"/>
    <dgm:cxn modelId="{6108F631-D1E0-47CB-ABE3-C1B74DCFF2AE}" type="presParOf" srcId="{7BC285B8-4953-46B0-B4AF-86A433B49359}" destId="{7499D5ED-4986-4DFF-BCF8-06BD4EE96BE0}" srcOrd="0" destOrd="0" presId="urn:microsoft.com/office/officeart/2005/8/layout/cycle5"/>
    <dgm:cxn modelId="{5C3EE449-1EB5-46AD-9BF5-FB121352381F}" type="presParOf" srcId="{7BC285B8-4953-46B0-B4AF-86A433B49359}" destId="{09D4E4F1-1C4D-474B-A7DD-6A88472C99DA}" srcOrd="1" destOrd="0" presId="urn:microsoft.com/office/officeart/2005/8/layout/cycle5"/>
    <dgm:cxn modelId="{60D946F2-E993-4995-AC1A-DB5201F4BAA8}" type="presParOf" srcId="{7BC285B8-4953-46B0-B4AF-86A433B49359}" destId="{41E875C4-FE0F-4A00-BD55-1E86F05E7823}" srcOrd="2" destOrd="0" presId="urn:microsoft.com/office/officeart/2005/8/layout/cycle5"/>
    <dgm:cxn modelId="{1E9157B7-C289-438E-87CD-F77D4ED2A65B}" type="presParOf" srcId="{7BC285B8-4953-46B0-B4AF-86A433B49359}" destId="{6EB0E9F9-081F-44D5-B29E-588BC86C347E}" srcOrd="3" destOrd="0" presId="urn:microsoft.com/office/officeart/2005/8/layout/cycle5"/>
    <dgm:cxn modelId="{5F7717B7-A49C-456E-ACC5-CB65A8370E72}" type="presParOf" srcId="{7BC285B8-4953-46B0-B4AF-86A433B49359}" destId="{D62A2D54-7265-45C4-AC68-F547F9BED7C1}" srcOrd="4" destOrd="0" presId="urn:microsoft.com/office/officeart/2005/8/layout/cycle5"/>
    <dgm:cxn modelId="{135A6C89-50E8-4CB2-92DB-FCEE0D0B48A9}" type="presParOf" srcId="{7BC285B8-4953-46B0-B4AF-86A433B49359}" destId="{DA6D0E5F-B31C-4CCE-BF48-2C06D9180D7D}" srcOrd="5" destOrd="0" presId="urn:microsoft.com/office/officeart/2005/8/layout/cycle5"/>
    <dgm:cxn modelId="{E9C26B35-D833-4BDF-BABC-4213474ACC2B}" type="presParOf" srcId="{7BC285B8-4953-46B0-B4AF-86A433B49359}" destId="{4C72FB03-591D-46B8-987A-D2B74AF65811}" srcOrd="6" destOrd="0" presId="urn:microsoft.com/office/officeart/2005/8/layout/cycle5"/>
    <dgm:cxn modelId="{C08D4734-CD96-4907-954A-E49362F2C447}" type="presParOf" srcId="{7BC285B8-4953-46B0-B4AF-86A433B49359}" destId="{011F894F-9054-4D4F-94B0-F8425096B747}" srcOrd="7" destOrd="0" presId="urn:microsoft.com/office/officeart/2005/8/layout/cycle5"/>
    <dgm:cxn modelId="{DA874767-974B-4945-9B89-F2F6174461FD}" type="presParOf" srcId="{7BC285B8-4953-46B0-B4AF-86A433B49359}" destId="{C5F32DFF-D1B0-4293-B00D-E3E7EC6C17D3}" srcOrd="8" destOrd="0" presId="urn:microsoft.com/office/officeart/2005/8/layout/cycle5"/>
    <dgm:cxn modelId="{81653E46-A360-4A79-8C26-2432CF805F9D}" type="presParOf" srcId="{7BC285B8-4953-46B0-B4AF-86A433B49359}" destId="{BDD2DDF9-237A-4C22-914E-58CB84A379E8}" srcOrd="9" destOrd="0" presId="urn:microsoft.com/office/officeart/2005/8/layout/cycle5"/>
    <dgm:cxn modelId="{4A97520A-5C61-4CF3-879E-D8606904A316}" type="presParOf" srcId="{7BC285B8-4953-46B0-B4AF-86A433B49359}" destId="{29C2AEE6-7C57-4722-BA1F-33B4F8CE7A21}" srcOrd="10" destOrd="0" presId="urn:microsoft.com/office/officeart/2005/8/layout/cycle5"/>
    <dgm:cxn modelId="{2148A6B0-6186-4B15-9013-23941F5EE5E6}" type="presParOf" srcId="{7BC285B8-4953-46B0-B4AF-86A433B49359}" destId="{9E306667-702C-4FC8-AC15-C000FB8AFB6A}" srcOrd="11" destOrd="0" presId="urn:microsoft.com/office/officeart/2005/8/layout/cycle5"/>
    <dgm:cxn modelId="{46A912B5-10CF-4456-BB99-20F14EAA7822}" type="presParOf" srcId="{7BC285B8-4953-46B0-B4AF-86A433B49359}" destId="{FC9CB1D9-B68F-4B0B-8E42-C8358F1BEC70}" srcOrd="12" destOrd="0" presId="urn:microsoft.com/office/officeart/2005/8/layout/cycle5"/>
    <dgm:cxn modelId="{77DE8B0F-3E63-4534-AE45-D71B8A660688}" type="presParOf" srcId="{7BC285B8-4953-46B0-B4AF-86A433B49359}" destId="{5D220864-70B9-497B-85B2-6D3759B53D03}" srcOrd="13" destOrd="0" presId="urn:microsoft.com/office/officeart/2005/8/layout/cycle5"/>
    <dgm:cxn modelId="{EAD1B40F-8BD9-47EF-802A-9AAA0F6F2F00}" type="presParOf" srcId="{7BC285B8-4953-46B0-B4AF-86A433B49359}" destId="{5C3361FE-477F-4973-80CB-4C3ACF7F6BE0}" srcOrd="14" destOrd="0" presId="urn:microsoft.com/office/officeart/2005/8/layout/cycle5"/>
    <dgm:cxn modelId="{FEFE798E-2CB4-478D-953A-58D59235187B}" type="presParOf" srcId="{7BC285B8-4953-46B0-B4AF-86A433B49359}" destId="{481C02FE-3D0E-47F5-B86E-44A83BECDDCE}" srcOrd="15" destOrd="0" presId="urn:microsoft.com/office/officeart/2005/8/layout/cycle5"/>
    <dgm:cxn modelId="{D23654AC-CA2F-4452-8C24-03EBF243110A}" type="presParOf" srcId="{7BC285B8-4953-46B0-B4AF-86A433B49359}" destId="{58BFBA07-03A2-44BD-A071-082B5539047C}" srcOrd="16" destOrd="0" presId="urn:microsoft.com/office/officeart/2005/8/layout/cycle5"/>
    <dgm:cxn modelId="{6E7252DB-576E-4B5B-9B06-BE897118A688}" type="presParOf" srcId="{7BC285B8-4953-46B0-B4AF-86A433B49359}" destId="{08143117-5653-4A6A-94C3-ECE5DFCDEDC3}" srcOrd="17" destOrd="0" presId="urn:microsoft.com/office/officeart/2005/8/layout/cycle5"/>
    <dgm:cxn modelId="{210070C9-8F5D-41FA-9CAC-4D553D817BB5}" type="presParOf" srcId="{7BC285B8-4953-46B0-B4AF-86A433B49359}" destId="{5963E2B0-D5A1-4565-92A8-D2C34B0EE4E4}" srcOrd="18" destOrd="0" presId="urn:microsoft.com/office/officeart/2005/8/layout/cycle5"/>
    <dgm:cxn modelId="{27374591-96F3-4464-93B8-EF5BDF7F142E}" type="presParOf" srcId="{7BC285B8-4953-46B0-B4AF-86A433B49359}" destId="{51622731-E740-4EAF-B682-13351F1D635C}" srcOrd="19" destOrd="0" presId="urn:microsoft.com/office/officeart/2005/8/layout/cycle5"/>
    <dgm:cxn modelId="{BF60804F-683E-4A8B-B0BC-8C31BF99799D}" type="presParOf" srcId="{7BC285B8-4953-46B0-B4AF-86A433B49359}" destId="{BFDDC2E6-03D7-4A74-8F34-2B6D18086AC4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23B178-8CFB-4560-A7DA-8B4FB15D3334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AU"/>
        </a:p>
      </dgm:t>
    </dgm:pt>
    <dgm:pt modelId="{24F31CB4-2BB9-49E6-8AA9-93198DFC50E1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1. Market Outlook</a:t>
          </a:r>
        </a:p>
      </dgm:t>
    </dgm:pt>
    <dgm:pt modelId="{8DB5A4D8-5117-43C3-94B4-A02168352966}" type="parTrans" cxnId="{E99FDD0D-99AA-479C-9F38-6ED5B927CE48}">
      <dgm:prSet/>
      <dgm:spPr/>
      <dgm:t>
        <a:bodyPr/>
        <a:lstStyle/>
        <a:p>
          <a:endParaRPr lang="en-AU" sz="1200"/>
        </a:p>
      </dgm:t>
    </dgm:pt>
    <dgm:pt modelId="{8E514F06-D5F6-4144-AE6F-C7D5075F4BC0}" type="sibTrans" cxnId="{E99FDD0D-99AA-479C-9F38-6ED5B927CE48}">
      <dgm:prSet/>
      <dgm:spPr/>
      <dgm:t>
        <a:bodyPr/>
        <a:lstStyle/>
        <a:p>
          <a:endParaRPr lang="en-AU" sz="1200"/>
        </a:p>
      </dgm:t>
    </dgm:pt>
    <dgm:pt modelId="{5D659DC0-2840-44FB-ACB8-F3F81D121D88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2. Portfolio Objectives</a:t>
          </a:r>
        </a:p>
      </dgm:t>
    </dgm:pt>
    <dgm:pt modelId="{9B8C4C53-DBE7-405C-866A-F0FE78195780}" type="parTrans" cxnId="{F647C768-BF6D-4053-997D-682D263A87EE}">
      <dgm:prSet/>
      <dgm:spPr/>
      <dgm:t>
        <a:bodyPr/>
        <a:lstStyle/>
        <a:p>
          <a:endParaRPr lang="en-AU" sz="1200"/>
        </a:p>
      </dgm:t>
    </dgm:pt>
    <dgm:pt modelId="{AABB2831-2C73-400C-91F0-C4AA7DEF7BAC}" type="sibTrans" cxnId="{F647C768-BF6D-4053-997D-682D263A87EE}">
      <dgm:prSet/>
      <dgm:spPr/>
      <dgm:t>
        <a:bodyPr/>
        <a:lstStyle/>
        <a:p>
          <a:endParaRPr lang="en-AU" sz="1200"/>
        </a:p>
      </dgm:t>
    </dgm:pt>
    <dgm:pt modelId="{B2F1A852-BB71-4CAF-9FCE-F0CE411BFE1C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3. Stress Test and Optimise</a:t>
          </a:r>
        </a:p>
      </dgm:t>
    </dgm:pt>
    <dgm:pt modelId="{B6E98022-C293-4801-A70C-648CB3E55F10}" type="parTrans" cxnId="{DBAE73E5-D9DE-4EFB-8AC4-858A8AA45C8F}">
      <dgm:prSet/>
      <dgm:spPr/>
      <dgm:t>
        <a:bodyPr/>
        <a:lstStyle/>
        <a:p>
          <a:endParaRPr lang="en-AU" sz="1200"/>
        </a:p>
      </dgm:t>
    </dgm:pt>
    <dgm:pt modelId="{0BFB0821-2C59-4F46-B237-50EDEED4C162}" type="sibTrans" cxnId="{DBAE73E5-D9DE-4EFB-8AC4-858A8AA45C8F}">
      <dgm:prSet/>
      <dgm:spPr/>
      <dgm:t>
        <a:bodyPr/>
        <a:lstStyle/>
        <a:p>
          <a:endParaRPr lang="en-AU" sz="1200"/>
        </a:p>
      </dgm:t>
    </dgm:pt>
    <dgm:pt modelId="{CC0D0199-3702-4A90-AAEF-09BA62E6403A}">
      <dgm:prSet phldrT="[Text]" custT="1"/>
      <dgm:spPr>
        <a:solidFill>
          <a:schemeClr val="bg2"/>
        </a:solidFill>
      </dgm:spPr>
      <dgm:t>
        <a:bodyPr/>
        <a:lstStyle/>
        <a:p>
          <a:r>
            <a:rPr lang="en-AU" sz="1200"/>
            <a:t>4. Build Sector Portfolios</a:t>
          </a:r>
        </a:p>
      </dgm:t>
    </dgm:pt>
    <dgm:pt modelId="{109EA025-8AAF-470E-94D2-82081D296A70}" type="parTrans" cxnId="{3D6828F3-212A-43C5-8E5F-EDD9E64E0031}">
      <dgm:prSet/>
      <dgm:spPr/>
      <dgm:t>
        <a:bodyPr/>
        <a:lstStyle/>
        <a:p>
          <a:endParaRPr lang="en-AU" sz="1200"/>
        </a:p>
      </dgm:t>
    </dgm:pt>
    <dgm:pt modelId="{6F5D5C6A-C882-4D9C-ACAD-1A7D02B2B2CA}" type="sibTrans" cxnId="{3D6828F3-212A-43C5-8E5F-EDD9E64E0031}">
      <dgm:prSet/>
      <dgm:spPr/>
      <dgm:t>
        <a:bodyPr/>
        <a:lstStyle/>
        <a:p>
          <a:endParaRPr lang="en-AU" sz="1200"/>
        </a:p>
      </dgm:t>
    </dgm:pt>
    <dgm:pt modelId="{628FD705-3BB6-4E33-8AA8-649B809C1528}">
      <dgm:prSet phldrT="[Text]" custT="1"/>
      <dgm:spPr>
        <a:solidFill>
          <a:schemeClr val="bg2"/>
        </a:solidFill>
      </dgm:spPr>
      <dgm:t>
        <a:bodyPr/>
        <a:lstStyle/>
        <a:p>
          <a:pPr algn="ctr"/>
          <a:r>
            <a:rPr lang="en-AU" sz="1200"/>
            <a:t>5. Bottom-up risk analysis</a:t>
          </a:r>
        </a:p>
      </dgm:t>
    </dgm:pt>
    <dgm:pt modelId="{6D9490DF-4CC4-467A-B6D0-A0BE1928E2C9}" type="parTrans" cxnId="{D9645AAC-CA0D-4F1B-8D11-5357B57672F3}">
      <dgm:prSet/>
      <dgm:spPr/>
      <dgm:t>
        <a:bodyPr/>
        <a:lstStyle/>
        <a:p>
          <a:endParaRPr lang="en-AU" sz="1200"/>
        </a:p>
      </dgm:t>
    </dgm:pt>
    <dgm:pt modelId="{B95D2551-6910-4098-AE54-E1C1EAE981E2}" type="sibTrans" cxnId="{D9645AAC-CA0D-4F1B-8D11-5357B57672F3}">
      <dgm:prSet/>
      <dgm:spPr>
        <a:ln>
          <a:solidFill>
            <a:srgbClr val="3D555E"/>
          </a:solidFill>
        </a:ln>
      </dgm:spPr>
      <dgm:t>
        <a:bodyPr/>
        <a:lstStyle/>
        <a:p>
          <a:endParaRPr lang="en-AU" sz="1200"/>
        </a:p>
      </dgm:t>
    </dgm:pt>
    <dgm:pt modelId="{ACC78C4C-B4F2-4C9E-8C9F-AAB18BA25EB7}">
      <dgm:prSet custT="1"/>
      <dgm:spPr>
        <a:solidFill>
          <a:schemeClr val="accent5"/>
        </a:solidFill>
      </dgm:spPr>
      <dgm:t>
        <a:bodyPr/>
        <a:lstStyle/>
        <a:p>
          <a:r>
            <a:rPr lang="en-AU" sz="1200"/>
            <a:t>7. Monitor</a:t>
          </a:r>
        </a:p>
      </dgm:t>
    </dgm:pt>
    <dgm:pt modelId="{55401761-6097-4FA7-9024-1A616E122252}" type="parTrans" cxnId="{A7CEFE50-F26A-4044-8D67-672D610C2E1E}">
      <dgm:prSet/>
      <dgm:spPr/>
      <dgm:t>
        <a:bodyPr/>
        <a:lstStyle/>
        <a:p>
          <a:endParaRPr lang="en-AU" sz="1200"/>
        </a:p>
      </dgm:t>
    </dgm:pt>
    <dgm:pt modelId="{08216E1C-FDFD-4063-921E-648C12ACA347}" type="sibTrans" cxnId="{A7CEFE50-F26A-4044-8D67-672D610C2E1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AU" sz="1200"/>
        </a:p>
      </dgm:t>
    </dgm:pt>
    <dgm:pt modelId="{EB296364-B3B7-4B78-B6BD-F06D2A0E2A77}">
      <dgm:prSet custT="1"/>
      <dgm:spPr>
        <a:solidFill>
          <a:srgbClr val="78A99D"/>
        </a:solidFill>
      </dgm:spPr>
      <dgm:t>
        <a:bodyPr/>
        <a:lstStyle/>
        <a:p>
          <a:r>
            <a:rPr lang="en-AU" sz="1200"/>
            <a:t>6. Refine</a:t>
          </a:r>
        </a:p>
      </dgm:t>
    </dgm:pt>
    <dgm:pt modelId="{DE57795D-C4DD-4B22-BA3B-647126CD97EA}" type="parTrans" cxnId="{D0B27A47-52AE-4913-BEDC-F52D7DC4AF9D}">
      <dgm:prSet/>
      <dgm:spPr/>
      <dgm:t>
        <a:bodyPr/>
        <a:lstStyle/>
        <a:p>
          <a:endParaRPr lang="en-AU" sz="1200"/>
        </a:p>
      </dgm:t>
    </dgm:pt>
    <dgm:pt modelId="{379CBE8F-81CC-4EFD-A510-024EB52C558E}" type="sibTrans" cxnId="{D0B27A47-52AE-4913-BEDC-F52D7DC4AF9D}">
      <dgm:prSet/>
      <dgm:spPr/>
      <dgm:t>
        <a:bodyPr/>
        <a:lstStyle/>
        <a:p>
          <a:endParaRPr lang="en-AU" sz="1200"/>
        </a:p>
      </dgm:t>
    </dgm:pt>
    <dgm:pt modelId="{7BC285B8-4953-46B0-B4AF-86A433B49359}" type="pres">
      <dgm:prSet presAssocID="{5223B178-8CFB-4560-A7DA-8B4FB15D3334}" presName="cycle" presStyleCnt="0">
        <dgm:presLayoutVars>
          <dgm:dir/>
          <dgm:resizeHandles val="exact"/>
        </dgm:presLayoutVars>
      </dgm:prSet>
      <dgm:spPr/>
    </dgm:pt>
    <dgm:pt modelId="{7499D5ED-4986-4DFF-BCF8-06BD4EE96BE0}" type="pres">
      <dgm:prSet presAssocID="{24F31CB4-2BB9-49E6-8AA9-93198DFC50E1}" presName="node" presStyleLbl="node1" presStyleIdx="0" presStyleCnt="7" custScaleX="150602" custRadScaleRad="100136" custRadScaleInc="2785">
        <dgm:presLayoutVars>
          <dgm:bulletEnabled val="1"/>
        </dgm:presLayoutVars>
      </dgm:prSet>
      <dgm:spPr/>
    </dgm:pt>
    <dgm:pt modelId="{09D4E4F1-1C4D-474B-A7DD-6A88472C99DA}" type="pres">
      <dgm:prSet presAssocID="{24F31CB4-2BB9-49E6-8AA9-93198DFC50E1}" presName="spNode" presStyleCnt="0"/>
      <dgm:spPr/>
    </dgm:pt>
    <dgm:pt modelId="{41E875C4-FE0F-4A00-BD55-1E86F05E7823}" type="pres">
      <dgm:prSet presAssocID="{8E514F06-D5F6-4144-AE6F-C7D5075F4BC0}" presName="sibTrans" presStyleLbl="sibTrans1D1" presStyleIdx="0" presStyleCnt="7"/>
      <dgm:spPr/>
    </dgm:pt>
    <dgm:pt modelId="{6EB0E9F9-081F-44D5-B29E-588BC86C347E}" type="pres">
      <dgm:prSet presAssocID="{5D659DC0-2840-44FB-ACB8-F3F81D121D88}" presName="node" presStyleLbl="node1" presStyleIdx="1" presStyleCnt="7" custScaleX="156176" custRadScaleRad="111569" custRadScaleInc="44586">
        <dgm:presLayoutVars>
          <dgm:bulletEnabled val="1"/>
        </dgm:presLayoutVars>
      </dgm:prSet>
      <dgm:spPr/>
    </dgm:pt>
    <dgm:pt modelId="{D62A2D54-7265-45C4-AC68-F547F9BED7C1}" type="pres">
      <dgm:prSet presAssocID="{5D659DC0-2840-44FB-ACB8-F3F81D121D88}" presName="spNode" presStyleCnt="0"/>
      <dgm:spPr/>
    </dgm:pt>
    <dgm:pt modelId="{DA6D0E5F-B31C-4CCE-BF48-2C06D9180D7D}" type="pres">
      <dgm:prSet presAssocID="{AABB2831-2C73-400C-91F0-C4AA7DEF7BAC}" presName="sibTrans" presStyleLbl="sibTrans1D1" presStyleIdx="1" presStyleCnt="7"/>
      <dgm:spPr/>
    </dgm:pt>
    <dgm:pt modelId="{4C72FB03-591D-46B8-987A-D2B74AF65811}" type="pres">
      <dgm:prSet presAssocID="{B2F1A852-BB71-4CAF-9FCE-F0CE411BFE1C}" presName="node" presStyleLbl="node1" presStyleIdx="2" presStyleCnt="7" custScaleX="155986" custRadScaleRad="111026" custRadScaleInc="-33241">
        <dgm:presLayoutVars>
          <dgm:bulletEnabled val="1"/>
        </dgm:presLayoutVars>
      </dgm:prSet>
      <dgm:spPr/>
    </dgm:pt>
    <dgm:pt modelId="{011F894F-9054-4D4F-94B0-F8425096B747}" type="pres">
      <dgm:prSet presAssocID="{B2F1A852-BB71-4CAF-9FCE-F0CE411BFE1C}" presName="spNode" presStyleCnt="0"/>
      <dgm:spPr/>
    </dgm:pt>
    <dgm:pt modelId="{C5F32DFF-D1B0-4293-B00D-E3E7EC6C17D3}" type="pres">
      <dgm:prSet presAssocID="{0BFB0821-2C59-4F46-B237-50EDEED4C162}" presName="sibTrans" presStyleLbl="sibTrans1D1" presStyleIdx="2" presStyleCnt="7"/>
      <dgm:spPr/>
    </dgm:pt>
    <dgm:pt modelId="{BDD2DDF9-237A-4C22-914E-58CB84A379E8}" type="pres">
      <dgm:prSet presAssocID="{CC0D0199-3702-4A90-AAEF-09BA62E6403A}" presName="node" presStyleLbl="node1" presStyleIdx="3" presStyleCnt="7" custScaleX="159397" custRadScaleRad="101891" custRadScaleInc="-67586">
        <dgm:presLayoutVars>
          <dgm:bulletEnabled val="1"/>
        </dgm:presLayoutVars>
      </dgm:prSet>
      <dgm:spPr/>
    </dgm:pt>
    <dgm:pt modelId="{29C2AEE6-7C57-4722-BA1F-33B4F8CE7A21}" type="pres">
      <dgm:prSet presAssocID="{CC0D0199-3702-4A90-AAEF-09BA62E6403A}" presName="spNode" presStyleCnt="0"/>
      <dgm:spPr/>
    </dgm:pt>
    <dgm:pt modelId="{9E306667-702C-4FC8-AC15-C000FB8AFB6A}" type="pres">
      <dgm:prSet presAssocID="{6F5D5C6A-C882-4D9C-ACAD-1A7D02B2B2CA}" presName="sibTrans" presStyleLbl="sibTrans1D1" presStyleIdx="3" presStyleCnt="7"/>
      <dgm:spPr/>
    </dgm:pt>
    <dgm:pt modelId="{FC9CB1D9-B68F-4B0B-8E42-C8358F1BEC70}" type="pres">
      <dgm:prSet presAssocID="{628FD705-3BB6-4E33-8AA8-649B809C1528}" presName="node" presStyleLbl="node1" presStyleIdx="4" presStyleCnt="7" custScaleX="147531" custRadScaleRad="99903" custRadScaleInc="58702">
        <dgm:presLayoutVars>
          <dgm:bulletEnabled val="1"/>
        </dgm:presLayoutVars>
      </dgm:prSet>
      <dgm:spPr/>
    </dgm:pt>
    <dgm:pt modelId="{5D220864-70B9-497B-85B2-6D3759B53D03}" type="pres">
      <dgm:prSet presAssocID="{628FD705-3BB6-4E33-8AA8-649B809C1528}" presName="spNode" presStyleCnt="0"/>
      <dgm:spPr/>
    </dgm:pt>
    <dgm:pt modelId="{5C3361FE-477F-4973-80CB-4C3ACF7F6BE0}" type="pres">
      <dgm:prSet presAssocID="{B95D2551-6910-4098-AE54-E1C1EAE981E2}" presName="sibTrans" presStyleLbl="sibTrans1D1" presStyleIdx="4" presStyleCnt="7"/>
      <dgm:spPr/>
    </dgm:pt>
    <dgm:pt modelId="{481C02FE-3D0E-47F5-B86E-44A83BECDDCE}" type="pres">
      <dgm:prSet presAssocID="{EB296364-B3B7-4B78-B6BD-F06D2A0E2A77}" presName="node" presStyleLbl="node1" presStyleIdx="5" presStyleCnt="7" custScaleX="180497" custRadScaleRad="104617" custRadScaleInc="33125">
        <dgm:presLayoutVars>
          <dgm:bulletEnabled val="1"/>
        </dgm:presLayoutVars>
      </dgm:prSet>
      <dgm:spPr/>
    </dgm:pt>
    <dgm:pt modelId="{58BFBA07-03A2-44BD-A071-082B5539047C}" type="pres">
      <dgm:prSet presAssocID="{EB296364-B3B7-4B78-B6BD-F06D2A0E2A77}" presName="spNode" presStyleCnt="0"/>
      <dgm:spPr/>
    </dgm:pt>
    <dgm:pt modelId="{08143117-5653-4A6A-94C3-ECE5DFCDEDC3}" type="pres">
      <dgm:prSet presAssocID="{379CBE8F-81CC-4EFD-A510-024EB52C558E}" presName="sibTrans" presStyleLbl="sibTrans1D1" presStyleIdx="5" presStyleCnt="7"/>
      <dgm:spPr/>
    </dgm:pt>
    <dgm:pt modelId="{5963E2B0-D5A1-4565-92A8-D2C34B0EE4E4}" type="pres">
      <dgm:prSet presAssocID="{ACC78C4C-B4F2-4C9E-8C9F-AAB18BA25EB7}" presName="node" presStyleLbl="node1" presStyleIdx="6" presStyleCnt="7" custScaleX="178244" custRadScaleRad="110937" custRadScaleInc="-49285">
        <dgm:presLayoutVars>
          <dgm:bulletEnabled val="1"/>
        </dgm:presLayoutVars>
      </dgm:prSet>
      <dgm:spPr/>
    </dgm:pt>
    <dgm:pt modelId="{51622731-E740-4EAF-B682-13351F1D635C}" type="pres">
      <dgm:prSet presAssocID="{ACC78C4C-B4F2-4C9E-8C9F-AAB18BA25EB7}" presName="spNode" presStyleCnt="0"/>
      <dgm:spPr/>
    </dgm:pt>
    <dgm:pt modelId="{BFDDC2E6-03D7-4A74-8F34-2B6D18086AC4}" type="pres">
      <dgm:prSet presAssocID="{08216E1C-FDFD-4063-921E-648C12ACA347}" presName="sibTrans" presStyleLbl="sibTrans1D1" presStyleIdx="6" presStyleCnt="7"/>
      <dgm:spPr/>
    </dgm:pt>
  </dgm:ptLst>
  <dgm:cxnLst>
    <dgm:cxn modelId="{C21E5201-48B8-4F3A-93E8-8A9D2C929D83}" type="presOf" srcId="{5D659DC0-2840-44FB-ACB8-F3F81D121D88}" destId="{6EB0E9F9-081F-44D5-B29E-588BC86C347E}" srcOrd="0" destOrd="0" presId="urn:microsoft.com/office/officeart/2005/8/layout/cycle5"/>
    <dgm:cxn modelId="{E0854908-1656-41FF-B68E-473761612F52}" type="presOf" srcId="{EB296364-B3B7-4B78-B6BD-F06D2A0E2A77}" destId="{481C02FE-3D0E-47F5-B86E-44A83BECDDCE}" srcOrd="0" destOrd="0" presId="urn:microsoft.com/office/officeart/2005/8/layout/cycle5"/>
    <dgm:cxn modelId="{E99FDD0D-99AA-479C-9F38-6ED5B927CE48}" srcId="{5223B178-8CFB-4560-A7DA-8B4FB15D3334}" destId="{24F31CB4-2BB9-49E6-8AA9-93198DFC50E1}" srcOrd="0" destOrd="0" parTransId="{8DB5A4D8-5117-43C3-94B4-A02168352966}" sibTransId="{8E514F06-D5F6-4144-AE6F-C7D5075F4BC0}"/>
    <dgm:cxn modelId="{F573F524-1961-43D7-85F8-A209FFB3EFFB}" type="presOf" srcId="{AABB2831-2C73-400C-91F0-C4AA7DEF7BAC}" destId="{DA6D0E5F-B31C-4CCE-BF48-2C06D9180D7D}" srcOrd="0" destOrd="0" presId="urn:microsoft.com/office/officeart/2005/8/layout/cycle5"/>
    <dgm:cxn modelId="{E4838940-1FFF-490A-ABAB-FABA83B44C98}" type="presOf" srcId="{B2F1A852-BB71-4CAF-9FCE-F0CE411BFE1C}" destId="{4C72FB03-591D-46B8-987A-D2B74AF65811}" srcOrd="0" destOrd="0" presId="urn:microsoft.com/office/officeart/2005/8/layout/cycle5"/>
    <dgm:cxn modelId="{2AB4AB5B-110F-4D26-BAD3-AEEB70EECA80}" type="presOf" srcId="{CC0D0199-3702-4A90-AAEF-09BA62E6403A}" destId="{BDD2DDF9-237A-4C22-914E-58CB84A379E8}" srcOrd="0" destOrd="0" presId="urn:microsoft.com/office/officeart/2005/8/layout/cycle5"/>
    <dgm:cxn modelId="{D0B27A47-52AE-4913-BEDC-F52D7DC4AF9D}" srcId="{5223B178-8CFB-4560-A7DA-8B4FB15D3334}" destId="{EB296364-B3B7-4B78-B6BD-F06D2A0E2A77}" srcOrd="5" destOrd="0" parTransId="{DE57795D-C4DD-4B22-BA3B-647126CD97EA}" sibTransId="{379CBE8F-81CC-4EFD-A510-024EB52C558E}"/>
    <dgm:cxn modelId="{F647C768-BF6D-4053-997D-682D263A87EE}" srcId="{5223B178-8CFB-4560-A7DA-8B4FB15D3334}" destId="{5D659DC0-2840-44FB-ACB8-F3F81D121D88}" srcOrd="1" destOrd="0" parTransId="{9B8C4C53-DBE7-405C-866A-F0FE78195780}" sibTransId="{AABB2831-2C73-400C-91F0-C4AA7DEF7BAC}"/>
    <dgm:cxn modelId="{A7CEFE50-F26A-4044-8D67-672D610C2E1E}" srcId="{5223B178-8CFB-4560-A7DA-8B4FB15D3334}" destId="{ACC78C4C-B4F2-4C9E-8C9F-AAB18BA25EB7}" srcOrd="6" destOrd="0" parTransId="{55401761-6097-4FA7-9024-1A616E122252}" sibTransId="{08216E1C-FDFD-4063-921E-648C12ACA347}"/>
    <dgm:cxn modelId="{F556C577-0D5C-4366-AD57-B8B947A4104D}" type="presOf" srcId="{B95D2551-6910-4098-AE54-E1C1EAE981E2}" destId="{5C3361FE-477F-4973-80CB-4C3ACF7F6BE0}" srcOrd="0" destOrd="0" presId="urn:microsoft.com/office/officeart/2005/8/layout/cycle5"/>
    <dgm:cxn modelId="{BCCE7897-31E6-4D6F-A1E7-FB2323CFA07E}" type="presOf" srcId="{6F5D5C6A-C882-4D9C-ACAD-1A7D02B2B2CA}" destId="{9E306667-702C-4FC8-AC15-C000FB8AFB6A}" srcOrd="0" destOrd="0" presId="urn:microsoft.com/office/officeart/2005/8/layout/cycle5"/>
    <dgm:cxn modelId="{D9645AAC-CA0D-4F1B-8D11-5357B57672F3}" srcId="{5223B178-8CFB-4560-A7DA-8B4FB15D3334}" destId="{628FD705-3BB6-4E33-8AA8-649B809C1528}" srcOrd="4" destOrd="0" parTransId="{6D9490DF-4CC4-467A-B6D0-A0BE1928E2C9}" sibTransId="{B95D2551-6910-4098-AE54-E1C1EAE981E2}"/>
    <dgm:cxn modelId="{E1DB27AE-829D-4404-80A8-5094CD492394}" type="presOf" srcId="{ACC78C4C-B4F2-4C9E-8C9F-AAB18BA25EB7}" destId="{5963E2B0-D5A1-4565-92A8-D2C34B0EE4E4}" srcOrd="0" destOrd="0" presId="urn:microsoft.com/office/officeart/2005/8/layout/cycle5"/>
    <dgm:cxn modelId="{D990B5B5-4BF8-418C-AAB1-F1EF3267F836}" type="presOf" srcId="{08216E1C-FDFD-4063-921E-648C12ACA347}" destId="{BFDDC2E6-03D7-4A74-8F34-2B6D18086AC4}" srcOrd="0" destOrd="0" presId="urn:microsoft.com/office/officeart/2005/8/layout/cycle5"/>
    <dgm:cxn modelId="{0E4197CA-7272-40B3-871E-3E457756437F}" type="presOf" srcId="{0BFB0821-2C59-4F46-B237-50EDEED4C162}" destId="{C5F32DFF-D1B0-4293-B00D-E3E7EC6C17D3}" srcOrd="0" destOrd="0" presId="urn:microsoft.com/office/officeart/2005/8/layout/cycle5"/>
    <dgm:cxn modelId="{634F6CDC-42F9-4DE0-9743-8F53BB6EB3C3}" type="presOf" srcId="{628FD705-3BB6-4E33-8AA8-649B809C1528}" destId="{FC9CB1D9-B68F-4B0B-8E42-C8358F1BEC70}" srcOrd="0" destOrd="0" presId="urn:microsoft.com/office/officeart/2005/8/layout/cycle5"/>
    <dgm:cxn modelId="{DBAE73E5-D9DE-4EFB-8AC4-858A8AA45C8F}" srcId="{5223B178-8CFB-4560-A7DA-8B4FB15D3334}" destId="{B2F1A852-BB71-4CAF-9FCE-F0CE411BFE1C}" srcOrd="2" destOrd="0" parTransId="{B6E98022-C293-4801-A70C-648CB3E55F10}" sibTransId="{0BFB0821-2C59-4F46-B237-50EDEED4C162}"/>
    <dgm:cxn modelId="{274F71E6-A199-44D8-A85A-00B66E8DD01A}" type="presOf" srcId="{24F31CB4-2BB9-49E6-8AA9-93198DFC50E1}" destId="{7499D5ED-4986-4DFF-BCF8-06BD4EE96BE0}" srcOrd="0" destOrd="0" presId="urn:microsoft.com/office/officeart/2005/8/layout/cycle5"/>
    <dgm:cxn modelId="{4A71DFE7-B3E9-4736-A09B-746C1C944C5A}" type="presOf" srcId="{5223B178-8CFB-4560-A7DA-8B4FB15D3334}" destId="{7BC285B8-4953-46B0-B4AF-86A433B49359}" srcOrd="0" destOrd="0" presId="urn:microsoft.com/office/officeart/2005/8/layout/cycle5"/>
    <dgm:cxn modelId="{8A1E3AEC-894D-4020-A978-41E646AC3276}" type="presOf" srcId="{379CBE8F-81CC-4EFD-A510-024EB52C558E}" destId="{08143117-5653-4A6A-94C3-ECE5DFCDEDC3}" srcOrd="0" destOrd="0" presId="urn:microsoft.com/office/officeart/2005/8/layout/cycle5"/>
    <dgm:cxn modelId="{C78AE0EE-7486-4A99-A7D8-23A26E48426E}" type="presOf" srcId="{8E514F06-D5F6-4144-AE6F-C7D5075F4BC0}" destId="{41E875C4-FE0F-4A00-BD55-1E86F05E7823}" srcOrd="0" destOrd="0" presId="urn:microsoft.com/office/officeart/2005/8/layout/cycle5"/>
    <dgm:cxn modelId="{3D6828F3-212A-43C5-8E5F-EDD9E64E0031}" srcId="{5223B178-8CFB-4560-A7DA-8B4FB15D3334}" destId="{CC0D0199-3702-4A90-AAEF-09BA62E6403A}" srcOrd="3" destOrd="0" parTransId="{109EA025-8AAF-470E-94D2-82081D296A70}" sibTransId="{6F5D5C6A-C882-4D9C-ACAD-1A7D02B2B2CA}"/>
    <dgm:cxn modelId="{6108F631-D1E0-47CB-ABE3-C1B74DCFF2AE}" type="presParOf" srcId="{7BC285B8-4953-46B0-B4AF-86A433B49359}" destId="{7499D5ED-4986-4DFF-BCF8-06BD4EE96BE0}" srcOrd="0" destOrd="0" presId="urn:microsoft.com/office/officeart/2005/8/layout/cycle5"/>
    <dgm:cxn modelId="{5C3EE449-1EB5-46AD-9BF5-FB121352381F}" type="presParOf" srcId="{7BC285B8-4953-46B0-B4AF-86A433B49359}" destId="{09D4E4F1-1C4D-474B-A7DD-6A88472C99DA}" srcOrd="1" destOrd="0" presId="urn:microsoft.com/office/officeart/2005/8/layout/cycle5"/>
    <dgm:cxn modelId="{60D946F2-E993-4995-AC1A-DB5201F4BAA8}" type="presParOf" srcId="{7BC285B8-4953-46B0-B4AF-86A433B49359}" destId="{41E875C4-FE0F-4A00-BD55-1E86F05E7823}" srcOrd="2" destOrd="0" presId="urn:microsoft.com/office/officeart/2005/8/layout/cycle5"/>
    <dgm:cxn modelId="{1E9157B7-C289-438E-87CD-F77D4ED2A65B}" type="presParOf" srcId="{7BC285B8-4953-46B0-B4AF-86A433B49359}" destId="{6EB0E9F9-081F-44D5-B29E-588BC86C347E}" srcOrd="3" destOrd="0" presId="urn:microsoft.com/office/officeart/2005/8/layout/cycle5"/>
    <dgm:cxn modelId="{5F7717B7-A49C-456E-ACC5-CB65A8370E72}" type="presParOf" srcId="{7BC285B8-4953-46B0-B4AF-86A433B49359}" destId="{D62A2D54-7265-45C4-AC68-F547F9BED7C1}" srcOrd="4" destOrd="0" presId="urn:microsoft.com/office/officeart/2005/8/layout/cycle5"/>
    <dgm:cxn modelId="{135A6C89-50E8-4CB2-92DB-FCEE0D0B48A9}" type="presParOf" srcId="{7BC285B8-4953-46B0-B4AF-86A433B49359}" destId="{DA6D0E5F-B31C-4CCE-BF48-2C06D9180D7D}" srcOrd="5" destOrd="0" presId="urn:microsoft.com/office/officeart/2005/8/layout/cycle5"/>
    <dgm:cxn modelId="{E9C26B35-D833-4BDF-BABC-4213474ACC2B}" type="presParOf" srcId="{7BC285B8-4953-46B0-B4AF-86A433B49359}" destId="{4C72FB03-591D-46B8-987A-D2B74AF65811}" srcOrd="6" destOrd="0" presId="urn:microsoft.com/office/officeart/2005/8/layout/cycle5"/>
    <dgm:cxn modelId="{C08D4734-CD96-4907-954A-E49362F2C447}" type="presParOf" srcId="{7BC285B8-4953-46B0-B4AF-86A433B49359}" destId="{011F894F-9054-4D4F-94B0-F8425096B747}" srcOrd="7" destOrd="0" presId="urn:microsoft.com/office/officeart/2005/8/layout/cycle5"/>
    <dgm:cxn modelId="{DA874767-974B-4945-9B89-F2F6174461FD}" type="presParOf" srcId="{7BC285B8-4953-46B0-B4AF-86A433B49359}" destId="{C5F32DFF-D1B0-4293-B00D-E3E7EC6C17D3}" srcOrd="8" destOrd="0" presId="urn:microsoft.com/office/officeart/2005/8/layout/cycle5"/>
    <dgm:cxn modelId="{81653E46-A360-4A79-8C26-2432CF805F9D}" type="presParOf" srcId="{7BC285B8-4953-46B0-B4AF-86A433B49359}" destId="{BDD2DDF9-237A-4C22-914E-58CB84A379E8}" srcOrd="9" destOrd="0" presId="urn:microsoft.com/office/officeart/2005/8/layout/cycle5"/>
    <dgm:cxn modelId="{4A97520A-5C61-4CF3-879E-D8606904A316}" type="presParOf" srcId="{7BC285B8-4953-46B0-B4AF-86A433B49359}" destId="{29C2AEE6-7C57-4722-BA1F-33B4F8CE7A21}" srcOrd="10" destOrd="0" presId="urn:microsoft.com/office/officeart/2005/8/layout/cycle5"/>
    <dgm:cxn modelId="{2148A6B0-6186-4B15-9013-23941F5EE5E6}" type="presParOf" srcId="{7BC285B8-4953-46B0-B4AF-86A433B49359}" destId="{9E306667-702C-4FC8-AC15-C000FB8AFB6A}" srcOrd="11" destOrd="0" presId="urn:microsoft.com/office/officeart/2005/8/layout/cycle5"/>
    <dgm:cxn modelId="{46A912B5-10CF-4456-BB99-20F14EAA7822}" type="presParOf" srcId="{7BC285B8-4953-46B0-B4AF-86A433B49359}" destId="{FC9CB1D9-B68F-4B0B-8E42-C8358F1BEC70}" srcOrd="12" destOrd="0" presId="urn:microsoft.com/office/officeart/2005/8/layout/cycle5"/>
    <dgm:cxn modelId="{77DE8B0F-3E63-4534-AE45-D71B8A660688}" type="presParOf" srcId="{7BC285B8-4953-46B0-B4AF-86A433B49359}" destId="{5D220864-70B9-497B-85B2-6D3759B53D03}" srcOrd="13" destOrd="0" presId="urn:microsoft.com/office/officeart/2005/8/layout/cycle5"/>
    <dgm:cxn modelId="{EAD1B40F-8BD9-47EF-802A-9AAA0F6F2F00}" type="presParOf" srcId="{7BC285B8-4953-46B0-B4AF-86A433B49359}" destId="{5C3361FE-477F-4973-80CB-4C3ACF7F6BE0}" srcOrd="14" destOrd="0" presId="urn:microsoft.com/office/officeart/2005/8/layout/cycle5"/>
    <dgm:cxn modelId="{FEFE798E-2CB4-478D-953A-58D59235187B}" type="presParOf" srcId="{7BC285B8-4953-46B0-B4AF-86A433B49359}" destId="{481C02FE-3D0E-47F5-B86E-44A83BECDDCE}" srcOrd="15" destOrd="0" presId="urn:microsoft.com/office/officeart/2005/8/layout/cycle5"/>
    <dgm:cxn modelId="{D23654AC-CA2F-4452-8C24-03EBF243110A}" type="presParOf" srcId="{7BC285B8-4953-46B0-B4AF-86A433B49359}" destId="{58BFBA07-03A2-44BD-A071-082B5539047C}" srcOrd="16" destOrd="0" presId="urn:microsoft.com/office/officeart/2005/8/layout/cycle5"/>
    <dgm:cxn modelId="{6E7252DB-576E-4B5B-9B06-BE897118A688}" type="presParOf" srcId="{7BC285B8-4953-46B0-B4AF-86A433B49359}" destId="{08143117-5653-4A6A-94C3-ECE5DFCDEDC3}" srcOrd="17" destOrd="0" presId="urn:microsoft.com/office/officeart/2005/8/layout/cycle5"/>
    <dgm:cxn modelId="{210070C9-8F5D-41FA-9CAC-4D553D817BB5}" type="presParOf" srcId="{7BC285B8-4953-46B0-B4AF-86A433B49359}" destId="{5963E2B0-D5A1-4565-92A8-D2C34B0EE4E4}" srcOrd="18" destOrd="0" presId="urn:microsoft.com/office/officeart/2005/8/layout/cycle5"/>
    <dgm:cxn modelId="{27374591-96F3-4464-93B8-EF5BDF7F142E}" type="presParOf" srcId="{7BC285B8-4953-46B0-B4AF-86A433B49359}" destId="{51622731-E740-4EAF-B682-13351F1D635C}" srcOrd="19" destOrd="0" presId="urn:microsoft.com/office/officeart/2005/8/layout/cycle5"/>
    <dgm:cxn modelId="{BF60804F-683E-4A8B-B0BC-8C31BF99799D}" type="presParOf" srcId="{7BC285B8-4953-46B0-B4AF-86A433B49359}" destId="{BFDDC2E6-03D7-4A74-8F34-2B6D18086AC4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>
              <a:solidFill>
                <a:schemeClr val="tx1"/>
              </a:solidFill>
            </a:rPr>
            <a:t>Daily Market Updates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Monthly Indices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Tactical Asset Allocation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497F9FB7-C298-47BE-9978-3201A3B8F668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Strategic Asset Allocation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4FD6B281-73C7-479C-A544-5ACC4073C823}" type="parTrans" cxnId="{CD062717-32C7-41D9-832A-C3CE40758C5E}">
      <dgm:prSet/>
      <dgm:spPr/>
      <dgm:t>
        <a:bodyPr/>
        <a:lstStyle/>
        <a:p>
          <a:endParaRPr lang="en-AU"/>
        </a:p>
      </dgm:t>
    </dgm:pt>
    <dgm:pt modelId="{FCA20D1C-FE9D-45BF-BA4A-2E2D56E0D92E}" type="sibTrans" cxnId="{CD062717-32C7-41D9-832A-C3CE40758C5E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Daily emails that keep advisers informed on overnight market moves to support timely client conversations.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r>
            <a:rPr lang="en-US" sz="1200"/>
            <a:t>Tracks benchmark performance across regions and asset classes.</a:t>
          </a:r>
          <a:endParaRPr lang="en-AU" sz="120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pPr rtl="0"/>
          <a:r>
            <a:rPr lang="en-US" sz="1200"/>
            <a:t>Quarterly portfolio positioning based on a </a:t>
          </a:r>
          <a:r>
            <a:rPr lang="en-US" sz="1200">
              <a:latin typeface="Arial" panose="020B0604020202020204"/>
            </a:rPr>
            <a:t>12–18 month</a:t>
          </a:r>
          <a:r>
            <a:rPr lang="en-US" sz="1200"/>
            <a:t> forward-looking asset class view.</a:t>
          </a:r>
          <a:endParaRPr lang="en-AU" sz="120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8A16CE46-105C-4B01-BC80-55AC16F909BC}">
      <dgm:prSet phldrT="[Text]" custT="1"/>
      <dgm:spPr/>
      <dgm:t>
        <a:bodyPr/>
        <a:lstStyle/>
        <a:p>
          <a:r>
            <a:rPr lang="en-US" sz="1200" kern="1200" dirty="0"/>
            <a:t>10-year forecast of markets, using proprietary mean variance </a:t>
          </a:r>
          <a:r>
            <a:rPr lang="en-US" sz="1200" kern="1200" dirty="0" err="1"/>
            <a:t>optimisation</a:t>
          </a:r>
          <a:r>
            <a:rPr lang="en-US" sz="1200" kern="1200" dirty="0"/>
            <a:t> and stress testing model. </a:t>
          </a:r>
          <a:endParaRPr lang="en-AU" sz="1200" kern="1200" dirty="0"/>
        </a:p>
      </dgm:t>
    </dgm:pt>
    <dgm:pt modelId="{67D613A3-DCF9-44AA-8309-536B1EF0480B}" type="parTrans" cxnId="{804537EB-4180-4DAF-86BC-98D08FAB46B9}">
      <dgm:prSet/>
      <dgm:spPr/>
      <dgm:t>
        <a:bodyPr/>
        <a:lstStyle/>
        <a:p>
          <a:endParaRPr lang="en-AU"/>
        </a:p>
      </dgm:t>
    </dgm:pt>
    <dgm:pt modelId="{357E1C31-12AD-4A88-91A7-F73267DCCBC8}" type="sibTrans" cxnId="{804537EB-4180-4DAF-86BC-98D08FAB46B9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Monthly Market Updates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Digestible summary of key market themes to inform adviser commentary and strategy.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14C99207-F993-49B5-9ACD-088362957EF2}">
      <dgm:prSet phldrT="[Text]" custT="1"/>
      <dgm:spPr/>
      <dgm:t>
        <a:bodyPr/>
        <a:lstStyle/>
        <a:p>
          <a:r>
            <a:rPr lang="en-US" sz="1200"/>
            <a:t>Provides additional thematic insights into gaming, Bitcoin, and healthcare.</a:t>
          </a:r>
          <a:endParaRPr lang="en-AU" sz="1200"/>
        </a:p>
      </dgm:t>
    </dgm:pt>
    <dgm:pt modelId="{A853A192-D760-4329-86AC-63E434351960}" type="parTrans" cxnId="{B50DE6CD-6C3F-464A-A3BC-0E31C9EC9918}">
      <dgm:prSet/>
      <dgm:spPr/>
      <dgm:t>
        <a:bodyPr/>
        <a:lstStyle/>
        <a:p>
          <a:endParaRPr lang="en-AU"/>
        </a:p>
      </dgm:t>
    </dgm:pt>
    <dgm:pt modelId="{AB59C17E-B2AA-4DF6-9940-5A03BCCA06B3}" type="sibTrans" cxnId="{B50DE6CD-6C3F-464A-A3BC-0E31C9EC9918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5" custScaleX="100769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5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5" custScaleY="101143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5" custLinFactNeighborX="-23407" custLinFactNeighborY="-189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5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5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5">
        <dgm:presLayoutVars>
          <dgm:bulletEnabled val="1"/>
        </dgm:presLayoutVars>
      </dgm:prSet>
      <dgm:spPr/>
    </dgm:pt>
    <dgm:pt modelId="{D410B08B-CD8E-4239-B699-24916A4D9E40}" type="pres">
      <dgm:prSet presAssocID="{8F2E44D2-A6DC-40BC-BBF8-2FEFD1FDFA99}" presName="sp" presStyleCnt="0"/>
      <dgm:spPr/>
    </dgm:pt>
    <dgm:pt modelId="{2C258886-D1C6-44D4-8CB8-1368952F504F}" type="pres">
      <dgm:prSet presAssocID="{497F9FB7-C298-47BE-9978-3201A3B8F668}" presName="linNode" presStyleCnt="0"/>
      <dgm:spPr/>
    </dgm:pt>
    <dgm:pt modelId="{F572F5F6-6AF4-4EC1-8CD2-23FA228EBB88}" type="pres">
      <dgm:prSet presAssocID="{497F9FB7-C298-47BE-9978-3201A3B8F668}" presName="parentText" presStyleLbl="node1" presStyleIdx="4" presStyleCnt="5">
        <dgm:presLayoutVars>
          <dgm:chMax val="1"/>
          <dgm:bulletEnabled val="1"/>
        </dgm:presLayoutVars>
      </dgm:prSet>
      <dgm:spPr>
        <a:xfrm>
          <a:off x="0" y="2852254"/>
          <a:ext cx="4026239" cy="679007"/>
        </a:xfrm>
        <a:prstGeom prst="roundRect">
          <a:avLst/>
        </a:prstGeom>
      </dgm:spPr>
    </dgm:pt>
    <dgm:pt modelId="{41CCDF27-C149-4F37-BE23-2B304108C3C2}" type="pres">
      <dgm:prSet presAssocID="{497F9FB7-C298-47BE-9978-3201A3B8F668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CD062717-32C7-41D9-832A-C3CE40758C5E}" srcId="{3B2D9394-266F-4A46-9530-736575DAA20F}" destId="{497F9FB7-C298-47BE-9978-3201A3B8F668}" srcOrd="4" destOrd="0" parTransId="{4FD6B281-73C7-479C-A544-5ACC4073C823}" sibTransId="{FCA20D1C-FE9D-45BF-BA4A-2E2D56E0D92E}"/>
    <dgm:cxn modelId="{DD8E531E-EE05-436B-86FD-33922D837630}" type="presOf" srcId="{8A16CE46-105C-4B01-BC80-55AC16F909BC}" destId="{41CCDF27-C149-4F37-BE23-2B304108C3C2}" srcOrd="0" destOrd="0" presId="urn:microsoft.com/office/officeart/2005/8/layout/vList5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63F30E48-3F70-45E2-817A-2BE49C5071E0}" type="presOf" srcId="{497F9FB7-C298-47BE-9978-3201A3B8F668}" destId="{F572F5F6-6AF4-4EC1-8CD2-23FA228EBB88}" srcOrd="0" destOrd="0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B50DE6CD-6C3F-464A-A3BC-0E31C9EC9918}" srcId="{5708EEB3-DE51-433B-A60F-872B7852BCD2}" destId="{14C99207-F993-49B5-9ACD-088362957EF2}" srcOrd="1" destOrd="0" parTransId="{A853A192-D760-4329-86AC-63E434351960}" sibTransId="{AB59C17E-B2AA-4DF6-9940-5A03BCCA06B3}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804537EB-4180-4DAF-86BC-98D08FAB46B9}" srcId="{497F9FB7-C298-47BE-9978-3201A3B8F668}" destId="{8A16CE46-105C-4B01-BC80-55AC16F909BC}" srcOrd="0" destOrd="0" parTransId="{67D613A3-DCF9-44AA-8309-536B1EF0480B}" sibTransId="{357E1C31-12AD-4A88-91A7-F73267DCCBC8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B4B75DF5-CDB7-4845-9D92-9E0B3100234F}" type="presOf" srcId="{14C99207-F993-49B5-9ACD-088362957EF2}" destId="{4302BC3C-57DB-47DE-97B3-A55EA511B4CF}" srcOrd="0" destOrd="1" presId="urn:microsoft.com/office/officeart/2005/8/layout/vList5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  <dgm:cxn modelId="{C3BEF517-D642-46E0-A9E3-72CBF80424A2}" type="presParOf" srcId="{DB7A467F-BFDC-49C3-8BE0-C61C7DFA4AEA}" destId="{D410B08B-CD8E-4239-B699-24916A4D9E40}" srcOrd="7" destOrd="0" presId="urn:microsoft.com/office/officeart/2005/8/layout/vList5"/>
    <dgm:cxn modelId="{63523FB1-AD71-4C1C-BE6F-5A6C00A5B936}" type="presParOf" srcId="{DB7A467F-BFDC-49C3-8BE0-C61C7DFA4AEA}" destId="{2C258886-D1C6-44D4-8CB8-1368952F504F}" srcOrd="8" destOrd="0" presId="urn:microsoft.com/office/officeart/2005/8/layout/vList5"/>
    <dgm:cxn modelId="{288E97FD-2199-4A0C-845A-619773B87D20}" type="presParOf" srcId="{2C258886-D1C6-44D4-8CB8-1368952F504F}" destId="{F572F5F6-6AF4-4EC1-8CD2-23FA228EBB88}" srcOrd="0" destOrd="0" presId="urn:microsoft.com/office/officeart/2005/8/layout/vList5"/>
    <dgm:cxn modelId="{08325F08-12E5-455F-9B73-6283ADD46A97}" type="presParOf" srcId="{2C258886-D1C6-44D4-8CB8-1368952F504F}" destId="{41CCDF27-C149-4F37-BE23-2B304108C3C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>
              <a:solidFill>
                <a:schemeClr val="tx1"/>
              </a:solidFill>
            </a:rPr>
            <a:t>Approved Product List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Adviser &amp; Client Relationship</a:t>
          </a:r>
          <a:b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</a:b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(meeting one)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Adviser &amp; Client Relationship</a:t>
          </a:r>
          <a:b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</a:br>
          <a:r>
            <a:rPr lang="en-AU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(meeting two)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A list of investment products available to advisers for client use outside of the SMA framework.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r>
            <a:rPr lang="en-US" sz="1200" b="1"/>
            <a:t>Pitch Deck: </a:t>
          </a:r>
          <a:r>
            <a:rPr lang="en-US" sz="1200" b="0"/>
            <a:t>C</a:t>
          </a:r>
          <a:r>
            <a:rPr lang="en-US" sz="1200"/>
            <a:t>oncise, 6-slide presentation to help advisers articulate their value and how Atchison enhances their client offering. </a:t>
          </a:r>
          <a:endParaRPr lang="en-AU" sz="120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r>
            <a:rPr lang="en-US" sz="1200" b="1"/>
            <a:t>Product 2 Pager: </a:t>
          </a:r>
          <a:r>
            <a:rPr lang="en-US" sz="1200" b="0"/>
            <a:t>Overview of the product.</a:t>
          </a:r>
          <a:endParaRPr lang="en-AU" sz="1200" b="1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Interactive Adviser Portal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</a:t>
          </a:r>
          <a:r>
            <a:rPr lang="en-US" sz="1200" kern="1200" dirty="0" err="1"/>
            <a:t>centralised</a:t>
          </a:r>
          <a:r>
            <a:rPr lang="en-US" sz="1200" kern="1200" dirty="0"/>
            <a:t> web portal, specific to </a:t>
          </a:r>
          <a:r>
            <a:rPr lang="en-US" sz="1200" kern="1200" dirty="0">
              <a:hlinkClick xmlns:r="http://schemas.openxmlformats.org/officeDocument/2006/relationships" r:id="rId1"/>
            </a:rPr>
            <a:t>Each Client</a:t>
          </a:r>
          <a:r>
            <a:rPr lang="en-US" sz="1200" kern="1200" dirty="0"/>
            <a:t>, giving advisers access to all relevant investment resources in one place.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656FEDE4-9B49-42C3-AAEF-15B7AFDC289F}">
      <dgm:prSet phldrT="[Text]" custT="1"/>
      <dgm:spPr/>
      <dgm:t>
        <a:bodyPr/>
        <a:lstStyle/>
        <a:p>
          <a:r>
            <a:rPr lang="en-US" sz="1200" b="1"/>
            <a:t>Atchison Booklet: </a:t>
          </a:r>
          <a:r>
            <a:rPr lang="en-US" sz="1200" b="0"/>
            <a:t>Take home booklet outlining RP’s Investment Arm.</a:t>
          </a:r>
          <a:endParaRPr lang="en-AU" sz="1200" b="1"/>
        </a:p>
      </dgm:t>
    </dgm:pt>
    <dgm:pt modelId="{26EDC046-ADAD-4B0B-968A-B239B1D8060E}" type="parTrans" cxnId="{5A7EB5AC-A584-4C7C-BF19-B2FC57F0D98E}">
      <dgm:prSet/>
      <dgm:spPr/>
      <dgm:t>
        <a:bodyPr/>
        <a:lstStyle/>
        <a:p>
          <a:endParaRPr lang="en-AU"/>
        </a:p>
      </dgm:t>
    </dgm:pt>
    <dgm:pt modelId="{872EFAFB-9EDB-4F9E-8F64-BD7F0E913FFD}" type="sibTrans" cxnId="{5A7EB5AC-A584-4C7C-BF19-B2FC57F0D98E}">
      <dgm:prSet/>
      <dgm:spPr/>
      <dgm:t>
        <a:bodyPr/>
        <a:lstStyle/>
        <a:p>
          <a:endParaRPr lang="en-AU"/>
        </a:p>
      </dgm:t>
    </dgm:pt>
    <dgm:pt modelId="{E19071E7-BFBF-4A30-AAD0-DD8E2190A530}">
      <dgm:prSet phldrT="[Text]" custT="1"/>
      <dgm:spPr/>
      <dgm:t>
        <a:bodyPr/>
        <a:lstStyle/>
        <a:p>
          <a:endParaRPr lang="en-AU" sz="1200" b="1"/>
        </a:p>
      </dgm:t>
    </dgm:pt>
    <dgm:pt modelId="{6F574CD6-4EFB-4C0E-8D87-DA6D599B0DE8}" type="parTrans" cxnId="{368DE078-0B51-4E8D-B29F-60F1A7EB6C19}">
      <dgm:prSet/>
      <dgm:spPr/>
      <dgm:t>
        <a:bodyPr/>
        <a:lstStyle/>
        <a:p>
          <a:endParaRPr lang="en-AU"/>
        </a:p>
      </dgm:t>
    </dgm:pt>
    <dgm:pt modelId="{FC890C7F-8BF4-4808-9F92-20A8DD4FDA65}" type="sibTrans" cxnId="{368DE078-0B51-4E8D-B29F-60F1A7EB6C19}">
      <dgm:prSet/>
      <dgm:spPr/>
      <dgm:t>
        <a:bodyPr/>
        <a:lstStyle/>
        <a:p>
          <a:endParaRPr lang="en-AU"/>
        </a:p>
      </dgm:t>
    </dgm:pt>
    <dgm:pt modelId="{08F40919-000C-4839-854F-BA7FF770A056}">
      <dgm:prSet phldrT="[Text]" custT="1"/>
      <dgm:spPr/>
      <dgm:t>
        <a:bodyPr/>
        <a:lstStyle/>
        <a:p>
          <a:r>
            <a:rPr lang="en-US" sz="1200" b="1"/>
            <a:t>Performance Reports: </a:t>
          </a:r>
          <a:r>
            <a:rPr lang="en-US" sz="1200" b="0"/>
            <a:t>Overview of performance of relevant solution.  </a:t>
          </a:r>
          <a:endParaRPr lang="en-AU" sz="1200" b="1"/>
        </a:p>
      </dgm:t>
    </dgm:pt>
    <dgm:pt modelId="{06F4D3A8-DB40-4358-AF87-8DF08421F504}" type="parTrans" cxnId="{70EB14B5-1C83-4E60-8D86-1AA205B7E85E}">
      <dgm:prSet/>
      <dgm:spPr/>
      <dgm:t>
        <a:bodyPr/>
        <a:lstStyle/>
        <a:p>
          <a:endParaRPr lang="en-AU"/>
        </a:p>
      </dgm:t>
    </dgm:pt>
    <dgm:pt modelId="{F19E0731-89A8-4C21-806E-799D0C4802C4}" type="sibTrans" cxnId="{70EB14B5-1C83-4E60-8D86-1AA205B7E85E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4" custScaleX="100769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4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4" custScaleY="101143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4" custLinFactNeighborX="-23407" custLinFactNeighborY="-189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4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4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8D26D544-5181-4F45-A0D7-59BFA11A7B55}" type="presOf" srcId="{E19071E7-BFBF-4A30-AAD0-DD8E2190A530}" destId="{CC9BA2DD-C916-4847-89FF-21DD6BD06D62}" srcOrd="0" destOrd="2" presId="urn:microsoft.com/office/officeart/2005/8/layout/vList5"/>
    <dgm:cxn modelId="{073C0E4F-A62F-4E70-96FA-18BD416F4159}" type="presOf" srcId="{656FEDE4-9B49-42C3-AAEF-15B7AFDC289F}" destId="{4302BC3C-57DB-47DE-97B3-A55EA511B4CF}" srcOrd="0" destOrd="1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4E4B5258-F4B2-4383-945B-F216CDFE18ED}" type="presOf" srcId="{08F40919-000C-4839-854F-BA7FF770A056}" destId="{CC9BA2DD-C916-4847-89FF-21DD6BD06D62}" srcOrd="0" destOrd="1" presId="urn:microsoft.com/office/officeart/2005/8/layout/vList5"/>
    <dgm:cxn modelId="{368DE078-0B51-4E8D-B29F-60F1A7EB6C19}" srcId="{12E69C22-CF89-414C-BBB7-E78EA5EFF4F3}" destId="{E19071E7-BFBF-4A30-AAD0-DD8E2190A530}" srcOrd="2" destOrd="0" parTransId="{6F574CD6-4EFB-4C0E-8D87-DA6D599B0DE8}" sibTransId="{FC890C7F-8BF4-4808-9F92-20A8DD4FDA65}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5A7EB5AC-A584-4C7C-BF19-B2FC57F0D98E}" srcId="{5708EEB3-DE51-433B-A60F-872B7852BCD2}" destId="{656FEDE4-9B49-42C3-AAEF-15B7AFDC289F}" srcOrd="1" destOrd="0" parTransId="{26EDC046-ADAD-4B0B-968A-B239B1D8060E}" sibTransId="{872EFAFB-9EDB-4F9E-8F64-BD7F0E913FFD}"/>
    <dgm:cxn modelId="{70EB14B5-1C83-4E60-8D86-1AA205B7E85E}" srcId="{12E69C22-CF89-414C-BBB7-E78EA5EFF4F3}" destId="{08F40919-000C-4839-854F-BA7FF770A056}" srcOrd="1" destOrd="0" parTransId="{06F4D3A8-DB40-4358-AF87-8DF08421F504}" sibTransId="{F19E0731-89A8-4C21-806E-799D0C4802C4}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Outsourced CIO Function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APRA SPS530 &amp; CPG229</a:t>
          </a: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ESG &amp; Liquidity Testing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497F9FB7-C298-47BE-9978-3201A3B8F668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Risk Scenario Analysis</a:t>
          </a:r>
        </a:p>
      </dgm:t>
    </dgm:pt>
    <dgm:pt modelId="{4FD6B281-73C7-479C-A544-5ACC4073C823}" type="parTrans" cxnId="{CD062717-32C7-41D9-832A-C3CE40758C5E}">
      <dgm:prSet/>
      <dgm:spPr/>
      <dgm:t>
        <a:bodyPr/>
        <a:lstStyle/>
        <a:p>
          <a:endParaRPr lang="en-AU"/>
        </a:p>
      </dgm:t>
    </dgm:pt>
    <dgm:pt modelId="{FCA20D1C-FE9D-45BF-BA4A-2E2D56E0D92E}" type="sibTrans" cxnId="{CD062717-32C7-41D9-832A-C3CE40758C5E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Improved IC oversight by working with </a:t>
          </a:r>
          <a:r>
            <a:rPr lang="en-US" sz="1200" kern="1200" dirty="0" err="1">
              <a:latin typeface="Arial" panose="020B0604020202020204"/>
              <a:ea typeface="+mn-ea"/>
              <a:cs typeface="+mn-cs"/>
            </a:rPr>
            <a:t>KeyInvest</a:t>
          </a:r>
          <a:r>
            <a:rPr lang="en-US" sz="1200" kern="1200" dirty="0">
              <a:latin typeface="Arial" panose="020B0604020202020204"/>
              <a:ea typeface="+mn-ea"/>
              <a:cs typeface="+mn-cs"/>
            </a:rPr>
            <a:t> internal investment team and all stakeholders.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r>
            <a:rPr lang="en-US" sz="1200" kern="1200" dirty="0"/>
            <a:t>Support APRA compliance team regarding investment function.</a:t>
          </a:r>
          <a:endParaRPr lang="en-AU" sz="1200" kern="1200" dirty="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r>
            <a:rPr lang="en-US" sz="1200" kern="1200" dirty="0"/>
            <a:t>Liquidity management and cash-flow planning.</a:t>
          </a:r>
          <a:endParaRPr lang="en-AU" sz="1200" kern="1200" dirty="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8A16CE46-105C-4B01-BC80-55AC16F909BC}">
      <dgm:prSet phldrT="[Text]" custT="1"/>
      <dgm:spPr/>
      <dgm:t>
        <a:bodyPr/>
        <a:lstStyle/>
        <a:p>
          <a:r>
            <a:rPr lang="en-US" sz="1200" kern="1200" dirty="0"/>
            <a:t>Modelling portfolio behaviors across market shocks and downturns.</a:t>
          </a:r>
          <a:endParaRPr lang="en-AU" sz="1200" kern="1200" dirty="0"/>
        </a:p>
      </dgm:t>
    </dgm:pt>
    <dgm:pt modelId="{67D613A3-DCF9-44AA-8309-536B1EF0480B}" type="parTrans" cxnId="{804537EB-4180-4DAF-86BC-98D08FAB46B9}">
      <dgm:prSet/>
      <dgm:spPr/>
      <dgm:t>
        <a:bodyPr/>
        <a:lstStyle/>
        <a:p>
          <a:endParaRPr lang="en-AU"/>
        </a:p>
      </dgm:t>
    </dgm:pt>
    <dgm:pt modelId="{357E1C31-12AD-4A88-91A7-F73267DCCBC8}" type="sibTrans" cxnId="{804537EB-4180-4DAF-86BC-98D08FAB46B9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AU" sz="1800">
              <a:solidFill>
                <a:schemeClr val="tx1"/>
              </a:solidFill>
            </a:rPr>
            <a:t>Optimisation</a:t>
          </a: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Test thousands of portfolio combinations to improve risk and return outcomes.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F01F3D6B-6515-44A6-B9F7-168DEDEA300A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Guard rails for financial advisers to choose appropriate investments in particular sub-categories.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CD7AEC4E-2CEE-444B-8624-A0523A976482}" type="parTrans" cxnId="{3E45A864-55A3-4975-AB57-BF0A7A89D81F}">
      <dgm:prSet/>
      <dgm:spPr/>
      <dgm:t>
        <a:bodyPr/>
        <a:lstStyle/>
        <a:p>
          <a:endParaRPr lang="en-AU"/>
        </a:p>
      </dgm:t>
    </dgm:pt>
    <dgm:pt modelId="{26A4E018-90BA-4FBD-A4B0-D6694DF8CEC2}" type="sibTrans" cxnId="{3E45A864-55A3-4975-AB57-BF0A7A89D81F}">
      <dgm:prSet/>
      <dgm:spPr/>
      <dgm:t>
        <a:bodyPr/>
        <a:lstStyle/>
        <a:p>
          <a:endParaRPr lang="en-AU"/>
        </a:p>
      </dgm:t>
    </dgm:pt>
    <dgm:pt modelId="{84FCAC58-C642-45EE-A6F4-6C9DB99E0FE8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+mn-ea"/>
              <a:cs typeface="+mn-cs"/>
            </a:rPr>
            <a:t>Tailor asset allocation to objectives, time horizon, and volatility.</a:t>
          </a:r>
        </a:p>
      </dgm:t>
    </dgm:pt>
    <dgm:pt modelId="{C779CAF1-210A-4AA5-8058-2997AC206458}" type="parTrans" cxnId="{4D7295CC-3CCB-4139-ABA8-8E3FC0B3544E}">
      <dgm:prSet/>
      <dgm:spPr/>
      <dgm:t>
        <a:bodyPr/>
        <a:lstStyle/>
        <a:p>
          <a:endParaRPr lang="en-AU"/>
        </a:p>
      </dgm:t>
    </dgm:pt>
    <dgm:pt modelId="{38B0B416-9B81-4BAA-8928-6423AF3E684C}" type="sibTrans" cxnId="{4D7295CC-3CCB-4139-ABA8-8E3FC0B3544E}">
      <dgm:prSet/>
      <dgm:spPr/>
      <dgm:t>
        <a:bodyPr/>
        <a:lstStyle/>
        <a:p>
          <a:endParaRPr lang="en-AU"/>
        </a:p>
      </dgm:t>
    </dgm:pt>
    <dgm:pt modelId="{FB91B656-5A38-468A-A76E-86B4ED6D08F1}">
      <dgm:prSet custT="1"/>
      <dgm:spPr/>
      <dgm:t>
        <a:bodyPr/>
        <a:lstStyle/>
        <a:p>
          <a:r>
            <a:rPr lang="en-US" sz="1200" kern="1200" dirty="0">
              <a:latin typeface="Arial" panose="020B0604020202020204"/>
              <a:ea typeface="+mn-ea"/>
              <a:cs typeface="+mn-cs"/>
            </a:rPr>
            <a:t>Support </a:t>
          </a:r>
          <a:r>
            <a:rPr lang="en-US" sz="1200" kern="1200" dirty="0" err="1">
              <a:latin typeface="Arial" panose="020B0604020202020204"/>
              <a:ea typeface="+mn-ea"/>
              <a:cs typeface="+mn-cs"/>
            </a:rPr>
            <a:t>KeyInvest</a:t>
          </a:r>
          <a:r>
            <a:rPr lang="en-US" sz="1200" kern="1200" dirty="0">
              <a:latin typeface="Arial" panose="020B0604020202020204"/>
              <a:ea typeface="+mn-ea"/>
              <a:cs typeface="+mn-cs"/>
            </a:rPr>
            <a:t> with maintenance and updating of compliance investment policies.</a:t>
          </a:r>
        </a:p>
      </dgm:t>
    </dgm:pt>
    <dgm:pt modelId="{F50B25F3-3629-4986-9188-E61CBC2E736C}" type="parTrans" cxnId="{3EA49C99-4321-4308-A298-C0142C7F4EBF}">
      <dgm:prSet/>
      <dgm:spPr/>
      <dgm:t>
        <a:bodyPr/>
        <a:lstStyle/>
        <a:p>
          <a:endParaRPr lang="en-AU"/>
        </a:p>
      </dgm:t>
    </dgm:pt>
    <dgm:pt modelId="{42A91B81-E745-4C72-8104-81B796E9B2CB}" type="sibTrans" cxnId="{3EA49C99-4321-4308-A298-C0142C7F4EBF}">
      <dgm:prSet/>
      <dgm:spPr/>
      <dgm:t>
        <a:bodyPr/>
        <a:lstStyle/>
        <a:p>
          <a:endParaRPr lang="en-AU"/>
        </a:p>
      </dgm:t>
    </dgm:pt>
    <dgm:pt modelId="{11CC2AC1-0CA0-4FA7-B608-8C09D70C5182}">
      <dgm:prSet custT="1"/>
      <dgm:spPr/>
      <dgm:t>
        <a:bodyPr/>
        <a:lstStyle/>
        <a:p>
          <a:r>
            <a:rPr lang="en-US" sz="1200" kern="1200" baseline="0" dirty="0">
              <a:latin typeface="Arial" panose="020B0604020202020204"/>
              <a:ea typeface="+mn-ea"/>
              <a:cs typeface="+mn-cs"/>
            </a:rPr>
            <a:t>Identifies trigger points and resilience under adverse scenarios.</a:t>
          </a:r>
        </a:p>
      </dgm:t>
    </dgm:pt>
    <dgm:pt modelId="{88B56F36-A10B-42DD-B2C9-C558F935613D}" type="parTrans" cxnId="{A8DAA827-5604-4833-A123-EDEC5FC201EC}">
      <dgm:prSet/>
      <dgm:spPr/>
      <dgm:t>
        <a:bodyPr/>
        <a:lstStyle/>
        <a:p>
          <a:endParaRPr lang="en-AU"/>
        </a:p>
      </dgm:t>
    </dgm:pt>
    <dgm:pt modelId="{CCEDCC57-624D-4BD4-B6F2-0B2B47F5397D}" type="sibTrans" cxnId="{A8DAA827-5604-4833-A123-EDEC5FC201EC}">
      <dgm:prSet/>
      <dgm:spPr/>
      <dgm:t>
        <a:bodyPr/>
        <a:lstStyle/>
        <a:p>
          <a:endParaRPr lang="en-AU"/>
        </a:p>
      </dgm:t>
    </dgm:pt>
    <dgm:pt modelId="{4BFB914B-2169-427B-BF66-D2E15B50BD36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Provide strategic direction on all investment activities e.g. Approved Product Lists.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170B0A4A-3F72-4974-88EC-EAC11E37BFBD}" type="parTrans" cxnId="{6C628497-D112-4D9F-9BBD-E6094E243D34}">
      <dgm:prSet/>
      <dgm:spPr/>
    </dgm:pt>
    <dgm:pt modelId="{1C1991CF-6373-49BF-98E8-57C6C07F182A}" type="sibTrans" cxnId="{6C628497-D112-4D9F-9BBD-E6094E243D34}">
      <dgm:prSet/>
      <dgm:spPr/>
    </dgm:pt>
    <dgm:pt modelId="{43F80B48-D81C-40B8-B5BB-3D155250B837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Research, investment manager DD, selection and continuous evaluation and reporting.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E274BEA5-8942-48BB-8CEE-6BFE672E9E6B}" type="parTrans" cxnId="{1BED5827-9587-4C72-AA99-258D92E6941B}">
      <dgm:prSet/>
      <dgm:spPr/>
    </dgm:pt>
    <dgm:pt modelId="{0B08799D-4A93-4B78-92B4-92345C17CCA7}" type="sibTrans" cxnId="{1BED5827-9587-4C72-AA99-258D92E6941B}">
      <dgm:prSet/>
      <dgm:spPr/>
    </dgm:pt>
    <dgm:pt modelId="{A21FF8D4-990F-4560-B9E0-3C120E88D9F5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+mn-ea"/>
              <a:cs typeface="+mn-cs"/>
            </a:rPr>
            <a:t>On-going asset allocation review and adjustment aligned to market dynamics.</a:t>
          </a:r>
        </a:p>
      </dgm:t>
    </dgm:pt>
    <dgm:pt modelId="{DB3E6499-21EA-45E7-A3F2-54A23A0E4FE4}" type="parTrans" cxnId="{06B578AF-5AEA-48F9-8A87-1C5ADA9F8273}">
      <dgm:prSet/>
      <dgm:spPr/>
    </dgm:pt>
    <dgm:pt modelId="{203219CB-76EE-4D12-836A-7EA924B37449}" type="sibTrans" cxnId="{06B578AF-5AEA-48F9-8A87-1C5ADA9F8273}">
      <dgm:prSet/>
      <dgm:spPr/>
    </dgm:pt>
    <dgm:pt modelId="{0B0F655E-DF25-4B96-B6E8-820F3B963494}">
      <dgm:prSet phldrT="[Text]" custT="1"/>
      <dgm:spPr/>
      <dgm:t>
        <a:bodyPr/>
        <a:lstStyle/>
        <a:p>
          <a:r>
            <a:rPr lang="en-US" sz="1200" kern="1200" dirty="0"/>
            <a:t>Incorporate governance, ESG, and climate risk standards into portfolio reviews.</a:t>
          </a:r>
          <a:endParaRPr lang="en-AU" sz="1200" kern="1200" dirty="0"/>
        </a:p>
      </dgm:t>
    </dgm:pt>
    <dgm:pt modelId="{A301F692-D9D7-457F-83AD-533F0F5D8256}" type="parTrans" cxnId="{46AAD504-2CCA-4014-9263-53E9E0ACA8A6}">
      <dgm:prSet/>
      <dgm:spPr/>
    </dgm:pt>
    <dgm:pt modelId="{F3F2450B-4C90-4B26-BCFD-AD49474A166E}" type="sibTrans" cxnId="{46AAD504-2CCA-4014-9263-53E9E0ACA8A6}">
      <dgm:prSet/>
      <dgm:spPr/>
    </dgm:pt>
    <dgm:pt modelId="{5EE96E8F-DA66-447B-9884-B80F4E44CAA3}">
      <dgm:prSet phldrT="[Text]" custT="1"/>
      <dgm:spPr/>
      <dgm:t>
        <a:bodyPr/>
        <a:lstStyle/>
        <a:p>
          <a:r>
            <a:rPr lang="en-US" sz="1200" kern="1200" dirty="0"/>
            <a:t>Portfolio risk management monitoring and reporting.</a:t>
          </a:r>
          <a:endParaRPr lang="en-AU" sz="1200" kern="1200" dirty="0"/>
        </a:p>
      </dgm:t>
    </dgm:pt>
    <dgm:pt modelId="{A870C96A-C10B-4D93-94AA-10E2F6F80331}" type="parTrans" cxnId="{E318CC0F-7E36-4B91-8B55-0C7C985E632D}">
      <dgm:prSet/>
      <dgm:spPr/>
    </dgm:pt>
    <dgm:pt modelId="{549D9F26-A8B5-4BD9-896C-A24B1067C495}" type="sibTrans" cxnId="{E318CC0F-7E36-4B91-8B55-0C7C985E632D}">
      <dgm:prSet/>
      <dgm:spPr/>
    </dgm:pt>
    <dgm:pt modelId="{232079A4-B596-4272-80E2-77DB839AB02E}">
      <dgm:prSet custT="1"/>
      <dgm:spPr/>
      <dgm:t>
        <a:bodyPr/>
        <a:lstStyle/>
        <a:p>
          <a:r>
            <a:rPr lang="en-US" sz="1200" kern="1200" dirty="0"/>
            <a:t> Assesses sustainability and ethical exposures across portfolios</a:t>
          </a:r>
          <a:endParaRPr lang="en-US" sz="1200" kern="1200" baseline="0" dirty="0">
            <a:latin typeface="+mn-lt"/>
            <a:ea typeface="+mn-ea"/>
            <a:cs typeface="+mn-cs"/>
          </a:endParaRPr>
        </a:p>
      </dgm:t>
    </dgm:pt>
    <dgm:pt modelId="{116775DF-E8E3-458B-800E-18938C9695B2}" type="parTrans" cxnId="{C2F6F209-58BA-407C-B846-B792E31F65CD}">
      <dgm:prSet/>
      <dgm:spPr/>
    </dgm:pt>
    <dgm:pt modelId="{A8E0208A-245F-43BF-B3A5-31F319EE54F7}" type="sibTrans" cxnId="{C2F6F209-58BA-407C-B846-B792E31F65CD}">
      <dgm:prSet/>
      <dgm:spPr/>
    </dgm:pt>
    <dgm:pt modelId="{714F82B9-B675-47A4-9187-B3EF014AB0DD}">
      <dgm:prSet phldrT="[Text]" custT="1"/>
      <dgm:spPr/>
      <dgm:t>
        <a:bodyPr/>
        <a:lstStyle/>
        <a:p>
          <a:r>
            <a:rPr lang="en-US" sz="1200" kern="1200" baseline="0" dirty="0">
              <a:latin typeface="+mn-lt"/>
              <a:ea typeface="+mn-ea"/>
              <a:cs typeface="+mn-cs"/>
            </a:rPr>
            <a:t>Evaluate liquidity under normal and stressed market conditions</a:t>
          </a:r>
          <a:endParaRPr lang="en-AU" sz="1200" kern="1200" dirty="0"/>
        </a:p>
      </dgm:t>
    </dgm:pt>
    <dgm:pt modelId="{83A53191-FAA8-4845-8FBD-9BF595645627}" type="parTrans" cxnId="{E7227C4D-864B-4E84-9435-1D22F95CF009}">
      <dgm:prSet/>
      <dgm:spPr/>
    </dgm:pt>
    <dgm:pt modelId="{CBBFFB2F-C9AC-4B07-A631-513680CFA022}" type="sibTrans" cxnId="{E7227C4D-864B-4E84-9435-1D22F95CF009}">
      <dgm:prSet/>
      <dgm:spPr/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5" custScaleX="100769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5" custLinFactNeighborY="5454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5" custScaleY="101143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5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5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5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5">
        <dgm:presLayoutVars>
          <dgm:bulletEnabled val="1"/>
        </dgm:presLayoutVars>
      </dgm:prSet>
      <dgm:spPr/>
    </dgm:pt>
    <dgm:pt modelId="{D410B08B-CD8E-4239-B699-24916A4D9E40}" type="pres">
      <dgm:prSet presAssocID="{8F2E44D2-A6DC-40BC-BBF8-2FEFD1FDFA99}" presName="sp" presStyleCnt="0"/>
      <dgm:spPr/>
    </dgm:pt>
    <dgm:pt modelId="{2C258886-D1C6-44D4-8CB8-1368952F504F}" type="pres">
      <dgm:prSet presAssocID="{497F9FB7-C298-47BE-9978-3201A3B8F668}" presName="linNode" presStyleCnt="0"/>
      <dgm:spPr/>
    </dgm:pt>
    <dgm:pt modelId="{F572F5F6-6AF4-4EC1-8CD2-23FA228EBB88}" type="pres">
      <dgm:prSet presAssocID="{497F9FB7-C298-47BE-9978-3201A3B8F668}" presName="parentText" presStyleLbl="node1" presStyleIdx="4" presStyleCnt="5" custLinFactNeighborY="1198">
        <dgm:presLayoutVars>
          <dgm:chMax val="1"/>
          <dgm:bulletEnabled val="1"/>
        </dgm:presLayoutVars>
      </dgm:prSet>
      <dgm:spPr>
        <a:xfrm>
          <a:off x="0" y="2852254"/>
          <a:ext cx="4026239" cy="679007"/>
        </a:xfrm>
        <a:prstGeom prst="roundRect">
          <a:avLst/>
        </a:prstGeom>
      </dgm:spPr>
    </dgm:pt>
    <dgm:pt modelId="{41CCDF27-C149-4F37-BE23-2B304108C3C2}" type="pres">
      <dgm:prSet presAssocID="{497F9FB7-C298-47BE-9978-3201A3B8F668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46AAD504-2CCA-4014-9263-53E9E0ACA8A6}" srcId="{5708EEB3-DE51-433B-A60F-872B7852BCD2}" destId="{0B0F655E-DF25-4B96-B6E8-820F3B963494}" srcOrd="1" destOrd="0" parTransId="{A301F692-D9D7-457F-83AD-533F0F5D8256}" sibTransId="{F3F2450B-4C90-4B26-BCFD-AD49474A166E}"/>
    <dgm:cxn modelId="{C2F6F209-58BA-407C-B846-B792E31F65CD}" srcId="{12E69C22-CF89-414C-BBB7-E78EA5EFF4F3}" destId="{232079A4-B596-4272-80E2-77DB839AB02E}" srcOrd="2" destOrd="0" parTransId="{116775DF-E8E3-458B-800E-18938C9695B2}" sibTransId="{A8E0208A-245F-43BF-B3A5-31F319EE54F7}"/>
    <dgm:cxn modelId="{30034E0B-0A64-48CB-A7B4-37EDB1B06C02}" type="presOf" srcId="{714F82B9-B675-47A4-9187-B3EF014AB0DD}" destId="{CC9BA2DD-C916-4847-89FF-21DD6BD06D62}" srcOrd="0" destOrd="1" presId="urn:microsoft.com/office/officeart/2005/8/layout/vList5"/>
    <dgm:cxn modelId="{E318CC0F-7E36-4B91-8B55-0C7C985E632D}" srcId="{497F9FB7-C298-47BE-9978-3201A3B8F668}" destId="{5EE96E8F-DA66-447B-9884-B80F4E44CAA3}" srcOrd="0" destOrd="0" parTransId="{A870C96A-C10B-4D93-94AA-10E2F6F80331}" sibTransId="{549D9F26-A8B5-4BD9-896C-A24B1067C495}"/>
    <dgm:cxn modelId="{CD062717-32C7-41D9-832A-C3CE40758C5E}" srcId="{3B2D9394-266F-4A46-9530-736575DAA20F}" destId="{497F9FB7-C298-47BE-9978-3201A3B8F668}" srcOrd="4" destOrd="0" parTransId="{4FD6B281-73C7-479C-A544-5ACC4073C823}" sibTransId="{FCA20D1C-FE9D-45BF-BA4A-2E2D56E0D92E}"/>
    <dgm:cxn modelId="{DD8E531E-EE05-436B-86FD-33922D837630}" type="presOf" srcId="{8A16CE46-105C-4B01-BC80-55AC16F909BC}" destId="{41CCDF27-C149-4F37-BE23-2B304108C3C2}" srcOrd="0" destOrd="1" presId="urn:microsoft.com/office/officeart/2005/8/layout/vList5"/>
    <dgm:cxn modelId="{1BED5827-9587-4C72-AA99-258D92E6941B}" srcId="{AA9211D3-58F5-489C-A0E6-EB2C7F48F056}" destId="{43F80B48-D81C-40B8-B5BB-3D155250B837}" srcOrd="2" destOrd="0" parTransId="{E274BEA5-8942-48BB-8CEE-6BFE672E9E6B}" sibTransId="{0B08799D-4A93-4B78-92B4-92345C17CCA7}"/>
    <dgm:cxn modelId="{A8DAA827-5604-4833-A123-EDEC5FC201EC}" srcId="{497F9FB7-C298-47BE-9978-3201A3B8F668}" destId="{11CC2AC1-0CA0-4FA7-B608-8C09D70C5182}" srcOrd="2" destOrd="0" parTransId="{88B56F36-A10B-42DD-B2C9-C558F935613D}" sibTransId="{CCEDCC57-624D-4BD4-B6F2-0B2B47F5397D}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F7602964-FBBF-4D21-B33A-5783EB7027D2}" type="presOf" srcId="{0B0F655E-DF25-4B96-B6E8-820F3B963494}" destId="{4302BC3C-57DB-47DE-97B3-A55EA511B4CF}" srcOrd="0" destOrd="1" presId="urn:microsoft.com/office/officeart/2005/8/layout/vList5"/>
    <dgm:cxn modelId="{3E45A864-55A3-4975-AB57-BF0A7A89D81F}" srcId="{AA9211D3-58F5-489C-A0E6-EB2C7F48F056}" destId="{F01F3D6B-6515-44A6-B9F7-168DEDEA300A}" srcOrd="3" destOrd="0" parTransId="{CD7AEC4E-2CEE-444B-8624-A0523A976482}" sibTransId="{26A4E018-90BA-4FBD-A4B0-D6694DF8CEC2}"/>
    <dgm:cxn modelId="{1BF73D45-64FC-49FE-9E9A-F65F6F7A8AC8}" type="presOf" srcId="{A21FF8D4-990F-4560-B9E0-3C120E88D9F5}" destId="{5D3C169D-592D-43B3-96A2-E2AF00F98FCB}" srcOrd="0" destOrd="2" presId="urn:microsoft.com/office/officeart/2005/8/layout/vList5"/>
    <dgm:cxn modelId="{6E2E4445-82AF-4D56-9F11-8A14FE9E2717}" type="presOf" srcId="{5EE96E8F-DA66-447B-9884-B80F4E44CAA3}" destId="{41CCDF27-C149-4F37-BE23-2B304108C3C2}" srcOrd="0" destOrd="0" presId="urn:microsoft.com/office/officeart/2005/8/layout/vList5"/>
    <dgm:cxn modelId="{63F30E48-3F70-45E2-817A-2BE49C5071E0}" type="presOf" srcId="{497F9FB7-C298-47BE-9978-3201A3B8F668}" destId="{F572F5F6-6AF4-4EC1-8CD2-23FA228EBB88}" srcOrd="0" destOrd="0" presId="urn:microsoft.com/office/officeart/2005/8/layout/vList5"/>
    <dgm:cxn modelId="{C46DD44C-F406-4063-9E01-2ABF11F15D7F}" type="presOf" srcId="{4BFB914B-2169-427B-BF66-D2E15B50BD36}" destId="{51EAAC29-7133-48E2-BA20-1C59C0CE160D}" srcOrd="0" destOrd="1" presId="urn:microsoft.com/office/officeart/2005/8/layout/vList5"/>
    <dgm:cxn modelId="{E7227C4D-864B-4E84-9435-1D22F95CF009}" srcId="{12E69C22-CF89-414C-BBB7-E78EA5EFF4F3}" destId="{714F82B9-B675-47A4-9187-B3EF014AB0DD}" srcOrd="1" destOrd="0" parTransId="{83A53191-FAA8-4845-8FBD-9BF595645627}" sibTransId="{CBBFFB2F-C9AC-4B07-A631-513680CFA022}"/>
    <dgm:cxn modelId="{D4C91D6E-9EBB-4161-B271-829A61EA83F5}" type="presOf" srcId="{F01F3D6B-6515-44A6-B9F7-168DEDEA300A}" destId="{51EAAC29-7133-48E2-BA20-1C59C0CE160D}" srcOrd="0" destOrd="3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6C628497-D112-4D9F-9BBD-E6094E243D34}" srcId="{AA9211D3-58F5-489C-A0E6-EB2C7F48F056}" destId="{4BFB914B-2169-427B-BF66-D2E15B50BD36}" srcOrd="1" destOrd="0" parTransId="{170B0A4A-3F72-4974-88EC-EAC11E37BFBD}" sibTransId="{1C1991CF-6373-49BF-98E8-57C6C07F182A}"/>
    <dgm:cxn modelId="{3EA49C99-4321-4308-A298-C0142C7F4EBF}" srcId="{5708EEB3-DE51-433B-A60F-872B7852BCD2}" destId="{FB91B656-5A38-468A-A76E-86B4ED6D08F1}" srcOrd="2" destOrd="0" parTransId="{F50B25F3-3629-4986-9188-E61CBC2E736C}" sibTransId="{42A91B81-E745-4C72-8104-81B796E9B2CB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67947CA0-0A5C-4F27-8CEC-55431AF32D24}" type="presOf" srcId="{232079A4-B596-4272-80E2-77DB839AB02E}" destId="{CC9BA2DD-C916-4847-89FF-21DD6BD06D62}" srcOrd="0" destOrd="2" presId="urn:microsoft.com/office/officeart/2005/8/layout/vList5"/>
    <dgm:cxn modelId="{A11E16AD-C8FA-4570-8F0B-48B7D1D2E794}" type="presOf" srcId="{84FCAC58-C642-45EE-A6F4-6C9DB99E0FE8}" destId="{5D3C169D-592D-43B3-96A2-E2AF00F98FCB}" srcOrd="0" destOrd="1" presId="urn:microsoft.com/office/officeart/2005/8/layout/vList5"/>
    <dgm:cxn modelId="{06B578AF-5AEA-48F9-8A87-1C5ADA9F8273}" srcId="{D516ECE9-BCB2-427B-B4C7-DEBFD86EB069}" destId="{A21FF8D4-990F-4560-B9E0-3C120E88D9F5}" srcOrd="2" destOrd="0" parTransId="{DB3E6499-21EA-45E7-A3F2-54A23A0E4FE4}" sibTransId="{203219CB-76EE-4D12-836A-7EA924B37449}"/>
    <dgm:cxn modelId="{4D7295CC-3CCB-4139-ABA8-8E3FC0B3544E}" srcId="{D516ECE9-BCB2-427B-B4C7-DEBFD86EB069}" destId="{84FCAC58-C642-45EE-A6F4-6C9DB99E0FE8}" srcOrd="1" destOrd="0" parTransId="{C779CAF1-210A-4AA5-8058-2997AC206458}" sibTransId="{38B0B416-9B81-4BAA-8928-6423AF3E684C}"/>
    <dgm:cxn modelId="{46D4DDD0-5590-4288-9A27-3BBB68EF96D9}" type="presOf" srcId="{11CC2AC1-0CA0-4FA7-B608-8C09D70C5182}" destId="{41CCDF27-C149-4F37-BE23-2B304108C3C2}" srcOrd="0" destOrd="2" presId="urn:microsoft.com/office/officeart/2005/8/layout/vList5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0F607AE8-5DE6-493B-AF96-FD74D52218F3}" type="presOf" srcId="{FB91B656-5A38-468A-A76E-86B4ED6D08F1}" destId="{4302BC3C-57DB-47DE-97B3-A55EA511B4CF}" srcOrd="0" destOrd="2" presId="urn:microsoft.com/office/officeart/2005/8/layout/vList5"/>
    <dgm:cxn modelId="{804537EB-4180-4DAF-86BC-98D08FAB46B9}" srcId="{497F9FB7-C298-47BE-9978-3201A3B8F668}" destId="{8A16CE46-105C-4B01-BC80-55AC16F909BC}" srcOrd="1" destOrd="0" parTransId="{67D613A3-DCF9-44AA-8309-536B1EF0480B}" sibTransId="{357E1C31-12AD-4A88-91A7-F73267DCCBC8}"/>
    <dgm:cxn modelId="{094356EB-1A6B-4E25-A755-36A61DC42F37}" type="presOf" srcId="{43F80B48-D81C-40B8-B5BB-3D155250B837}" destId="{51EAAC29-7133-48E2-BA20-1C59C0CE160D}" srcOrd="0" destOrd="2" presId="urn:microsoft.com/office/officeart/2005/8/layout/vList5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  <dgm:cxn modelId="{C3BEF517-D642-46E0-A9E3-72CBF80424A2}" type="presParOf" srcId="{DB7A467F-BFDC-49C3-8BE0-C61C7DFA4AEA}" destId="{D410B08B-CD8E-4239-B699-24916A4D9E40}" srcOrd="7" destOrd="0" presId="urn:microsoft.com/office/officeart/2005/8/layout/vList5"/>
    <dgm:cxn modelId="{63523FB1-AD71-4C1C-BE6F-5A6C00A5B936}" type="presParOf" srcId="{DB7A467F-BFDC-49C3-8BE0-C61C7DFA4AEA}" destId="{2C258886-D1C6-44D4-8CB8-1368952F504F}" srcOrd="8" destOrd="0" presId="urn:microsoft.com/office/officeart/2005/8/layout/vList5"/>
    <dgm:cxn modelId="{288E97FD-2199-4A0C-845A-619773B87D20}" type="presParOf" srcId="{2C258886-D1C6-44D4-8CB8-1368952F504F}" destId="{F572F5F6-6AF4-4EC1-8CD2-23FA228EBB88}" srcOrd="0" destOrd="0" presId="urn:microsoft.com/office/officeart/2005/8/layout/vList5"/>
    <dgm:cxn modelId="{08325F08-12E5-455F-9B73-6283ADD46A97}" type="presParOf" srcId="{2C258886-D1C6-44D4-8CB8-1368952F504F}" destId="{41CCDF27-C149-4F37-BE23-2B304108C3C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US" sz="1800">
              <a:solidFill>
                <a:schemeClr val="tx1"/>
              </a:solidFill>
            </a:rPr>
            <a:t>Product Innovation </a:t>
          </a:r>
          <a:endParaRPr lang="en-AU" sz="1800">
            <a:solidFill>
              <a:schemeClr val="tx1"/>
            </a:solidFill>
          </a:endParaRP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Direct Equities</a:t>
          </a: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Semi Liquid Alternatives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497F9FB7-C298-47BE-9978-3201A3B8F668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Bespoke</a:t>
          </a:r>
        </a:p>
      </dgm:t>
    </dgm:pt>
    <dgm:pt modelId="{4FD6B281-73C7-479C-A544-5ACC4073C823}" type="parTrans" cxnId="{CD062717-32C7-41D9-832A-C3CE40758C5E}">
      <dgm:prSet/>
      <dgm:spPr/>
      <dgm:t>
        <a:bodyPr/>
        <a:lstStyle/>
        <a:p>
          <a:endParaRPr lang="en-AU"/>
        </a:p>
      </dgm:t>
    </dgm:pt>
    <dgm:pt modelId="{FCA20D1C-FE9D-45BF-BA4A-2E2D56E0D92E}" type="sibTrans" cxnId="{CD062717-32C7-41D9-832A-C3CE40758C5E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Conduct independent reviews of KIMI products and provide recommendations.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r>
            <a:rPr lang="en-US" sz="1200" kern="1200"/>
            <a:t>Australian Shares: 20 equal weighted holdings, quant-based. Ex: CBA, ANZ, BHP, CSL.</a:t>
          </a:r>
          <a:endParaRPr lang="en-AU" sz="1200" kern="120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pPr rtl="0"/>
          <a:r>
            <a:rPr lang="en-US" sz="1200" kern="1200"/>
            <a:t>Paper portfolio of </a:t>
          </a:r>
          <a:r>
            <a:rPr lang="en-US" sz="1200" kern="1200">
              <a:latin typeface="Arial" panose="020B0604020202020204"/>
            </a:rPr>
            <a:t>6-10</a:t>
          </a:r>
          <a:r>
            <a:rPr lang="en-US" sz="1200" kern="1200"/>
            <a:t> semi-liquid alternatives, 30-50k min investment per product.</a:t>
          </a:r>
          <a:endParaRPr lang="en-AU" sz="1200" kern="120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8A16CE46-105C-4B01-BC80-55AC16F909BC}">
      <dgm:prSet phldrT="[Text]" custT="1"/>
      <dgm:spPr/>
      <dgm:t>
        <a:bodyPr/>
        <a:lstStyle/>
        <a:p>
          <a:r>
            <a:rPr lang="en-US" sz="1200" kern="1200" baseline="0">
              <a:latin typeface="Arial" panose="020B0604020202020204"/>
              <a:ea typeface="+mn-ea"/>
              <a:cs typeface="+mn-cs"/>
            </a:rPr>
            <a:t>Collaborate with marketing and sales team to construct strategic product distribution partnerships.</a:t>
          </a:r>
          <a:endParaRPr lang="en-AU" sz="1200" kern="1200"/>
        </a:p>
      </dgm:t>
    </dgm:pt>
    <dgm:pt modelId="{67D613A3-DCF9-44AA-8309-536B1EF0480B}" type="parTrans" cxnId="{804537EB-4180-4DAF-86BC-98D08FAB46B9}">
      <dgm:prSet/>
      <dgm:spPr/>
      <dgm:t>
        <a:bodyPr/>
        <a:lstStyle/>
        <a:p>
          <a:endParaRPr lang="en-AU"/>
        </a:p>
      </dgm:t>
    </dgm:pt>
    <dgm:pt modelId="{357E1C31-12AD-4A88-91A7-F73267DCCBC8}" type="sibTrans" cxnId="{804537EB-4180-4DAF-86BC-98D08FAB46B9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US" sz="1800">
              <a:solidFill>
                <a:schemeClr val="tx1"/>
              </a:solidFill>
            </a:rPr>
            <a:t>Separately Managed Portfolios</a:t>
          </a:r>
          <a:endParaRPr lang="en-AU" sz="1800">
            <a:solidFill>
              <a:schemeClr val="tx1"/>
            </a:solidFill>
          </a:endParaRP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F01F3D6B-6515-44A6-B9F7-168DEDEA300A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/>
            <a:ea typeface="+mn-ea"/>
            <a:cs typeface="Arial"/>
          </a:endParaRPr>
        </a:p>
      </dgm:t>
    </dgm:pt>
    <dgm:pt modelId="{CD7AEC4E-2CEE-444B-8624-A0523A976482}" type="parTrans" cxnId="{3E45A864-55A3-4975-AB57-BF0A7A89D81F}">
      <dgm:prSet/>
      <dgm:spPr/>
      <dgm:t>
        <a:bodyPr/>
        <a:lstStyle/>
        <a:p>
          <a:endParaRPr lang="en-AU"/>
        </a:p>
      </dgm:t>
    </dgm:pt>
    <dgm:pt modelId="{26A4E018-90BA-4FBD-A4B0-D6694DF8CEC2}" type="sibTrans" cxnId="{3E45A864-55A3-4975-AB57-BF0A7A89D81F}">
      <dgm:prSet/>
      <dgm:spPr/>
      <dgm:t>
        <a:bodyPr/>
        <a:lstStyle/>
        <a:p>
          <a:endParaRPr lang="en-AU"/>
        </a:p>
      </dgm:t>
    </dgm:pt>
    <dgm:pt modelId="{FB91B656-5A38-468A-A76E-86B4ED6D08F1}">
      <dgm:prSet custT="1"/>
      <dgm:spPr/>
      <dgm:t>
        <a:bodyPr/>
        <a:lstStyle/>
        <a:p>
          <a:r>
            <a:rPr lang="en-US" sz="1200" kern="1200">
              <a:latin typeface="Arial" panose="020B0604020202020204"/>
              <a:ea typeface="+mn-ea"/>
              <a:cs typeface="+mn-cs"/>
            </a:rPr>
            <a:t>International Shares: 40 equal weighted holdings, quant-based. Ex: APPL, GOOGL, NVDA.</a:t>
          </a:r>
        </a:p>
      </dgm:t>
    </dgm:pt>
    <dgm:pt modelId="{F50B25F3-3629-4986-9188-E61CBC2E736C}" type="parTrans" cxnId="{3EA49C99-4321-4308-A298-C0142C7F4EBF}">
      <dgm:prSet/>
      <dgm:spPr/>
      <dgm:t>
        <a:bodyPr/>
        <a:lstStyle/>
        <a:p>
          <a:endParaRPr lang="en-AU"/>
        </a:p>
      </dgm:t>
    </dgm:pt>
    <dgm:pt modelId="{42A91B81-E745-4C72-8104-81B796E9B2CB}" type="sibTrans" cxnId="{3EA49C99-4321-4308-A298-C0142C7F4EBF}">
      <dgm:prSet/>
      <dgm:spPr/>
      <dgm:t>
        <a:bodyPr/>
        <a:lstStyle/>
        <a:p>
          <a:endParaRPr lang="en-AU"/>
        </a:p>
      </dgm:t>
    </dgm:pt>
    <dgm:pt modelId="{322DBE2C-B616-42F7-9568-EC2BABA3E49E}">
      <dgm:prSet custT="1"/>
      <dgm:spPr/>
      <dgm:t>
        <a:bodyPr/>
        <a:lstStyle/>
        <a:p>
          <a:r>
            <a:rPr lang="en-US" sz="1200" kern="1200" baseline="0">
              <a:latin typeface="+mn-lt"/>
              <a:ea typeface="+mn-ea"/>
              <a:cs typeface="+mn-cs"/>
            </a:rPr>
            <a:t>Appropriate for clients who want to deploy 500k on semi-liquid alternatives.</a:t>
          </a:r>
        </a:p>
      </dgm:t>
    </dgm:pt>
    <dgm:pt modelId="{95484C96-8AEB-4310-89A5-B64D5F324ADD}" type="parTrans" cxnId="{CD557A82-AE28-4905-BBFA-EC8AA0122106}">
      <dgm:prSet/>
      <dgm:spPr/>
      <dgm:t>
        <a:bodyPr/>
        <a:lstStyle/>
        <a:p>
          <a:endParaRPr lang="en-AU"/>
        </a:p>
      </dgm:t>
    </dgm:pt>
    <dgm:pt modelId="{DF4ABAC9-EF66-4190-8B06-6F48E4BAC677}" type="sibTrans" cxnId="{CD557A82-AE28-4905-BBFA-EC8AA0122106}">
      <dgm:prSet/>
      <dgm:spPr/>
      <dgm:t>
        <a:bodyPr/>
        <a:lstStyle/>
        <a:p>
          <a:endParaRPr lang="en-AU"/>
        </a:p>
      </dgm:t>
    </dgm:pt>
    <dgm:pt modelId="{84FCAC58-C642-45EE-A6F4-6C9DB99E0FE8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en-US" sz="1200" b="0" i="0" u="none" strike="noStrike" kern="1200" cap="none" normalizeH="0" baseline="0">
            <a:ln/>
            <a:effectLst/>
            <a:latin typeface="Arial"/>
            <a:ea typeface="+mn-ea"/>
            <a:cs typeface="+mn-cs"/>
          </a:endParaRPr>
        </a:p>
      </dgm:t>
    </dgm:pt>
    <dgm:pt modelId="{38B0B416-9B81-4BAA-8928-6423AF3E684C}" type="sibTrans" cxnId="{4D7295CC-3CCB-4139-ABA8-8E3FC0B3544E}">
      <dgm:prSet/>
      <dgm:spPr/>
      <dgm:t>
        <a:bodyPr/>
        <a:lstStyle/>
        <a:p>
          <a:endParaRPr lang="en-AU"/>
        </a:p>
      </dgm:t>
    </dgm:pt>
    <dgm:pt modelId="{C779CAF1-210A-4AA5-8058-2997AC206458}" type="parTrans" cxnId="{4D7295CC-3CCB-4139-ABA8-8E3FC0B3544E}">
      <dgm:prSet/>
      <dgm:spPr/>
      <dgm:t>
        <a:bodyPr/>
        <a:lstStyle/>
        <a:p>
          <a:endParaRPr lang="en-AU"/>
        </a:p>
      </dgm:t>
    </dgm:pt>
    <dgm:pt modelId="{6C236A44-EF64-41D0-B7AA-FBD53A25B667}">
      <dgm:prSet phldrT="[Text]" custT="1"/>
      <dgm:spPr/>
      <dgm:t>
        <a:bodyPr/>
        <a:lstStyle/>
        <a:p>
          <a:r>
            <a:rPr lang="en-US" sz="1200" kern="1200"/>
            <a:t>ESG based investment solutions.</a:t>
          </a:r>
          <a:endParaRPr lang="en-AU" sz="1200" kern="1200"/>
        </a:p>
      </dgm:t>
    </dgm:pt>
    <dgm:pt modelId="{91EF32CF-6F8A-46D7-8851-7A47E7082E9B}" type="parTrans" cxnId="{CC592C5B-9130-48CA-A919-380BDE4697C5}">
      <dgm:prSet/>
      <dgm:spPr/>
      <dgm:t>
        <a:bodyPr/>
        <a:lstStyle/>
        <a:p>
          <a:endParaRPr lang="en-AU"/>
        </a:p>
      </dgm:t>
    </dgm:pt>
    <dgm:pt modelId="{390F7475-771A-4475-9441-9666CDAC9D55}" type="sibTrans" cxnId="{CC592C5B-9130-48CA-A919-380BDE4697C5}">
      <dgm:prSet/>
      <dgm:spPr/>
      <dgm:t>
        <a:bodyPr/>
        <a:lstStyle/>
        <a:p>
          <a:endParaRPr lang="en-AU"/>
        </a:p>
      </dgm:t>
    </dgm:pt>
    <dgm:pt modelId="{1FE7E732-C280-4009-98EF-429C3F23B817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Active and Passive (ETF) SMA’s across different risk profiles, 40%, 55%, 70%, 85% Growth.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6BA89046-F48F-4BEF-B303-1F594E1E332D}" type="parTrans" cxnId="{6CBE1E24-8689-4E5C-B4A9-86AC18D61AED}">
      <dgm:prSet/>
      <dgm:spPr/>
      <dgm:t>
        <a:bodyPr/>
        <a:lstStyle/>
        <a:p>
          <a:endParaRPr lang="en-AU"/>
        </a:p>
      </dgm:t>
    </dgm:pt>
    <dgm:pt modelId="{E6544F52-7A2E-4A0C-95B0-507F0289477F}" type="sibTrans" cxnId="{6CBE1E24-8689-4E5C-B4A9-86AC18D61AED}">
      <dgm:prSet/>
      <dgm:spPr/>
      <dgm:t>
        <a:bodyPr/>
        <a:lstStyle/>
        <a:p>
          <a:endParaRPr lang="en-AU"/>
        </a:p>
      </dgm:t>
    </dgm:pt>
    <dgm:pt modelId="{15BD497B-695F-43C6-A848-01AF73D66D03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A39E3B53-C7EC-473F-88A6-10328106335A}" type="parTrans" cxnId="{CB6BA8F0-87FE-4E83-B812-1BBFD33BDA58}">
      <dgm:prSet/>
      <dgm:spPr/>
      <dgm:t>
        <a:bodyPr/>
        <a:lstStyle/>
        <a:p>
          <a:endParaRPr lang="en-AU"/>
        </a:p>
      </dgm:t>
    </dgm:pt>
    <dgm:pt modelId="{47981448-B046-4AEA-908E-AB73A11E2327}" type="sibTrans" cxnId="{CB6BA8F0-87FE-4E83-B812-1BBFD33BDA58}">
      <dgm:prSet/>
      <dgm:spPr/>
      <dgm:t>
        <a:bodyPr/>
        <a:lstStyle/>
        <a:p>
          <a:endParaRPr lang="en-AU"/>
        </a:p>
      </dgm:t>
    </dgm:pt>
    <dgm:pt modelId="{967D2D09-9797-43F0-91D0-F38A8E76EF8A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Product innovation and management e.g. </a:t>
          </a:r>
          <a:r>
            <a:rPr lang="en-US" sz="1200" kern="1200" err="1">
              <a:latin typeface="Arial" panose="020B0604020202020204"/>
              <a:ea typeface="+mn-ea"/>
              <a:cs typeface="+mn-cs"/>
            </a:rPr>
            <a:t>FoF</a:t>
          </a:r>
          <a:r>
            <a:rPr lang="en-US" sz="1200" kern="1200">
              <a:latin typeface="Arial" panose="020B0604020202020204"/>
              <a:ea typeface="+mn-ea"/>
              <a:cs typeface="+mn-cs"/>
            </a:rPr>
            <a:t> Credit portfolio.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25F6B9DD-1DC8-4B36-B946-9A05D09FE0A6}" type="parTrans" cxnId="{18356290-1310-4436-A331-C862124C6B68}">
      <dgm:prSet/>
      <dgm:spPr/>
      <dgm:t>
        <a:bodyPr/>
        <a:lstStyle/>
        <a:p>
          <a:endParaRPr lang="en-AU"/>
        </a:p>
      </dgm:t>
    </dgm:pt>
    <dgm:pt modelId="{C5EE0875-6511-4B4D-843E-162A052FA27E}" type="sibTrans" cxnId="{18356290-1310-4436-A331-C862124C6B68}">
      <dgm:prSet/>
      <dgm:spPr/>
      <dgm:t>
        <a:bodyPr/>
        <a:lstStyle/>
        <a:p>
          <a:endParaRPr lang="en-AU"/>
        </a:p>
      </dgm:t>
    </dgm:pt>
    <dgm:pt modelId="{EDE701AA-F653-4458-A570-98A940904505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52A74855-C738-4F9F-8DAE-1DDB85B82349}" type="parTrans" cxnId="{0D0E62A0-8ECA-48F3-9448-6EE567172B38}">
      <dgm:prSet/>
      <dgm:spPr/>
      <dgm:t>
        <a:bodyPr/>
        <a:lstStyle/>
        <a:p>
          <a:endParaRPr lang="en-AU"/>
        </a:p>
      </dgm:t>
    </dgm:pt>
    <dgm:pt modelId="{0C98CA90-77FD-4474-A96C-05E37D6A7D2F}" type="sibTrans" cxnId="{0D0E62A0-8ECA-48F3-9448-6EE567172B38}">
      <dgm:prSet/>
      <dgm:spPr/>
      <dgm:t>
        <a:bodyPr/>
        <a:lstStyle/>
        <a:p>
          <a:endParaRPr lang="en-AU"/>
        </a:p>
      </dgm:t>
    </dgm:pt>
    <dgm:pt modelId="{7C02E2F7-4B91-4093-A68D-ACF0804F26D4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Establishment of all inclusive Portfolios inc. Aus Shares, Int Shares, Fixed Income, Real Assets, Alternatives.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C575FFDB-CB89-4348-9EAE-68CE1337A2DE}" type="sibTrans" cxnId="{1AF10005-7594-4EEE-B345-A75D615DB963}">
      <dgm:prSet/>
      <dgm:spPr/>
      <dgm:t>
        <a:bodyPr/>
        <a:lstStyle/>
        <a:p>
          <a:endParaRPr lang="en-AU"/>
        </a:p>
      </dgm:t>
    </dgm:pt>
    <dgm:pt modelId="{D1C5C235-6E78-4AED-9C2B-9C5E887B51D5}" type="parTrans" cxnId="{1AF10005-7594-4EEE-B345-A75D615DB963}">
      <dgm:prSet/>
      <dgm:spPr/>
      <dgm:t>
        <a:bodyPr/>
        <a:lstStyle/>
        <a:p>
          <a:endParaRPr lang="en-AU"/>
        </a:p>
      </dgm:t>
    </dgm:pt>
    <dgm:pt modelId="{219F1FE8-A618-402F-98FF-3E7D4239F7BE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E436C5E2-77C0-454C-9A5E-1C49F3C2C609}" type="sibTrans" cxnId="{D5FDFB98-8187-446C-B690-551D66BF2BD9}">
      <dgm:prSet/>
      <dgm:spPr/>
      <dgm:t>
        <a:bodyPr/>
        <a:lstStyle/>
        <a:p>
          <a:endParaRPr lang="en-AU"/>
        </a:p>
      </dgm:t>
    </dgm:pt>
    <dgm:pt modelId="{672FF6C2-53DE-4426-8FB9-FC305190C8DA}" type="parTrans" cxnId="{D5FDFB98-8187-446C-B690-551D66BF2BD9}">
      <dgm:prSet/>
      <dgm:spPr/>
      <dgm:t>
        <a:bodyPr/>
        <a:lstStyle/>
        <a:p>
          <a:endParaRPr lang="en-AU"/>
        </a:p>
      </dgm:t>
    </dgm:pt>
    <dgm:pt modelId="{4C2776C1-4393-4867-B2D0-2EE3C9B80AC2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Co-ordinate product launches, including DD, market readiness, and strategic execution.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2CB15C2A-6782-4168-AD1F-B3B4A9B0A1B6}" type="parTrans" cxnId="{055FF003-F06A-45C9-AEC8-65B58E57F4B0}">
      <dgm:prSet/>
      <dgm:spPr/>
      <dgm:t>
        <a:bodyPr/>
        <a:lstStyle/>
        <a:p>
          <a:endParaRPr lang="en-AU"/>
        </a:p>
      </dgm:t>
    </dgm:pt>
    <dgm:pt modelId="{5009D21F-1515-4A84-9447-CDA9A63DA158}" type="sibTrans" cxnId="{055FF003-F06A-45C9-AEC8-65B58E57F4B0}">
      <dgm:prSet/>
      <dgm:spPr/>
      <dgm:t>
        <a:bodyPr/>
        <a:lstStyle/>
        <a:p>
          <a:endParaRPr lang="en-AU"/>
        </a:p>
      </dgm:t>
    </dgm:pt>
    <dgm:pt modelId="{C9BFA081-D22F-4BAD-B3EF-541F7BAD1DD3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5AB83D72-1074-453B-9261-3990A7246FF1}" type="parTrans" cxnId="{3828C7E6-50E7-4DE9-A2D5-4175977312E7}">
      <dgm:prSet/>
      <dgm:spPr/>
      <dgm:t>
        <a:bodyPr/>
        <a:lstStyle/>
        <a:p>
          <a:endParaRPr lang="en-AU"/>
        </a:p>
      </dgm:t>
    </dgm:pt>
    <dgm:pt modelId="{0C3AD4B3-537E-4C58-BF22-2907F8AFDD7A}" type="sibTrans" cxnId="{3828C7E6-50E7-4DE9-A2D5-4175977312E7}">
      <dgm:prSet/>
      <dgm:spPr/>
      <dgm:t>
        <a:bodyPr/>
        <a:lstStyle/>
        <a:p>
          <a:endParaRPr lang="en-AU"/>
        </a:p>
      </dgm:t>
    </dgm:pt>
    <dgm:pt modelId="{5D1E0A19-F3C4-4E02-9120-33F3A1F23BB9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91DC6FB5-933C-4990-95F1-4B7ACC153A76}" type="parTrans" cxnId="{FDFF83EC-C5FC-4834-8354-BF3C62BA0FB0}">
      <dgm:prSet/>
      <dgm:spPr/>
      <dgm:t>
        <a:bodyPr/>
        <a:lstStyle/>
        <a:p>
          <a:endParaRPr lang="en-AU"/>
        </a:p>
      </dgm:t>
    </dgm:pt>
    <dgm:pt modelId="{16A9EBB1-B1EC-4E4D-90CE-5FD0F821A0F2}" type="sibTrans" cxnId="{FDFF83EC-C5FC-4834-8354-BF3C62BA0FB0}">
      <dgm:prSet/>
      <dgm:spPr/>
      <dgm:t>
        <a:bodyPr/>
        <a:lstStyle/>
        <a:p>
          <a:endParaRPr lang="en-AU"/>
        </a:p>
      </dgm:t>
    </dgm:pt>
    <dgm:pt modelId="{C7EB807B-6FD7-4415-BAFB-FDE8FD95B0F5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Provide on-going investment performance monitoring, benchmarking and product enhancements.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7A6A534A-4996-498E-8143-E7D936C9CAF3}" type="parTrans" cxnId="{DEABD5AB-94F6-4D46-9668-E49C77DBBA27}">
      <dgm:prSet/>
      <dgm:spPr/>
      <dgm:t>
        <a:bodyPr/>
        <a:lstStyle/>
        <a:p>
          <a:endParaRPr lang="en-AU"/>
        </a:p>
      </dgm:t>
    </dgm:pt>
    <dgm:pt modelId="{C58A7294-B2D4-4B29-B4B6-506F6945DCD8}" type="sibTrans" cxnId="{DEABD5AB-94F6-4D46-9668-E49C77DBBA27}">
      <dgm:prSet/>
      <dgm:spPr/>
      <dgm:t>
        <a:bodyPr/>
        <a:lstStyle/>
        <a:p>
          <a:endParaRPr lang="en-AU"/>
        </a:p>
      </dgm:t>
    </dgm:pt>
    <dgm:pt modelId="{F270BE2E-E7CA-4457-867C-E0B1B27D873C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D6577F3E-0B82-4CE2-94C4-F60FD975EB85}" type="parTrans" cxnId="{CE49F4D2-A6F3-4C9F-AD95-3D8C3EF6422F}">
      <dgm:prSet/>
      <dgm:spPr/>
      <dgm:t>
        <a:bodyPr/>
        <a:lstStyle/>
        <a:p>
          <a:endParaRPr lang="en-AU"/>
        </a:p>
      </dgm:t>
    </dgm:pt>
    <dgm:pt modelId="{317F692C-1822-4966-870B-58874D7667F4}" type="sibTrans" cxnId="{CE49F4D2-A6F3-4C9F-AD95-3D8C3EF6422F}">
      <dgm:prSet/>
      <dgm:spPr/>
      <dgm:t>
        <a:bodyPr/>
        <a:lstStyle/>
        <a:p>
          <a:endParaRPr lang="en-AU"/>
        </a:p>
      </dgm:t>
    </dgm:pt>
    <dgm:pt modelId="{2577454E-8970-4B25-9739-90E97DBF92BE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425A3A1B-14EC-4547-B112-9AF5F70A2323}" type="parTrans" cxnId="{1EE14C48-8B05-4D50-B4F6-5C858B81B5D8}">
      <dgm:prSet/>
      <dgm:spPr/>
      <dgm:t>
        <a:bodyPr/>
        <a:lstStyle/>
        <a:p>
          <a:endParaRPr lang="en-AU"/>
        </a:p>
      </dgm:t>
    </dgm:pt>
    <dgm:pt modelId="{7D1EE065-59C8-46C2-9DCE-1468411C94A3}" type="sibTrans" cxnId="{1EE14C48-8B05-4D50-B4F6-5C858B81B5D8}">
      <dgm:prSet/>
      <dgm:spPr/>
      <dgm:t>
        <a:bodyPr/>
        <a:lstStyle/>
        <a:p>
          <a:endParaRPr lang="en-AU"/>
        </a:p>
      </dgm:t>
    </dgm:pt>
    <dgm:pt modelId="{73107733-6C34-486E-BC45-B527B233DA25}">
      <dgm:prSet phldrT="[Text]" custT="1"/>
      <dgm:spPr/>
      <dgm:t>
        <a:bodyPr/>
        <a:lstStyle/>
        <a:p>
          <a:r>
            <a:rPr lang="en-US" sz="1200" kern="1200" baseline="0">
              <a:latin typeface="Arial" panose="020B0604020202020204"/>
              <a:ea typeface="+mn-ea"/>
              <a:cs typeface="+mn-cs"/>
            </a:rPr>
            <a:t>Regional based investment solutions.</a:t>
          </a:r>
          <a:endParaRPr lang="en-AU" sz="1200" kern="1200"/>
        </a:p>
      </dgm:t>
    </dgm:pt>
    <dgm:pt modelId="{2B8BB6C9-D5F1-494D-A0F9-735631AF18C6}" type="parTrans" cxnId="{95FEA0B1-5EBD-4B97-9AF9-7771C1B7A97F}">
      <dgm:prSet/>
      <dgm:spPr/>
      <dgm:t>
        <a:bodyPr/>
        <a:lstStyle/>
        <a:p>
          <a:endParaRPr lang="en-AU"/>
        </a:p>
      </dgm:t>
    </dgm:pt>
    <dgm:pt modelId="{972D3A1E-C5A0-4759-9C61-315C24759D8B}" type="sibTrans" cxnId="{95FEA0B1-5EBD-4B97-9AF9-7771C1B7A97F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5" custScaleX="100769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5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5" custScaleY="101143" custLinFactNeighborY="-19090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5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5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5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5">
        <dgm:presLayoutVars>
          <dgm:bulletEnabled val="1"/>
        </dgm:presLayoutVars>
      </dgm:prSet>
      <dgm:spPr/>
    </dgm:pt>
    <dgm:pt modelId="{D410B08B-CD8E-4239-B699-24916A4D9E40}" type="pres">
      <dgm:prSet presAssocID="{8F2E44D2-A6DC-40BC-BBF8-2FEFD1FDFA99}" presName="sp" presStyleCnt="0"/>
      <dgm:spPr/>
    </dgm:pt>
    <dgm:pt modelId="{2C258886-D1C6-44D4-8CB8-1368952F504F}" type="pres">
      <dgm:prSet presAssocID="{497F9FB7-C298-47BE-9978-3201A3B8F668}" presName="linNode" presStyleCnt="0"/>
      <dgm:spPr/>
    </dgm:pt>
    <dgm:pt modelId="{F572F5F6-6AF4-4EC1-8CD2-23FA228EBB88}" type="pres">
      <dgm:prSet presAssocID="{497F9FB7-C298-47BE-9978-3201A3B8F668}" presName="parentText" presStyleLbl="node1" presStyleIdx="4" presStyleCnt="5">
        <dgm:presLayoutVars>
          <dgm:chMax val="1"/>
          <dgm:bulletEnabled val="1"/>
        </dgm:presLayoutVars>
      </dgm:prSet>
      <dgm:spPr>
        <a:xfrm>
          <a:off x="0" y="2852254"/>
          <a:ext cx="4026239" cy="679007"/>
        </a:xfrm>
        <a:prstGeom prst="roundRect">
          <a:avLst/>
        </a:prstGeom>
      </dgm:spPr>
    </dgm:pt>
    <dgm:pt modelId="{41CCDF27-C149-4F37-BE23-2B304108C3C2}" type="pres">
      <dgm:prSet presAssocID="{497F9FB7-C298-47BE-9978-3201A3B8F668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055FF003-F06A-45C9-AEC8-65B58E57F4B0}" srcId="{AA9211D3-58F5-489C-A0E6-EB2C7F48F056}" destId="{4C2776C1-4393-4867-B2D0-2EE3C9B80AC2}" srcOrd="4" destOrd="0" parTransId="{2CB15C2A-6782-4168-AD1F-B3B4A9B0A1B6}" sibTransId="{5009D21F-1515-4A84-9447-CDA9A63DA158}"/>
    <dgm:cxn modelId="{1AF10005-7594-4EEE-B345-A75D615DB963}" srcId="{D516ECE9-BCB2-427B-B4C7-DEBFD86EB069}" destId="{7C02E2F7-4B91-4093-A68D-ACF0804F26D4}" srcOrd="2" destOrd="0" parTransId="{D1C5C235-6E78-4AED-9C2B-9C5E887B51D5}" sibTransId="{C575FFDB-CB89-4348-9EAE-68CE1337A2DE}"/>
    <dgm:cxn modelId="{CD062717-32C7-41D9-832A-C3CE40758C5E}" srcId="{3B2D9394-266F-4A46-9530-736575DAA20F}" destId="{497F9FB7-C298-47BE-9978-3201A3B8F668}" srcOrd="4" destOrd="0" parTransId="{4FD6B281-73C7-479C-A544-5ACC4073C823}" sibTransId="{FCA20D1C-FE9D-45BF-BA4A-2E2D56E0D92E}"/>
    <dgm:cxn modelId="{205AA719-7BB4-4B1D-BAAA-FCAB0A86D012}" type="presOf" srcId="{C7EB807B-6FD7-4415-BAFB-FDE8FD95B0F5}" destId="{51EAAC29-7133-48E2-BA20-1C59C0CE160D}" srcOrd="0" destOrd="5" presId="urn:microsoft.com/office/officeart/2005/8/layout/vList5"/>
    <dgm:cxn modelId="{DD8E531E-EE05-436B-86FD-33922D837630}" type="presOf" srcId="{8A16CE46-105C-4B01-BC80-55AC16F909BC}" destId="{41CCDF27-C149-4F37-BE23-2B304108C3C2}" srcOrd="0" destOrd="0" presId="urn:microsoft.com/office/officeart/2005/8/layout/vList5"/>
    <dgm:cxn modelId="{792DD523-54D6-431A-AC73-667129C53062}" type="presOf" srcId="{6C236A44-EF64-41D0-B7AA-FBD53A25B667}" destId="{41CCDF27-C149-4F37-BE23-2B304108C3C2}" srcOrd="0" destOrd="2" presId="urn:microsoft.com/office/officeart/2005/8/layout/vList5"/>
    <dgm:cxn modelId="{6CBE1E24-8689-4E5C-B4A9-86AC18D61AED}" srcId="{D516ECE9-BCB2-427B-B4C7-DEBFD86EB069}" destId="{1FE7E732-C280-4009-98EF-429C3F23B817}" srcOrd="3" destOrd="0" parTransId="{6BA89046-F48F-4BEF-B303-1F594E1E332D}" sibTransId="{E6544F52-7A2E-4A0C-95B0-507F0289477F}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3" presId="urn:microsoft.com/office/officeart/2005/8/layout/vList5"/>
    <dgm:cxn modelId="{B6E5A438-D297-45E2-ACD6-C71196752F9B}" type="presOf" srcId="{219F1FE8-A618-402F-98FF-3E7D4239F7BE}" destId="{5D3C169D-592D-43B3-96A2-E2AF00F98FCB}" srcOrd="0" destOrd="1" presId="urn:microsoft.com/office/officeart/2005/8/layout/vList5"/>
    <dgm:cxn modelId="{CC592C5B-9130-48CA-A919-380BDE4697C5}" srcId="{497F9FB7-C298-47BE-9978-3201A3B8F668}" destId="{6C236A44-EF64-41D0-B7AA-FBD53A25B667}" srcOrd="2" destOrd="0" parTransId="{91EF32CF-6F8A-46D7-8851-7A47E7082E9B}" sibTransId="{390F7475-771A-4475-9441-9666CDAC9D55}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3E45A864-55A3-4975-AB57-BF0A7A89D81F}" srcId="{AA9211D3-58F5-489C-A0E6-EB2C7F48F056}" destId="{F01F3D6B-6515-44A6-B9F7-168DEDEA300A}" srcOrd="8" destOrd="0" parTransId="{CD7AEC4E-2CEE-444B-8624-A0523A976482}" sibTransId="{26A4E018-90BA-4FBD-A4B0-D6694DF8CEC2}"/>
    <dgm:cxn modelId="{63F30E48-3F70-45E2-817A-2BE49C5071E0}" type="presOf" srcId="{497F9FB7-C298-47BE-9978-3201A3B8F668}" destId="{F572F5F6-6AF4-4EC1-8CD2-23FA228EBB88}" srcOrd="0" destOrd="0" presId="urn:microsoft.com/office/officeart/2005/8/layout/vList5"/>
    <dgm:cxn modelId="{244E1168-E92A-42FC-9C49-0161F4460388}" type="presOf" srcId="{C9BFA081-D22F-4BAD-B3EF-541F7BAD1DD3}" destId="{51EAAC29-7133-48E2-BA20-1C59C0CE160D}" srcOrd="0" destOrd="6" presId="urn:microsoft.com/office/officeart/2005/8/layout/vList5"/>
    <dgm:cxn modelId="{1EE14C48-8B05-4D50-B4F6-5C858B81B5D8}" srcId="{AA9211D3-58F5-489C-A0E6-EB2C7F48F056}" destId="{2577454E-8970-4B25-9739-90E97DBF92BE}" srcOrd="2" destOrd="0" parTransId="{425A3A1B-14EC-4547-B112-9AF5F70A2323}" sibTransId="{7D1EE065-59C8-46C2-9DCE-1468411C94A3}"/>
    <dgm:cxn modelId="{C49C616A-0098-4CBE-A587-DE5F93815E31}" type="presOf" srcId="{967D2D09-9797-43F0-91D0-F38A8E76EF8A}" destId="{5D3C169D-592D-43B3-96A2-E2AF00F98FCB}" srcOrd="0" destOrd="4" presId="urn:microsoft.com/office/officeart/2005/8/layout/vList5"/>
    <dgm:cxn modelId="{D4C91D6E-9EBB-4161-B271-829A61EA83F5}" type="presOf" srcId="{F01F3D6B-6515-44A6-B9F7-168DEDEA300A}" destId="{51EAAC29-7133-48E2-BA20-1C59C0CE160D}" srcOrd="0" destOrd="8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B1373973-B168-4913-B7BE-C3BA7B58E325}" type="presOf" srcId="{73107733-6C34-486E-BC45-B527B233DA25}" destId="{41CCDF27-C149-4F37-BE23-2B304108C3C2}" srcOrd="0" destOrd="1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A975981-0CEF-4F9A-944E-F728C6B86238}" type="presOf" srcId="{EDE701AA-F653-4458-A570-98A940904505}" destId="{51EAAC29-7133-48E2-BA20-1C59C0CE160D}" srcOrd="0" destOrd="7" presId="urn:microsoft.com/office/officeart/2005/8/layout/vList5"/>
    <dgm:cxn modelId="{CD557A82-AE28-4905-BBFA-EC8AA0122106}" srcId="{12E69C22-CF89-414C-BBB7-E78EA5EFF4F3}" destId="{322DBE2C-B616-42F7-9568-EC2BABA3E49E}" srcOrd="1" destOrd="0" parTransId="{95484C96-8AEB-4310-89A5-B64D5F324ADD}" sibTransId="{DF4ABAC9-EF66-4190-8B06-6F48E4BAC677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18356290-1310-4436-A331-C862124C6B68}" srcId="{D516ECE9-BCB2-427B-B4C7-DEBFD86EB069}" destId="{967D2D09-9797-43F0-91D0-F38A8E76EF8A}" srcOrd="4" destOrd="0" parTransId="{25F6B9DD-1DC8-4B36-B946-9A05D09FE0A6}" sibTransId="{C5EE0875-6511-4B4D-843E-162A052FA27E}"/>
    <dgm:cxn modelId="{37CFB794-B827-4AB6-ACAA-62F8A6A9AE4C}" srcId="{AA9211D3-58F5-489C-A0E6-EB2C7F48F056}" destId="{1806FC8D-0BEE-4F66-8DE8-E03D301FB8F1}" srcOrd="3" destOrd="0" parTransId="{E14C58B4-14A1-46FB-AD68-918EBB8C52F3}" sibTransId="{E3EBCC27-B80E-426E-B05C-532283685D85}"/>
    <dgm:cxn modelId="{A2EAA596-A1F0-4F3D-B67F-97DDBECD2509}" type="presOf" srcId="{7C02E2F7-4B91-4093-A68D-ACF0804F26D4}" destId="{5D3C169D-592D-43B3-96A2-E2AF00F98FCB}" srcOrd="0" destOrd="2" presId="urn:microsoft.com/office/officeart/2005/8/layout/vList5"/>
    <dgm:cxn modelId="{23C76797-3F65-4F1A-BBB8-FA3B916CFCD9}" type="presOf" srcId="{4C2776C1-4393-4867-B2D0-2EE3C9B80AC2}" destId="{51EAAC29-7133-48E2-BA20-1C59C0CE160D}" srcOrd="0" destOrd="4" presId="urn:microsoft.com/office/officeart/2005/8/layout/vList5"/>
    <dgm:cxn modelId="{D5FDFB98-8187-446C-B690-551D66BF2BD9}" srcId="{D516ECE9-BCB2-427B-B4C7-DEBFD86EB069}" destId="{219F1FE8-A618-402F-98FF-3E7D4239F7BE}" srcOrd="1" destOrd="0" parTransId="{672FF6C2-53DE-4426-8FB9-FC305190C8DA}" sibTransId="{E436C5E2-77C0-454C-9A5E-1C49F3C2C609}"/>
    <dgm:cxn modelId="{3EA49C99-4321-4308-A298-C0142C7F4EBF}" srcId="{5708EEB3-DE51-433B-A60F-872B7852BCD2}" destId="{FB91B656-5A38-468A-A76E-86B4ED6D08F1}" srcOrd="1" destOrd="0" parTransId="{F50B25F3-3629-4986-9188-E61CBC2E736C}" sibTransId="{42A91B81-E745-4C72-8104-81B796E9B2CB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0D0E62A0-8ECA-48F3-9448-6EE567172B38}" srcId="{AA9211D3-58F5-489C-A0E6-EB2C7F48F056}" destId="{EDE701AA-F653-4458-A570-98A940904505}" srcOrd="7" destOrd="0" parTransId="{52A74855-C738-4F9F-8DAE-1DDB85B82349}" sibTransId="{0C98CA90-77FD-4474-A96C-05E37D6A7D2F}"/>
    <dgm:cxn modelId="{DEABD5AB-94F6-4D46-9668-E49C77DBBA27}" srcId="{AA9211D3-58F5-489C-A0E6-EB2C7F48F056}" destId="{C7EB807B-6FD7-4415-BAFB-FDE8FD95B0F5}" srcOrd="5" destOrd="0" parTransId="{7A6A534A-4996-498E-8143-E7D936C9CAF3}" sibTransId="{C58A7294-B2D4-4B29-B4B6-506F6945DCD8}"/>
    <dgm:cxn modelId="{A11E16AD-C8FA-4570-8F0B-48B7D1D2E794}" type="presOf" srcId="{84FCAC58-C642-45EE-A6F4-6C9DB99E0FE8}" destId="{5D3C169D-592D-43B3-96A2-E2AF00F98FCB}" srcOrd="0" destOrd="6" presId="urn:microsoft.com/office/officeart/2005/8/layout/vList5"/>
    <dgm:cxn modelId="{95FEA0B1-5EBD-4B97-9AF9-7771C1B7A97F}" srcId="{497F9FB7-C298-47BE-9978-3201A3B8F668}" destId="{73107733-6C34-486E-BC45-B527B233DA25}" srcOrd="1" destOrd="0" parTransId="{2B8BB6C9-D5F1-494D-A0F9-735631AF18C6}" sibTransId="{972D3A1E-C5A0-4759-9C61-315C24759D8B}"/>
    <dgm:cxn modelId="{1C4D6AB7-CB7F-4B98-B812-D0F35AD762D3}" type="presOf" srcId="{2577454E-8970-4B25-9739-90E97DBF92BE}" destId="{51EAAC29-7133-48E2-BA20-1C59C0CE160D}" srcOrd="0" destOrd="2" presId="urn:microsoft.com/office/officeart/2005/8/layout/vList5"/>
    <dgm:cxn modelId="{4B444ABC-17EA-4ADA-944A-A5165ABBC783}" type="presOf" srcId="{322DBE2C-B616-42F7-9568-EC2BABA3E49E}" destId="{CC9BA2DD-C916-4847-89FF-21DD6BD06D62}" srcOrd="0" destOrd="1" presId="urn:microsoft.com/office/officeart/2005/8/layout/vList5"/>
    <dgm:cxn modelId="{804631C1-E0BD-4296-8B7F-8408985351B3}" type="presOf" srcId="{15BD497B-695F-43C6-A848-01AF73D66D03}" destId="{5D3C169D-592D-43B3-96A2-E2AF00F98FCB}" srcOrd="0" destOrd="5" presId="urn:microsoft.com/office/officeart/2005/8/layout/vList5"/>
    <dgm:cxn modelId="{4D7295CC-3CCB-4139-ABA8-8E3FC0B3544E}" srcId="{D516ECE9-BCB2-427B-B4C7-DEBFD86EB069}" destId="{84FCAC58-C642-45EE-A6F4-6C9DB99E0FE8}" srcOrd="6" destOrd="0" parTransId="{C779CAF1-210A-4AA5-8058-2997AC206458}" sibTransId="{38B0B416-9B81-4BAA-8928-6423AF3E684C}"/>
    <dgm:cxn modelId="{CE49F4D2-A6F3-4C9F-AD95-3D8C3EF6422F}" srcId="{AA9211D3-58F5-489C-A0E6-EB2C7F48F056}" destId="{F270BE2E-E7CA-4457-867C-E0B1B27D873C}" srcOrd="1" destOrd="0" parTransId="{D6577F3E-0B82-4CE2-94C4-F60FD975EB85}" sibTransId="{317F692C-1822-4966-870B-58874D7667F4}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3828C7E6-50E7-4DE9-A2D5-4175977312E7}" srcId="{AA9211D3-58F5-489C-A0E6-EB2C7F48F056}" destId="{C9BFA081-D22F-4BAD-B3EF-541F7BAD1DD3}" srcOrd="6" destOrd="0" parTransId="{5AB83D72-1074-453B-9261-3990A7246FF1}" sibTransId="{0C3AD4B3-537E-4C58-BF22-2907F8AFDD7A}"/>
    <dgm:cxn modelId="{0F607AE8-5DE6-493B-AF96-FD74D52218F3}" type="presOf" srcId="{FB91B656-5A38-468A-A76E-86B4ED6D08F1}" destId="{4302BC3C-57DB-47DE-97B3-A55EA511B4CF}" srcOrd="0" destOrd="1" presId="urn:microsoft.com/office/officeart/2005/8/layout/vList5"/>
    <dgm:cxn modelId="{804537EB-4180-4DAF-86BC-98D08FAB46B9}" srcId="{497F9FB7-C298-47BE-9978-3201A3B8F668}" destId="{8A16CE46-105C-4B01-BC80-55AC16F909BC}" srcOrd="0" destOrd="0" parTransId="{67D613A3-DCF9-44AA-8309-536B1EF0480B}" sibTransId="{357E1C31-12AD-4A88-91A7-F73267DCCBC8}"/>
    <dgm:cxn modelId="{FDFF83EC-C5FC-4834-8354-BF3C62BA0FB0}" srcId="{AA9211D3-58F5-489C-A0E6-EB2C7F48F056}" destId="{5D1E0A19-F3C4-4E02-9120-33F3A1F23BB9}" srcOrd="0" destOrd="0" parTransId="{91DC6FB5-933C-4990-95F1-4B7ACC153A76}" sibTransId="{16A9EBB1-B1EC-4E4D-90CE-5FD0F821A0F2}"/>
    <dgm:cxn modelId="{CB6BA8F0-87FE-4E83-B812-1BBFD33BDA58}" srcId="{D516ECE9-BCB2-427B-B4C7-DEBFD86EB069}" destId="{15BD497B-695F-43C6-A848-01AF73D66D03}" srcOrd="5" destOrd="0" parTransId="{A39E3B53-C7EC-473F-88A6-10328106335A}" sibTransId="{47981448-B046-4AEA-908E-AB73A11E2327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06A10AF6-6935-4008-BA32-3E16AE8D833C}" type="presOf" srcId="{5D1E0A19-F3C4-4E02-9120-33F3A1F23BB9}" destId="{51EAAC29-7133-48E2-BA20-1C59C0CE160D}" srcOrd="0" destOrd="0" presId="urn:microsoft.com/office/officeart/2005/8/layout/vList5"/>
    <dgm:cxn modelId="{735166F9-0D42-4517-8D34-595AD682396F}" type="presOf" srcId="{F270BE2E-E7CA-4457-867C-E0B1B27D873C}" destId="{51EAAC29-7133-48E2-BA20-1C59C0CE160D}" srcOrd="0" destOrd="1" presId="urn:microsoft.com/office/officeart/2005/8/layout/vList5"/>
    <dgm:cxn modelId="{ACB57BFC-D7BE-4D19-930C-00AAAC7D5F4C}" type="presOf" srcId="{1FE7E732-C280-4009-98EF-429C3F23B817}" destId="{5D3C169D-592D-43B3-96A2-E2AF00F98FCB}" srcOrd="0" destOrd="3" presId="urn:microsoft.com/office/officeart/2005/8/layout/vList5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  <dgm:cxn modelId="{C3BEF517-D642-46E0-A9E3-72CBF80424A2}" type="presParOf" srcId="{DB7A467F-BFDC-49C3-8BE0-C61C7DFA4AEA}" destId="{D410B08B-CD8E-4239-B699-24916A4D9E40}" srcOrd="7" destOrd="0" presId="urn:microsoft.com/office/officeart/2005/8/layout/vList5"/>
    <dgm:cxn modelId="{63523FB1-AD71-4C1C-BE6F-5A6C00A5B936}" type="presParOf" srcId="{DB7A467F-BFDC-49C3-8BE0-C61C7DFA4AEA}" destId="{2C258886-D1C6-44D4-8CB8-1368952F504F}" srcOrd="8" destOrd="0" presId="urn:microsoft.com/office/officeart/2005/8/layout/vList5"/>
    <dgm:cxn modelId="{288E97FD-2199-4A0C-845A-619773B87D20}" type="presParOf" srcId="{2C258886-D1C6-44D4-8CB8-1368952F504F}" destId="{F572F5F6-6AF4-4EC1-8CD2-23FA228EBB88}" srcOrd="0" destOrd="0" presId="urn:microsoft.com/office/officeart/2005/8/layout/vList5"/>
    <dgm:cxn modelId="{08325F08-12E5-455F-9B73-6283ADD46A97}" type="presParOf" srcId="{2C258886-D1C6-44D4-8CB8-1368952F504F}" destId="{41CCDF27-C149-4F37-BE23-2B304108C3C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Investment Committee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Custom Indices</a:t>
          </a: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Peer Analysis &amp; Ranking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497F9FB7-C298-47BE-9978-3201A3B8F668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Attribution &amp; Contribution Data</a:t>
          </a:r>
        </a:p>
      </dgm:t>
    </dgm:pt>
    <dgm:pt modelId="{4FD6B281-73C7-479C-A544-5ACC4073C823}" type="parTrans" cxnId="{CD062717-32C7-41D9-832A-C3CE40758C5E}">
      <dgm:prSet/>
      <dgm:spPr/>
      <dgm:t>
        <a:bodyPr/>
        <a:lstStyle/>
        <a:p>
          <a:endParaRPr lang="en-AU"/>
        </a:p>
      </dgm:t>
    </dgm:pt>
    <dgm:pt modelId="{FCA20D1C-FE9D-45BF-BA4A-2E2D56E0D92E}" type="sibTrans" cxnId="{CD062717-32C7-41D9-832A-C3CE40758C5E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Independent expertise, advice, oversight.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r>
            <a:rPr lang="en-US" sz="1200" dirty="0"/>
            <a:t>Measurement of performance against a benchmark aligned to a specific strategy / theme.</a:t>
          </a:r>
          <a:endParaRPr lang="en-AU" sz="1200" dirty="0"/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r>
            <a:rPr lang="en-US" sz="1200"/>
            <a:t>Marketing tool to showcase outperformance and adviser value-add.</a:t>
          </a:r>
          <a:endParaRPr lang="en-AU" sz="120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8A16CE46-105C-4B01-BC80-55AC16F909BC}">
      <dgm:prSet phldrT="[Text]" custT="1"/>
      <dgm:spPr/>
      <dgm:t>
        <a:bodyPr/>
        <a:lstStyle/>
        <a:p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Breaks down performance drivers by asset class, manager</a:t>
          </a:r>
          <a:r>
            <a:rPr lang="en-US" altLang="en-US" sz="1200" kern="1200" dirty="0">
              <a:latin typeface="Arial" panose="020B0604020202020204" pitchFamily="34" charset="0"/>
            </a:rPr>
            <a:t>, or strategy.</a:t>
          </a:r>
          <a:endParaRPr lang="en-AU" sz="1200" kern="1200" dirty="0"/>
        </a:p>
      </dgm:t>
    </dgm:pt>
    <dgm:pt modelId="{67D613A3-DCF9-44AA-8309-536B1EF0480B}" type="parTrans" cxnId="{804537EB-4180-4DAF-86BC-98D08FAB46B9}">
      <dgm:prSet/>
      <dgm:spPr/>
      <dgm:t>
        <a:bodyPr/>
        <a:lstStyle/>
        <a:p>
          <a:endParaRPr lang="en-AU"/>
        </a:p>
      </dgm:t>
    </dgm:pt>
    <dgm:pt modelId="{357E1C31-12AD-4A88-91A7-F73267DCCBC8}" type="sibTrans" cxnId="{804537EB-4180-4DAF-86BC-98D08FAB46B9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White Papers</a:t>
          </a: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Positioning advisers as intellectual thought leaders on relevant topics.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F01F3D6B-6515-44A6-B9F7-168DEDEA300A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Strategic and Tactical Asset Allocation Advice + Regime analysis. 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CD7AEC4E-2CEE-444B-8624-A0523A976482}" type="parTrans" cxnId="{3E45A864-55A3-4975-AB57-BF0A7A89D81F}">
      <dgm:prSet/>
      <dgm:spPr/>
      <dgm:t>
        <a:bodyPr/>
        <a:lstStyle/>
        <a:p>
          <a:endParaRPr lang="en-AU"/>
        </a:p>
      </dgm:t>
    </dgm:pt>
    <dgm:pt modelId="{26A4E018-90BA-4FBD-A4B0-D6694DF8CEC2}" type="sibTrans" cxnId="{3E45A864-55A3-4975-AB57-BF0A7A89D81F}">
      <dgm:prSet/>
      <dgm:spPr/>
      <dgm:t>
        <a:bodyPr/>
        <a:lstStyle/>
        <a:p>
          <a:endParaRPr lang="en-AU"/>
        </a:p>
      </dgm:t>
    </dgm:pt>
    <dgm:pt modelId="{FFD4B02D-1408-4441-A11F-190FF754B4F0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Increase credibility, via deep dive analysis on requested investments / thematics.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gm:t>
    </dgm:pt>
    <dgm:pt modelId="{D534F754-7A51-4B14-8026-A90ECFCF943B}" type="parTrans" cxnId="{B6B73053-482F-4898-82B4-E70CC1F52328}">
      <dgm:prSet/>
      <dgm:spPr/>
      <dgm:t>
        <a:bodyPr/>
        <a:lstStyle/>
        <a:p>
          <a:endParaRPr lang="en-AU"/>
        </a:p>
      </dgm:t>
    </dgm:pt>
    <dgm:pt modelId="{25A60AC4-436B-4B66-933D-4CEDC85D7D82}" type="sibTrans" cxnId="{B6B73053-482F-4898-82B4-E70CC1F52328}">
      <dgm:prSet/>
      <dgm:spPr/>
      <dgm:t>
        <a:bodyPr/>
        <a:lstStyle/>
        <a:p>
          <a:endParaRPr lang="en-AU"/>
        </a:p>
      </dgm:t>
    </dgm:pt>
    <dgm:pt modelId="{44B580EF-F2D5-4F58-82E0-D84199344FC1}">
      <dgm:prSet custT="1"/>
      <dgm:spPr/>
      <dgm:t>
        <a:bodyPr/>
        <a:lstStyle/>
        <a:p>
          <a:r>
            <a:rPr lang="en-US" sz="1200">
              <a:latin typeface="Arial" panose="020B0604020202020204"/>
            </a:rPr>
            <a:t>Supports compliance with APRA Prudential Standards .</a:t>
          </a:r>
          <a:endParaRPr lang="en-AU" sz="1200">
            <a:latin typeface="Arial" panose="020B0604020202020204"/>
            <a:ea typeface="+mn-ea"/>
            <a:cs typeface="+mn-cs"/>
          </a:endParaRPr>
        </a:p>
      </dgm:t>
    </dgm:pt>
    <dgm:pt modelId="{AF298583-6FC7-4033-86CE-A28A11021671}" type="parTrans" cxnId="{3D078C65-0ECD-4BAD-946F-941ECC1F0BF4}">
      <dgm:prSet/>
      <dgm:spPr/>
      <dgm:t>
        <a:bodyPr/>
        <a:lstStyle/>
        <a:p>
          <a:endParaRPr lang="en-AU"/>
        </a:p>
      </dgm:t>
    </dgm:pt>
    <dgm:pt modelId="{BCC723BD-0504-47B3-880C-2E76782CDCFA}" type="sibTrans" cxnId="{3D078C65-0ECD-4BAD-946F-941ECC1F0BF4}">
      <dgm:prSet/>
      <dgm:spPr/>
      <dgm:t>
        <a:bodyPr/>
        <a:lstStyle/>
        <a:p>
          <a:endParaRPr lang="en-AU"/>
        </a:p>
      </dgm:t>
    </dgm:pt>
    <dgm:pt modelId="{A408B32F-0446-4A9D-974D-2EA05AEEEBCF}">
      <dgm:prSet phldrT="[Text]" custT="1"/>
      <dgm:spPr/>
      <dgm:t>
        <a:bodyPr/>
        <a:lstStyle/>
        <a:p>
          <a:r>
            <a:rPr lang="en-US" sz="1200"/>
            <a:t>Product analysis / comparator tools.</a:t>
          </a:r>
          <a:endParaRPr lang="en-AU" sz="1200"/>
        </a:p>
      </dgm:t>
    </dgm:pt>
    <dgm:pt modelId="{CFD2030F-BAD7-439B-B50E-8B9DDAFBB71F}" type="parTrans" cxnId="{E8AAFD09-1645-46A0-854D-CB121BB92425}">
      <dgm:prSet/>
      <dgm:spPr/>
      <dgm:t>
        <a:bodyPr/>
        <a:lstStyle/>
        <a:p>
          <a:endParaRPr lang="en-AU"/>
        </a:p>
      </dgm:t>
    </dgm:pt>
    <dgm:pt modelId="{C417F80F-02EA-4881-8C6C-E78ADC231EC0}" type="sibTrans" cxnId="{E8AAFD09-1645-46A0-854D-CB121BB92425}">
      <dgm:prSet/>
      <dgm:spPr/>
      <dgm:t>
        <a:bodyPr/>
        <a:lstStyle/>
        <a:p>
          <a:endParaRPr lang="en-AU"/>
        </a:p>
      </dgm:t>
    </dgm:pt>
    <dgm:pt modelId="{8D285160-CF40-4E93-806E-8F5B8A5C276C}">
      <dgm:prSet custT="1"/>
      <dgm:spPr/>
      <dgm:t>
        <a:bodyPr/>
        <a:lstStyle/>
        <a:p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Supports IC decisions and helps advisers explain “what worked, what didn’t” to clients.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0C89F4EC-886F-4FFC-8E11-8104EFC6B5B6}" type="parTrans" cxnId="{6C9A307D-780B-4109-BB54-498125F758D6}">
      <dgm:prSet/>
      <dgm:spPr/>
      <dgm:t>
        <a:bodyPr/>
        <a:lstStyle/>
        <a:p>
          <a:endParaRPr lang="en-AU"/>
        </a:p>
      </dgm:t>
    </dgm:pt>
    <dgm:pt modelId="{0B037DAC-3BD6-40E2-92EC-993281C55F76}" type="sibTrans" cxnId="{6C9A307D-780B-4109-BB54-498125F758D6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5" custScaleX="100769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5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5" custScaleY="101143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5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5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5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5">
        <dgm:presLayoutVars>
          <dgm:bulletEnabled val="1"/>
        </dgm:presLayoutVars>
      </dgm:prSet>
      <dgm:spPr/>
    </dgm:pt>
    <dgm:pt modelId="{D410B08B-CD8E-4239-B699-24916A4D9E40}" type="pres">
      <dgm:prSet presAssocID="{8F2E44D2-A6DC-40BC-BBF8-2FEFD1FDFA99}" presName="sp" presStyleCnt="0"/>
      <dgm:spPr/>
    </dgm:pt>
    <dgm:pt modelId="{2C258886-D1C6-44D4-8CB8-1368952F504F}" type="pres">
      <dgm:prSet presAssocID="{497F9FB7-C298-47BE-9978-3201A3B8F668}" presName="linNode" presStyleCnt="0"/>
      <dgm:spPr/>
    </dgm:pt>
    <dgm:pt modelId="{F572F5F6-6AF4-4EC1-8CD2-23FA228EBB88}" type="pres">
      <dgm:prSet presAssocID="{497F9FB7-C298-47BE-9978-3201A3B8F668}" presName="parentText" presStyleLbl="node1" presStyleIdx="4" presStyleCnt="5">
        <dgm:presLayoutVars>
          <dgm:chMax val="1"/>
          <dgm:bulletEnabled val="1"/>
        </dgm:presLayoutVars>
      </dgm:prSet>
      <dgm:spPr>
        <a:xfrm>
          <a:off x="0" y="2852254"/>
          <a:ext cx="4026239" cy="679007"/>
        </a:xfrm>
        <a:prstGeom prst="roundRect">
          <a:avLst/>
        </a:prstGeom>
      </dgm:spPr>
    </dgm:pt>
    <dgm:pt modelId="{41CCDF27-C149-4F37-BE23-2B304108C3C2}" type="pres">
      <dgm:prSet presAssocID="{497F9FB7-C298-47BE-9978-3201A3B8F668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E8AAFD09-1645-46A0-854D-CB121BB92425}" srcId="{12E69C22-CF89-414C-BBB7-E78EA5EFF4F3}" destId="{A408B32F-0446-4A9D-974D-2EA05AEEEBCF}" srcOrd="1" destOrd="0" parTransId="{CFD2030F-BAD7-439B-B50E-8B9DDAFBB71F}" sibTransId="{C417F80F-02EA-4881-8C6C-E78ADC231EC0}"/>
    <dgm:cxn modelId="{CD062717-32C7-41D9-832A-C3CE40758C5E}" srcId="{3B2D9394-266F-4A46-9530-736575DAA20F}" destId="{497F9FB7-C298-47BE-9978-3201A3B8F668}" srcOrd="4" destOrd="0" parTransId="{4FD6B281-73C7-479C-A544-5ACC4073C823}" sibTransId="{FCA20D1C-FE9D-45BF-BA4A-2E2D56E0D92E}"/>
    <dgm:cxn modelId="{AE74251A-F803-462A-926E-B65E3065E6C6}" type="presOf" srcId="{A408B32F-0446-4A9D-974D-2EA05AEEEBCF}" destId="{CC9BA2DD-C916-4847-89FF-21DD6BD06D62}" srcOrd="0" destOrd="1" presId="urn:microsoft.com/office/officeart/2005/8/layout/vList5"/>
    <dgm:cxn modelId="{DD8E531E-EE05-436B-86FD-33922D837630}" type="presOf" srcId="{8A16CE46-105C-4B01-BC80-55AC16F909BC}" destId="{41CCDF27-C149-4F37-BE23-2B304108C3C2}" srcOrd="0" destOrd="0" presId="urn:microsoft.com/office/officeart/2005/8/layout/vList5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3E45A864-55A3-4975-AB57-BF0A7A89D81F}" srcId="{AA9211D3-58F5-489C-A0E6-EB2C7F48F056}" destId="{F01F3D6B-6515-44A6-B9F7-168DEDEA300A}" srcOrd="1" destOrd="0" parTransId="{CD7AEC4E-2CEE-444B-8624-A0523A976482}" sibTransId="{26A4E018-90BA-4FBD-A4B0-D6694DF8CEC2}"/>
    <dgm:cxn modelId="{3D078C65-0ECD-4BAD-946F-941ECC1F0BF4}" srcId="{5708EEB3-DE51-433B-A60F-872B7852BCD2}" destId="{44B580EF-F2D5-4F58-82E0-D84199344FC1}" srcOrd="1" destOrd="0" parTransId="{AF298583-6FC7-4033-86CE-A28A11021671}" sibTransId="{BCC723BD-0504-47B3-880C-2E76782CDCFA}"/>
    <dgm:cxn modelId="{63F30E48-3F70-45E2-817A-2BE49C5071E0}" type="presOf" srcId="{497F9FB7-C298-47BE-9978-3201A3B8F668}" destId="{F572F5F6-6AF4-4EC1-8CD2-23FA228EBB88}" srcOrd="0" destOrd="0" presId="urn:microsoft.com/office/officeart/2005/8/layout/vList5"/>
    <dgm:cxn modelId="{D4C91D6E-9EBB-4161-B271-829A61EA83F5}" type="presOf" srcId="{F01F3D6B-6515-44A6-B9F7-168DEDEA300A}" destId="{51EAAC29-7133-48E2-BA20-1C59C0CE160D}" srcOrd="0" destOrd="1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B6B73053-482F-4898-82B4-E70CC1F52328}" srcId="{D516ECE9-BCB2-427B-B4C7-DEBFD86EB069}" destId="{FFD4B02D-1408-4441-A11F-190FF754B4F0}" srcOrd="1" destOrd="0" parTransId="{D534F754-7A51-4B14-8026-A90ECFCF943B}" sibTransId="{25A60AC4-436B-4B66-933D-4CEDC85D7D82}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084E3D79-B4FC-4214-86D4-7F558E34F90F}" type="presOf" srcId="{44B580EF-F2D5-4F58-82E0-D84199344FC1}" destId="{4302BC3C-57DB-47DE-97B3-A55EA511B4CF}" srcOrd="0" destOrd="1" presId="urn:microsoft.com/office/officeart/2005/8/layout/vList5"/>
    <dgm:cxn modelId="{6C9A307D-780B-4109-BB54-498125F758D6}" srcId="{497F9FB7-C298-47BE-9978-3201A3B8F668}" destId="{8D285160-CF40-4E93-806E-8F5B8A5C276C}" srcOrd="1" destOrd="0" parTransId="{0C89F4EC-886F-4FFC-8E11-8104EFC6B5B6}" sibTransId="{0B037DAC-3BD6-40E2-92EC-993281C55F76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B6BD1D89-208A-41CD-8846-A8C1CFE99B17}" type="presOf" srcId="{8D285160-CF40-4E93-806E-8F5B8A5C276C}" destId="{41CCDF27-C149-4F37-BE23-2B304108C3C2}" srcOrd="0" destOrd="1" presId="urn:microsoft.com/office/officeart/2005/8/layout/vList5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B9AA30D5-9ED2-4BE2-A948-1CCE4B7C8A6B}" type="presOf" srcId="{FFD4B02D-1408-4441-A11F-190FF754B4F0}" destId="{5D3C169D-592D-43B3-96A2-E2AF00F98FCB}" srcOrd="0" destOrd="1" presId="urn:microsoft.com/office/officeart/2005/8/layout/vList5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804537EB-4180-4DAF-86BC-98D08FAB46B9}" srcId="{497F9FB7-C298-47BE-9978-3201A3B8F668}" destId="{8A16CE46-105C-4B01-BC80-55AC16F909BC}" srcOrd="0" destOrd="0" parTransId="{67D613A3-DCF9-44AA-8309-536B1EF0480B}" sibTransId="{357E1C31-12AD-4A88-91A7-F73267DCCBC8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  <dgm:cxn modelId="{C3BEF517-D642-46E0-A9E3-72CBF80424A2}" type="presParOf" srcId="{DB7A467F-BFDC-49C3-8BE0-C61C7DFA4AEA}" destId="{D410B08B-CD8E-4239-B699-24916A4D9E40}" srcOrd="7" destOrd="0" presId="urn:microsoft.com/office/officeart/2005/8/layout/vList5"/>
    <dgm:cxn modelId="{63523FB1-AD71-4C1C-BE6F-5A6C00A5B936}" type="presParOf" srcId="{DB7A467F-BFDC-49C3-8BE0-C61C7DFA4AEA}" destId="{2C258886-D1C6-44D4-8CB8-1368952F504F}" srcOrd="8" destOrd="0" presId="urn:microsoft.com/office/officeart/2005/8/layout/vList5"/>
    <dgm:cxn modelId="{288E97FD-2199-4A0C-845A-619773B87D20}" type="presParOf" srcId="{2C258886-D1C6-44D4-8CB8-1368952F504F}" destId="{F572F5F6-6AF4-4EC1-8CD2-23FA228EBB88}" srcOrd="0" destOrd="0" presId="urn:microsoft.com/office/officeart/2005/8/layout/vList5"/>
    <dgm:cxn modelId="{08325F08-12E5-455F-9B73-6283ADD46A97}" type="presParOf" srcId="{2C258886-D1C6-44D4-8CB8-1368952F504F}" destId="{41CCDF27-C149-4F37-BE23-2B304108C3C2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2D9394-266F-4A46-9530-736575DAA20F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A9211D3-58F5-489C-A0E6-EB2C7F48F056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Corporates</a:t>
          </a:r>
        </a:p>
      </dgm:t>
    </dgm:pt>
    <dgm:pt modelId="{7EFDACCC-C4E2-4397-9391-D48FC4518A7F}" type="parTrans" cxnId="{CE36CCF3-0A65-4566-A0A8-ED086ED4A76A}">
      <dgm:prSet/>
      <dgm:spPr/>
      <dgm:t>
        <a:bodyPr/>
        <a:lstStyle/>
        <a:p>
          <a:endParaRPr lang="en-AU"/>
        </a:p>
      </dgm:t>
    </dgm:pt>
    <dgm:pt modelId="{E080E34D-7652-4915-8FAD-8D1F5E704234}" type="sibTrans" cxnId="{CE36CCF3-0A65-4566-A0A8-ED086ED4A76A}">
      <dgm:prSet/>
      <dgm:spPr/>
      <dgm:t>
        <a:bodyPr/>
        <a:lstStyle/>
        <a:p>
          <a:endParaRPr lang="en-AU"/>
        </a:p>
      </dgm:t>
    </dgm:pt>
    <dgm:pt modelId="{5708EEB3-DE51-433B-A60F-872B7852BCD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Investment Platforms (Retail)</a:t>
          </a:r>
        </a:p>
      </dgm:t>
    </dgm:pt>
    <dgm:pt modelId="{9CD2F5E2-260C-4FB5-BD1B-7027352C5F51}" type="parTrans" cxnId="{EF08A1E3-16CF-4479-B4F3-51EB32037E7D}">
      <dgm:prSet/>
      <dgm:spPr/>
      <dgm:t>
        <a:bodyPr/>
        <a:lstStyle/>
        <a:p>
          <a:endParaRPr lang="en-AU"/>
        </a:p>
      </dgm:t>
    </dgm:pt>
    <dgm:pt modelId="{DF9CE783-3003-499E-9048-017FCB9CC654}" type="sibTrans" cxnId="{EF08A1E3-16CF-4479-B4F3-51EB32037E7D}">
      <dgm:prSet/>
      <dgm:spPr/>
      <dgm:t>
        <a:bodyPr/>
        <a:lstStyle/>
        <a:p>
          <a:endParaRPr lang="en-AU"/>
        </a:p>
      </dgm:t>
    </dgm:pt>
    <dgm:pt modelId="{12E69C22-CF89-414C-BBB7-E78EA5EFF4F3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Wealth Advisory Groups</a:t>
          </a:r>
        </a:p>
      </dgm:t>
    </dgm:pt>
    <dgm:pt modelId="{21B97DBF-B96A-408B-AC5E-76E693C6AED5}" type="parTrans" cxnId="{C63D9DE0-9B05-40BC-9736-0F78C47C3EE3}">
      <dgm:prSet/>
      <dgm:spPr/>
      <dgm:t>
        <a:bodyPr/>
        <a:lstStyle/>
        <a:p>
          <a:endParaRPr lang="en-AU"/>
        </a:p>
      </dgm:t>
    </dgm:pt>
    <dgm:pt modelId="{8F2E44D2-A6DC-40BC-BBF8-2FEFD1FDFA99}" type="sibTrans" cxnId="{C63D9DE0-9B05-40BC-9736-0F78C47C3EE3}">
      <dgm:prSet/>
      <dgm:spPr/>
      <dgm:t>
        <a:bodyPr/>
        <a:lstStyle/>
        <a:p>
          <a:endParaRPr lang="en-AU"/>
        </a:p>
      </dgm:t>
    </dgm:pt>
    <dgm:pt modelId="{497F9FB7-C298-47BE-9978-3201A3B8F668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Fund Managers</a:t>
          </a:r>
        </a:p>
      </dgm:t>
    </dgm:pt>
    <dgm:pt modelId="{4FD6B281-73C7-479C-A544-5ACC4073C823}" type="parTrans" cxnId="{CD062717-32C7-41D9-832A-C3CE40758C5E}">
      <dgm:prSet/>
      <dgm:spPr/>
      <dgm:t>
        <a:bodyPr/>
        <a:lstStyle/>
        <a:p>
          <a:endParaRPr lang="en-AU"/>
        </a:p>
      </dgm:t>
    </dgm:pt>
    <dgm:pt modelId="{FCA20D1C-FE9D-45BF-BA4A-2E2D56E0D92E}" type="sibTrans" cxnId="{CD062717-32C7-41D9-832A-C3CE40758C5E}">
      <dgm:prSet/>
      <dgm:spPr/>
      <dgm:t>
        <a:bodyPr/>
        <a:lstStyle/>
        <a:p>
          <a:endParaRPr lang="en-AU"/>
        </a:p>
      </dgm:t>
    </dgm:pt>
    <dgm:pt modelId="{1806FC8D-0BEE-4F66-8DE8-E03D301FB8F1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Murray Irrigation Ltd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E14C58B4-14A1-46FB-AD68-918EBB8C52F3}" type="parTrans" cxnId="{37CFB794-B827-4AB6-ACAA-62F8A6A9AE4C}">
      <dgm:prSet/>
      <dgm:spPr/>
      <dgm:t>
        <a:bodyPr/>
        <a:lstStyle/>
        <a:p>
          <a:endParaRPr lang="en-AU"/>
        </a:p>
      </dgm:t>
    </dgm:pt>
    <dgm:pt modelId="{E3EBCC27-B80E-426E-B05C-532283685D85}" type="sibTrans" cxnId="{37CFB794-B827-4AB6-ACAA-62F8A6A9AE4C}">
      <dgm:prSet/>
      <dgm:spPr/>
      <dgm:t>
        <a:bodyPr/>
        <a:lstStyle/>
        <a:p>
          <a:endParaRPr lang="en-AU"/>
        </a:p>
      </dgm:t>
    </dgm:pt>
    <dgm:pt modelId="{7607F187-A462-4AD1-8557-541680D3EB4E}">
      <dgm:prSet phldrT="[Text]"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DASH</a:t>
          </a:r>
          <a:endParaRPr lang="en-AU" sz="1200" kern="1200" dirty="0">
            <a:solidFill>
              <a:srgbClr val="3D545E">
                <a:hueOff val="0"/>
                <a:satOff val="0"/>
                <a:lumOff val="0"/>
                <a:alphaOff val="0"/>
              </a:srgbClr>
            </a:solidFill>
            <a:latin typeface="Arial" panose="020B0604020202020204"/>
            <a:ea typeface="+mn-ea"/>
            <a:cs typeface="+mn-cs"/>
          </a:endParaRPr>
        </a:p>
      </dgm:t>
    </dgm:pt>
    <dgm:pt modelId="{2CAFA84A-033E-4840-9C65-4E6951E7FCE0}" type="parTrans" cxnId="{C5A1959A-0CA2-4376-8AE5-068C554A150E}">
      <dgm:prSet/>
      <dgm:spPr/>
      <dgm:t>
        <a:bodyPr/>
        <a:lstStyle/>
        <a:p>
          <a:endParaRPr lang="en-AU"/>
        </a:p>
      </dgm:t>
    </dgm:pt>
    <dgm:pt modelId="{C2CF9626-4441-4536-8CA8-90DE174C1760}" type="sibTrans" cxnId="{C5A1959A-0CA2-4376-8AE5-068C554A150E}">
      <dgm:prSet/>
      <dgm:spPr/>
      <dgm:t>
        <a:bodyPr/>
        <a:lstStyle/>
        <a:p>
          <a:endParaRPr lang="en-AU"/>
        </a:p>
      </dgm:t>
    </dgm:pt>
    <dgm:pt modelId="{FD904437-DCAA-473B-93CE-6CF1B9D41152}">
      <dgm:prSet phldrT="[Text]" custT="1"/>
      <dgm:spPr/>
      <dgm:t>
        <a:bodyPr/>
        <a:lstStyle/>
        <a:p>
          <a:r>
            <a:rPr lang="en-US" sz="1200" dirty="0" err="1"/>
            <a:t>WestEnd</a:t>
          </a:r>
          <a:r>
            <a:rPr lang="en-US" sz="1200" dirty="0"/>
            <a:t> Group</a:t>
          </a:r>
          <a:endParaRPr lang="en-AU" sz="1200" dirty="0"/>
        </a:p>
      </dgm:t>
    </dgm:pt>
    <dgm:pt modelId="{63156B6A-DD98-4EC8-9C2A-2F6898A04B29}" type="parTrans" cxnId="{E45F0979-409D-4066-859F-428C9DCF92E1}">
      <dgm:prSet/>
      <dgm:spPr/>
      <dgm:t>
        <a:bodyPr/>
        <a:lstStyle/>
        <a:p>
          <a:endParaRPr lang="en-AU"/>
        </a:p>
      </dgm:t>
    </dgm:pt>
    <dgm:pt modelId="{A688EF50-FF5A-475F-9927-E85BCEB5FAF0}" type="sibTrans" cxnId="{E45F0979-409D-4066-859F-428C9DCF92E1}">
      <dgm:prSet/>
      <dgm:spPr/>
      <dgm:t>
        <a:bodyPr/>
        <a:lstStyle/>
        <a:p>
          <a:endParaRPr lang="en-AU"/>
        </a:p>
      </dgm:t>
    </dgm:pt>
    <dgm:pt modelId="{8A16CE46-105C-4B01-BC80-55AC16F909BC}">
      <dgm:prSet phldrT="[Text]" custT="1"/>
      <dgm:spPr/>
      <dgm:t>
        <a:bodyPr/>
        <a:lstStyle/>
        <a:p>
          <a:r>
            <a:rPr lang="en-US" altLang="en-US" sz="1200" kern="1200" dirty="0" err="1">
              <a:latin typeface="Arial" panose="020B0604020202020204"/>
              <a:ea typeface="+mn-ea"/>
              <a:cs typeface="+mn-cs"/>
            </a:rPr>
            <a:t>Yarra</a:t>
          </a:r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 Capital </a:t>
          </a:r>
          <a:endParaRPr lang="en-AU" sz="1200" kern="1200" dirty="0"/>
        </a:p>
      </dgm:t>
    </dgm:pt>
    <dgm:pt modelId="{67D613A3-DCF9-44AA-8309-536B1EF0480B}" type="parTrans" cxnId="{804537EB-4180-4DAF-86BC-98D08FAB46B9}">
      <dgm:prSet/>
      <dgm:spPr/>
      <dgm:t>
        <a:bodyPr/>
        <a:lstStyle/>
        <a:p>
          <a:endParaRPr lang="en-AU"/>
        </a:p>
      </dgm:t>
    </dgm:pt>
    <dgm:pt modelId="{357E1C31-12AD-4A88-91A7-F73267DCCBC8}" type="sibTrans" cxnId="{804537EB-4180-4DAF-86BC-98D08FAB46B9}">
      <dgm:prSet/>
      <dgm:spPr/>
      <dgm:t>
        <a:bodyPr/>
        <a:lstStyle/>
        <a:p>
          <a:endParaRPr lang="en-AU"/>
        </a:p>
      </dgm:t>
    </dgm:pt>
    <dgm:pt modelId="{D516ECE9-BCB2-427B-B4C7-DEBFD86EB069}">
      <dgm:prSet phldrT="[Text]" custT="1"/>
      <dgm:spPr/>
      <dgm:t>
        <a:bodyPr/>
        <a:lstStyle/>
        <a:p>
          <a:pPr algn="ctr"/>
          <a:r>
            <a:rPr lang="en-AU" sz="1800" dirty="0">
              <a:solidFill>
                <a:schemeClr val="tx1"/>
              </a:solidFill>
            </a:rPr>
            <a:t>Superannuation Funds</a:t>
          </a:r>
        </a:p>
      </dgm:t>
    </dgm:pt>
    <dgm:pt modelId="{D7664DA1-B7E5-407C-BB63-F73E88CE4E94}" type="parTrans" cxnId="{F57C7E82-CEA4-4C7B-9EA8-FF6ECC586083}">
      <dgm:prSet/>
      <dgm:spPr/>
      <dgm:t>
        <a:bodyPr/>
        <a:lstStyle/>
        <a:p>
          <a:endParaRPr lang="en-AU"/>
        </a:p>
      </dgm:t>
    </dgm:pt>
    <dgm:pt modelId="{98E35CE7-FC63-4673-B3D7-1F4F7D1424D2}" type="sibTrans" cxnId="{F57C7E82-CEA4-4C7B-9EA8-FF6ECC586083}">
      <dgm:prSet/>
      <dgm:spPr/>
      <dgm:t>
        <a:bodyPr/>
        <a:lstStyle/>
        <a:p>
          <a:endParaRPr lang="en-AU"/>
        </a:p>
      </dgm:t>
    </dgm:pt>
    <dgm:pt modelId="{38971C07-70DF-4230-8B7A-C0469482CF24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Superhero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92A3173F-54A6-4336-BCCE-2BE5FFBCC9A5}" type="parTrans" cxnId="{CC26487F-EE5D-42F2-9EB3-BC75880A3A28}">
      <dgm:prSet/>
      <dgm:spPr/>
      <dgm:t>
        <a:bodyPr/>
        <a:lstStyle/>
        <a:p>
          <a:endParaRPr lang="en-AU"/>
        </a:p>
      </dgm:t>
    </dgm:pt>
    <dgm:pt modelId="{67911BAD-752F-4FA4-BDEB-EFD7D4A72E3B}" type="sibTrans" cxnId="{CC26487F-EE5D-42F2-9EB3-BC75880A3A28}">
      <dgm:prSet/>
      <dgm:spPr/>
      <dgm:t>
        <a:bodyPr/>
        <a:lstStyle/>
        <a:p>
          <a:endParaRPr lang="en-AU"/>
        </a:p>
      </dgm:t>
    </dgm:pt>
    <dgm:pt modelId="{F01F3D6B-6515-44A6-B9F7-168DEDEA300A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RAIZ Invest Australia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gm:t>
    </dgm:pt>
    <dgm:pt modelId="{CD7AEC4E-2CEE-444B-8624-A0523A976482}" type="parTrans" cxnId="{3E45A864-55A3-4975-AB57-BF0A7A89D81F}">
      <dgm:prSet/>
      <dgm:spPr/>
      <dgm:t>
        <a:bodyPr/>
        <a:lstStyle/>
        <a:p>
          <a:endParaRPr lang="en-AU"/>
        </a:p>
      </dgm:t>
    </dgm:pt>
    <dgm:pt modelId="{26A4E018-90BA-4FBD-A4B0-D6694DF8CEC2}" type="sibTrans" cxnId="{3E45A864-55A3-4975-AB57-BF0A7A89D81F}">
      <dgm:prSet/>
      <dgm:spPr/>
      <dgm:t>
        <a:bodyPr/>
        <a:lstStyle/>
        <a:p>
          <a:endParaRPr lang="en-AU"/>
        </a:p>
      </dgm:t>
    </dgm:pt>
    <dgm:pt modelId="{566F5EB6-81DB-4F86-A779-C6D06B2D5EE0}">
      <dgm:prSet phldrT="[Text]" custT="1"/>
      <dgm:spPr/>
      <dgm:t>
        <a:bodyPr spcFirstLastPara="0" vert="horz" wrap="square" lIns="247650" tIns="123825" rIns="247650" bIns="123825" numCol="1" spcCol="1270" anchor="ctr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REI Super</a:t>
          </a:r>
        </a:p>
      </dgm:t>
    </dgm:pt>
    <dgm:pt modelId="{FB8D728E-5AFF-498A-A29B-9C8A78A5DF74}" type="parTrans" cxnId="{76E3F03D-E8F0-4CA2-8382-4D853F883DB7}">
      <dgm:prSet/>
      <dgm:spPr/>
      <dgm:t>
        <a:bodyPr/>
        <a:lstStyle/>
        <a:p>
          <a:endParaRPr lang="en-AU"/>
        </a:p>
      </dgm:t>
    </dgm:pt>
    <dgm:pt modelId="{D80FE7AA-65B5-47C5-BE61-11A4074FA3B6}" type="sibTrans" cxnId="{76E3F03D-E8F0-4CA2-8382-4D853F883DB7}">
      <dgm:prSet/>
      <dgm:spPr/>
      <dgm:t>
        <a:bodyPr/>
        <a:lstStyle/>
        <a:p>
          <a:endParaRPr lang="en-AU"/>
        </a:p>
      </dgm:t>
    </dgm:pt>
    <dgm:pt modelId="{148FF578-A3E6-4EF7-8576-64EFD3D87D7C}">
      <dgm:prSet phldrT="[Text]"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Acclaim</a:t>
          </a:r>
        </a:p>
      </dgm:t>
    </dgm:pt>
    <dgm:pt modelId="{634BBA3E-301E-4479-952B-33E3470CDFAB}" type="parTrans" cxnId="{D8145295-1A7C-496C-84FB-101A51A3059E}">
      <dgm:prSet/>
      <dgm:spPr/>
      <dgm:t>
        <a:bodyPr/>
        <a:lstStyle/>
        <a:p>
          <a:endParaRPr lang="en-AU"/>
        </a:p>
      </dgm:t>
    </dgm:pt>
    <dgm:pt modelId="{F723D1B0-32AA-47CF-9E18-25DE4EDE479B}" type="sibTrans" cxnId="{D8145295-1A7C-496C-84FB-101A51A3059E}">
      <dgm:prSet/>
      <dgm:spPr/>
      <dgm:t>
        <a:bodyPr/>
        <a:lstStyle/>
        <a:p>
          <a:endParaRPr lang="en-AU"/>
        </a:p>
      </dgm:t>
    </dgm:pt>
    <dgm:pt modelId="{D2D11756-0A49-49CB-B188-3867948A85DE}">
      <dgm:prSet phldrT="[Text]" custT="1"/>
      <dgm:spPr/>
      <dgm:t>
        <a:bodyPr/>
        <a:lstStyle/>
        <a:p>
          <a:r>
            <a:rPr lang="en-AU" sz="1200" dirty="0"/>
            <a:t>Regional Prosperity</a:t>
          </a:r>
        </a:p>
      </dgm:t>
    </dgm:pt>
    <dgm:pt modelId="{6A5B589A-C06D-452A-B7A9-DE402D6F4281}" type="parTrans" cxnId="{82CC5021-BB8D-460E-BA73-B4C299DCBE6F}">
      <dgm:prSet/>
      <dgm:spPr/>
      <dgm:t>
        <a:bodyPr/>
        <a:lstStyle/>
        <a:p>
          <a:endParaRPr lang="en-AU"/>
        </a:p>
      </dgm:t>
    </dgm:pt>
    <dgm:pt modelId="{C859DF55-D32B-4A78-9133-1F378C8BF619}" type="sibTrans" cxnId="{82CC5021-BB8D-460E-BA73-B4C299DCBE6F}">
      <dgm:prSet/>
      <dgm:spPr/>
      <dgm:t>
        <a:bodyPr/>
        <a:lstStyle/>
        <a:p>
          <a:endParaRPr lang="en-AU"/>
        </a:p>
      </dgm:t>
    </dgm:pt>
    <dgm:pt modelId="{4C3120E4-456E-4C35-ADFB-57B419271688}">
      <dgm:prSet phldrT="[Text]" custT="1"/>
      <dgm:spPr/>
      <dgm:t>
        <a:bodyPr/>
        <a:lstStyle/>
        <a:p>
          <a:r>
            <a:rPr lang="en-AU" sz="1200" kern="1200" dirty="0"/>
            <a:t>Euree Asset Management</a:t>
          </a:r>
        </a:p>
      </dgm:t>
    </dgm:pt>
    <dgm:pt modelId="{4A5BC4B7-AC16-4C4D-B39D-DDD514925411}" type="parTrans" cxnId="{5F5BDF0A-4CD4-472C-A646-8D529BA36204}">
      <dgm:prSet/>
      <dgm:spPr/>
      <dgm:t>
        <a:bodyPr/>
        <a:lstStyle/>
        <a:p>
          <a:endParaRPr lang="en-AU"/>
        </a:p>
      </dgm:t>
    </dgm:pt>
    <dgm:pt modelId="{9CA66958-C009-4A8C-B098-C9D4F78DB8D2}" type="sibTrans" cxnId="{5F5BDF0A-4CD4-472C-A646-8D529BA36204}">
      <dgm:prSet/>
      <dgm:spPr/>
      <dgm:t>
        <a:bodyPr/>
        <a:lstStyle/>
        <a:p>
          <a:endParaRPr lang="en-AU"/>
        </a:p>
      </dgm:t>
    </dgm:pt>
    <dgm:pt modelId="{F9C4BA9B-8446-457A-ADDF-AD5C7DBA276C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Trustee Companies</a:t>
          </a:r>
        </a:p>
      </dgm:t>
    </dgm:pt>
    <dgm:pt modelId="{AFC4D08D-0624-4316-A18D-841EA19F19F6}" type="parTrans" cxnId="{A199D32E-761A-4D21-95FF-7E0E1F74B4A9}">
      <dgm:prSet/>
      <dgm:spPr/>
      <dgm:t>
        <a:bodyPr/>
        <a:lstStyle/>
        <a:p>
          <a:endParaRPr lang="en-AU"/>
        </a:p>
      </dgm:t>
    </dgm:pt>
    <dgm:pt modelId="{E10EF682-AB72-410F-95F5-BA41CE7731A8}" type="sibTrans" cxnId="{A199D32E-761A-4D21-95FF-7E0E1F74B4A9}">
      <dgm:prSet/>
      <dgm:spPr/>
      <dgm:t>
        <a:bodyPr/>
        <a:lstStyle/>
        <a:p>
          <a:endParaRPr lang="en-AU"/>
        </a:p>
      </dgm:t>
    </dgm:pt>
    <dgm:pt modelId="{C13D698A-F547-4439-840E-F95C7832EB86}">
      <dgm:prSet phldrT="[Text]"/>
      <dgm:spPr/>
      <dgm:t>
        <a:bodyPr/>
        <a:lstStyle/>
        <a:p>
          <a:pPr marL="57150" lvl="1" indent="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AU" sz="800" kern="1200" dirty="0"/>
        </a:p>
      </dgm:t>
    </dgm:pt>
    <dgm:pt modelId="{42086F23-CEEC-44E7-9D82-6F9F83CDE49B}" type="parTrans" cxnId="{B1B0DE01-414A-44A4-BADF-295295A728D5}">
      <dgm:prSet/>
      <dgm:spPr/>
      <dgm:t>
        <a:bodyPr/>
        <a:lstStyle/>
        <a:p>
          <a:endParaRPr lang="en-AU"/>
        </a:p>
      </dgm:t>
    </dgm:pt>
    <dgm:pt modelId="{70C78862-FE51-4583-B6E4-88FB1AB916D1}" type="sibTrans" cxnId="{B1B0DE01-414A-44A4-BADF-295295A728D5}">
      <dgm:prSet/>
      <dgm:spPr/>
      <dgm:t>
        <a:bodyPr/>
        <a:lstStyle/>
        <a:p>
          <a:endParaRPr lang="en-AU"/>
        </a:p>
      </dgm:t>
    </dgm:pt>
    <dgm:pt modelId="{DBE7F0B1-29D1-4250-B032-AD8330AB9E86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AU" sz="1200" kern="1200" dirty="0">
            <a:solidFill>
              <a:srgbClr val="3D545E">
                <a:hueOff val="0"/>
                <a:satOff val="0"/>
                <a:lumOff val="0"/>
                <a:alphaOff val="0"/>
              </a:srgbClr>
            </a:solidFill>
            <a:latin typeface="Arial" panose="020B0604020202020204"/>
            <a:ea typeface="+mn-ea"/>
            <a:cs typeface="+mn-cs"/>
          </a:endParaRPr>
        </a:p>
      </dgm:t>
    </dgm:pt>
    <dgm:pt modelId="{1301EB56-432C-4E77-8A0E-975390422027}" type="sibTrans" cxnId="{614F862F-515C-4A7F-8A0B-530B1414C5EA}">
      <dgm:prSet/>
      <dgm:spPr/>
      <dgm:t>
        <a:bodyPr/>
        <a:lstStyle/>
        <a:p>
          <a:endParaRPr lang="en-AU"/>
        </a:p>
      </dgm:t>
    </dgm:pt>
    <dgm:pt modelId="{7C9C2038-055F-46FD-9FF5-0163D48EAF8C}" type="parTrans" cxnId="{614F862F-515C-4A7F-8A0B-530B1414C5EA}">
      <dgm:prSet/>
      <dgm:spPr/>
      <dgm:t>
        <a:bodyPr/>
        <a:lstStyle/>
        <a:p>
          <a:endParaRPr lang="en-AU"/>
        </a:p>
      </dgm:t>
    </dgm:pt>
    <dgm:pt modelId="{563B6AC1-6A2C-40D8-BF79-D57C1FD16238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MARQ Trustees</a:t>
          </a:r>
        </a:p>
      </dgm:t>
    </dgm:pt>
    <dgm:pt modelId="{C42683DC-9AFF-4BCC-A69B-4DCF4A32DF31}" type="sibTrans" cxnId="{ED013571-49B0-44E0-A9C5-073E8B78D4F5}">
      <dgm:prSet/>
      <dgm:spPr/>
      <dgm:t>
        <a:bodyPr/>
        <a:lstStyle/>
        <a:p>
          <a:endParaRPr lang="en-AU"/>
        </a:p>
      </dgm:t>
    </dgm:pt>
    <dgm:pt modelId="{FBF44E36-0DF3-488C-8E29-2F1958E067BB}" type="parTrans" cxnId="{ED013571-49B0-44E0-A9C5-073E8B78D4F5}">
      <dgm:prSet/>
      <dgm:spPr/>
      <dgm:t>
        <a:bodyPr/>
        <a:lstStyle/>
        <a:p>
          <a:endParaRPr lang="en-AU"/>
        </a:p>
      </dgm:t>
    </dgm:pt>
    <dgm:pt modelId="{E178237D-1B22-4B51-BCA7-46D4630CDE15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Equity Trustees</a:t>
          </a:r>
        </a:p>
      </dgm:t>
    </dgm:pt>
    <dgm:pt modelId="{6AE79BDD-B358-4448-96E5-AB7487A3060B}" type="sibTrans" cxnId="{D3BFE955-48DC-4CC2-83CA-0C1E2E5101FA}">
      <dgm:prSet/>
      <dgm:spPr/>
      <dgm:t>
        <a:bodyPr/>
        <a:lstStyle/>
        <a:p>
          <a:endParaRPr lang="en-AU"/>
        </a:p>
      </dgm:t>
    </dgm:pt>
    <dgm:pt modelId="{1B5C17E9-3DB5-4CAF-8EC2-EC1D1FB8AF3E}" type="parTrans" cxnId="{D3BFE955-48DC-4CC2-83CA-0C1E2E5101FA}">
      <dgm:prSet/>
      <dgm:spPr/>
      <dgm:t>
        <a:bodyPr/>
        <a:lstStyle/>
        <a:p>
          <a:endParaRPr lang="en-AU"/>
        </a:p>
      </dgm:t>
    </dgm:pt>
    <dgm:pt modelId="{A40DD733-8812-49CD-8F2D-D9833CE82462}">
      <dgm:prSet phldrT="[Text]" custT="1"/>
      <dgm:spPr/>
      <dgm:t>
        <a:bodyPr spcFirstLastPara="0" vert="horz" wrap="square" lIns="68580" tIns="34290" rIns="68580" bIns="3429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Non-For Profit</a:t>
          </a:r>
        </a:p>
      </dgm:t>
    </dgm:pt>
    <dgm:pt modelId="{C8E3BFA1-4E2C-48FB-8954-A5736FDC0591}" type="parTrans" cxnId="{210E0CD3-20C8-4673-86BD-81FB83B2E6CA}">
      <dgm:prSet/>
      <dgm:spPr/>
      <dgm:t>
        <a:bodyPr/>
        <a:lstStyle/>
        <a:p>
          <a:endParaRPr lang="en-AU"/>
        </a:p>
      </dgm:t>
    </dgm:pt>
    <dgm:pt modelId="{78E6E2FF-0C46-464F-89E1-A645935FC568}" type="sibTrans" cxnId="{210E0CD3-20C8-4673-86BD-81FB83B2E6CA}">
      <dgm:prSet/>
      <dgm:spPr/>
      <dgm:t>
        <a:bodyPr/>
        <a:lstStyle/>
        <a:p>
          <a:endParaRPr lang="en-AU"/>
        </a:p>
      </dgm:t>
    </dgm:pt>
    <dgm:pt modelId="{AE346936-E11F-4870-A5A6-3E1B19E45C81}">
      <dgm:prSet phldrT="[Text]"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The Nehemiah Foundation</a:t>
          </a:r>
        </a:p>
      </dgm:t>
    </dgm:pt>
    <dgm:pt modelId="{CCD37B50-6FC7-4172-80F7-B4A806A65C82}" type="parTrans" cxnId="{E46520C7-EE92-4433-8F40-D58E576A588A}">
      <dgm:prSet/>
      <dgm:spPr/>
      <dgm:t>
        <a:bodyPr/>
        <a:lstStyle/>
        <a:p>
          <a:endParaRPr lang="en-AU"/>
        </a:p>
      </dgm:t>
    </dgm:pt>
    <dgm:pt modelId="{80ACDC26-01B1-4786-AED8-000764EFF655}" type="sibTrans" cxnId="{E46520C7-EE92-4433-8F40-D58E576A588A}">
      <dgm:prSet/>
      <dgm:spPr/>
      <dgm:t>
        <a:bodyPr/>
        <a:lstStyle/>
        <a:p>
          <a:endParaRPr lang="en-AU"/>
        </a:p>
      </dgm:t>
    </dgm:pt>
    <dgm:pt modelId="{35CE32A6-0FAD-4D32-8DAB-A8B5233716CB}">
      <dgm:prSet phldrT="[Text]"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 err="1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Mossaic</a:t>
          </a: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 Community Care Inc</a:t>
          </a:r>
        </a:p>
      </dgm:t>
    </dgm:pt>
    <dgm:pt modelId="{38597149-59CB-4F4C-AB53-720CBA3FD7AD}" type="parTrans" cxnId="{6F3F6B0A-27E9-445E-98C3-6A0006A51128}">
      <dgm:prSet/>
      <dgm:spPr/>
      <dgm:t>
        <a:bodyPr/>
        <a:lstStyle/>
        <a:p>
          <a:endParaRPr lang="en-AU"/>
        </a:p>
      </dgm:t>
    </dgm:pt>
    <dgm:pt modelId="{6DE76A66-6E60-4CA3-A181-85455E0DA129}" type="sibTrans" cxnId="{6F3F6B0A-27E9-445E-98C3-6A0006A51128}">
      <dgm:prSet/>
      <dgm:spPr/>
      <dgm:t>
        <a:bodyPr/>
        <a:lstStyle/>
        <a:p>
          <a:endParaRPr lang="en-AU"/>
        </a:p>
      </dgm:t>
    </dgm:pt>
    <dgm:pt modelId="{DB7A467F-BFDC-49C3-8BE0-C61C7DFA4AEA}" type="pres">
      <dgm:prSet presAssocID="{3B2D9394-266F-4A46-9530-736575DAA20F}" presName="Name0" presStyleCnt="0">
        <dgm:presLayoutVars>
          <dgm:dir/>
          <dgm:animLvl val="lvl"/>
          <dgm:resizeHandles val="exact"/>
        </dgm:presLayoutVars>
      </dgm:prSet>
      <dgm:spPr/>
    </dgm:pt>
    <dgm:pt modelId="{8820AF75-3C24-460B-941A-FFA724AB9D69}" type="pres">
      <dgm:prSet presAssocID="{AA9211D3-58F5-489C-A0E6-EB2C7F48F056}" presName="linNode" presStyleCnt="0"/>
      <dgm:spPr/>
    </dgm:pt>
    <dgm:pt modelId="{788C1FDC-6700-4C53-AD2F-04AFF096940F}" type="pres">
      <dgm:prSet presAssocID="{AA9211D3-58F5-489C-A0E6-EB2C7F48F056}" presName="parentText" presStyleLbl="node1" presStyleIdx="0" presStyleCnt="7" custScaleX="86214" custScaleY="31482" custRadScaleRad="100136" custRadScaleInc="2785">
        <dgm:presLayoutVars>
          <dgm:chMax val="1"/>
          <dgm:bulletEnabled val="1"/>
        </dgm:presLayoutVars>
      </dgm:prSet>
      <dgm:spPr/>
    </dgm:pt>
    <dgm:pt modelId="{51EAAC29-7133-48E2-BA20-1C59C0CE160D}" type="pres">
      <dgm:prSet presAssocID="{AA9211D3-58F5-489C-A0E6-EB2C7F48F056}" presName="descendantText" presStyleLbl="alignAccFollowNode1" presStyleIdx="0" presStyleCnt="7" custScaleX="94246" custScaleY="53761">
        <dgm:presLayoutVars>
          <dgm:bulletEnabled val="1"/>
        </dgm:presLayoutVars>
      </dgm:prSet>
      <dgm:spPr>
        <a:xfrm rot="5400000">
          <a:off x="7342106" y="-3228467"/>
          <a:ext cx="543205" cy="7136789"/>
        </a:xfrm>
        <a:prstGeom prst="round2SameRect">
          <a:avLst/>
        </a:prstGeom>
      </dgm:spPr>
    </dgm:pt>
    <dgm:pt modelId="{BE138CC6-F698-401B-8746-101D5ADB4129}" type="pres">
      <dgm:prSet presAssocID="{E080E34D-7652-4915-8FAD-8D1F5E704234}" presName="sp" presStyleCnt="0"/>
      <dgm:spPr/>
    </dgm:pt>
    <dgm:pt modelId="{DE9DBBF9-A945-47A0-9FC4-7F59A07AC700}" type="pres">
      <dgm:prSet presAssocID="{D516ECE9-BCB2-427B-B4C7-DEBFD86EB069}" presName="linNode" presStyleCnt="0"/>
      <dgm:spPr/>
    </dgm:pt>
    <dgm:pt modelId="{A2E352DA-62FA-4579-98AA-21BED05F34C8}" type="pres">
      <dgm:prSet presAssocID="{D516ECE9-BCB2-427B-B4C7-DEBFD86EB069}" presName="parentText" presStyleLbl="node1" presStyleIdx="1" presStyleCnt="7" custScaleX="85808" custScaleY="31482">
        <dgm:presLayoutVars>
          <dgm:chMax val="1"/>
          <dgm:bulletEnabled val="1"/>
        </dgm:presLayoutVars>
      </dgm:prSet>
      <dgm:spPr/>
    </dgm:pt>
    <dgm:pt modelId="{5D3C169D-592D-43B3-96A2-E2AF00F98FCB}" type="pres">
      <dgm:prSet presAssocID="{D516ECE9-BCB2-427B-B4C7-DEBFD86EB069}" presName="descendantText" presStyleLbl="alignAccFollowNode1" presStyleIdx="1" presStyleCnt="7" custScaleX="94246" custScaleY="54374">
        <dgm:presLayoutVars>
          <dgm:bulletEnabled val="1"/>
        </dgm:presLayoutVars>
      </dgm:prSet>
      <dgm:spPr>
        <a:xfrm rot="5400000">
          <a:off x="7330411" y="-2525994"/>
          <a:ext cx="549414" cy="7157759"/>
        </a:xfrm>
        <a:prstGeom prst="round2SameRect">
          <a:avLst/>
        </a:prstGeom>
      </dgm:spPr>
    </dgm:pt>
    <dgm:pt modelId="{13308CB4-D9C4-43BA-9B7D-52491CD99F9C}" type="pres">
      <dgm:prSet presAssocID="{98E35CE7-FC63-4673-B3D7-1F4F7D1424D2}" presName="sp" presStyleCnt="0"/>
      <dgm:spPr/>
    </dgm:pt>
    <dgm:pt modelId="{E46C7319-8FBA-4618-B092-245A85FA2A3C}" type="pres">
      <dgm:prSet presAssocID="{5708EEB3-DE51-433B-A60F-872B7852BCD2}" presName="linNode" presStyleCnt="0"/>
      <dgm:spPr/>
    </dgm:pt>
    <dgm:pt modelId="{503037C0-ECE5-4E0D-8F35-E2292E333CDF}" type="pres">
      <dgm:prSet presAssocID="{5708EEB3-DE51-433B-A60F-872B7852BCD2}" presName="parentText" presStyleLbl="node1" presStyleIdx="2" presStyleCnt="7" custScaleX="85808" custScaleY="31482">
        <dgm:presLayoutVars>
          <dgm:chMax val="1"/>
          <dgm:bulletEnabled val="1"/>
        </dgm:presLayoutVars>
      </dgm:prSet>
      <dgm:spPr>
        <a:xfrm>
          <a:off x="0" y="1426339"/>
          <a:ext cx="4026239" cy="679007"/>
        </a:xfrm>
        <a:prstGeom prst="roundRect">
          <a:avLst/>
        </a:prstGeom>
      </dgm:spPr>
    </dgm:pt>
    <dgm:pt modelId="{4302BC3C-57DB-47DE-97B3-A55EA511B4CF}" type="pres">
      <dgm:prSet presAssocID="{5708EEB3-DE51-433B-A60F-872B7852BCD2}" presName="descendantText" presStyleLbl="alignAccFollowNode1" presStyleIdx="2" presStyleCnt="7" custScaleX="94246" custScaleY="53761">
        <dgm:presLayoutVars>
          <dgm:bulletEnabled val="1"/>
        </dgm:presLayoutVars>
      </dgm:prSet>
      <dgm:spPr/>
    </dgm:pt>
    <dgm:pt modelId="{2EFF2961-1193-46DE-8A9A-74EB9A5ADABF}" type="pres">
      <dgm:prSet presAssocID="{DF9CE783-3003-499E-9048-017FCB9CC654}" presName="sp" presStyleCnt="0"/>
      <dgm:spPr/>
    </dgm:pt>
    <dgm:pt modelId="{E4E76A28-4BEB-40AA-BB03-759EDBAE7709}" type="pres">
      <dgm:prSet presAssocID="{12E69C22-CF89-414C-BBB7-E78EA5EFF4F3}" presName="linNode" presStyleCnt="0"/>
      <dgm:spPr/>
    </dgm:pt>
    <dgm:pt modelId="{EE93C61D-77AB-4BFE-B794-BD1055D1C02D}" type="pres">
      <dgm:prSet presAssocID="{12E69C22-CF89-414C-BBB7-E78EA5EFF4F3}" presName="parentText" presStyleLbl="node1" presStyleIdx="3" presStyleCnt="7" custScaleX="85808" custScaleY="31482">
        <dgm:presLayoutVars>
          <dgm:chMax val="1"/>
          <dgm:bulletEnabled val="1"/>
        </dgm:presLayoutVars>
      </dgm:prSet>
      <dgm:spPr>
        <a:xfrm>
          <a:off x="0" y="2139296"/>
          <a:ext cx="4026239" cy="679007"/>
        </a:xfrm>
        <a:prstGeom prst="roundRect">
          <a:avLst/>
        </a:prstGeom>
      </dgm:spPr>
    </dgm:pt>
    <dgm:pt modelId="{CC9BA2DD-C916-4847-89FF-21DD6BD06D62}" type="pres">
      <dgm:prSet presAssocID="{12E69C22-CF89-414C-BBB7-E78EA5EFF4F3}" presName="descendantText" presStyleLbl="alignAccFollowNode1" presStyleIdx="3" presStyleCnt="7" custScaleX="94246" custScaleY="53761">
        <dgm:presLayoutVars>
          <dgm:bulletEnabled val="1"/>
        </dgm:presLayoutVars>
      </dgm:prSet>
      <dgm:spPr/>
    </dgm:pt>
    <dgm:pt modelId="{D410B08B-CD8E-4239-B699-24916A4D9E40}" type="pres">
      <dgm:prSet presAssocID="{8F2E44D2-A6DC-40BC-BBF8-2FEFD1FDFA99}" presName="sp" presStyleCnt="0"/>
      <dgm:spPr/>
    </dgm:pt>
    <dgm:pt modelId="{2C258886-D1C6-44D4-8CB8-1368952F504F}" type="pres">
      <dgm:prSet presAssocID="{497F9FB7-C298-47BE-9978-3201A3B8F668}" presName="linNode" presStyleCnt="0"/>
      <dgm:spPr/>
    </dgm:pt>
    <dgm:pt modelId="{F572F5F6-6AF4-4EC1-8CD2-23FA228EBB88}" type="pres">
      <dgm:prSet presAssocID="{497F9FB7-C298-47BE-9978-3201A3B8F668}" presName="parentText" presStyleLbl="node1" presStyleIdx="4" presStyleCnt="7" custScaleX="85808" custScaleY="31482">
        <dgm:presLayoutVars>
          <dgm:chMax val="1"/>
          <dgm:bulletEnabled val="1"/>
        </dgm:presLayoutVars>
      </dgm:prSet>
      <dgm:spPr>
        <a:xfrm>
          <a:off x="0" y="2852254"/>
          <a:ext cx="4026239" cy="679007"/>
        </a:xfrm>
        <a:prstGeom prst="roundRect">
          <a:avLst/>
        </a:prstGeom>
      </dgm:spPr>
    </dgm:pt>
    <dgm:pt modelId="{41CCDF27-C149-4F37-BE23-2B304108C3C2}" type="pres">
      <dgm:prSet presAssocID="{497F9FB7-C298-47BE-9978-3201A3B8F668}" presName="descendantText" presStyleLbl="alignAccFollowNode1" presStyleIdx="4" presStyleCnt="7" custScaleX="94246" custScaleY="53761">
        <dgm:presLayoutVars>
          <dgm:bulletEnabled val="1"/>
        </dgm:presLayoutVars>
      </dgm:prSet>
      <dgm:spPr/>
    </dgm:pt>
    <dgm:pt modelId="{79F6DB62-B5E3-4E3F-B340-8215D904DBC4}" type="pres">
      <dgm:prSet presAssocID="{FCA20D1C-FE9D-45BF-BA4A-2E2D56E0D92E}" presName="sp" presStyleCnt="0"/>
      <dgm:spPr/>
    </dgm:pt>
    <dgm:pt modelId="{7FFE73D3-DBD3-4BA6-96BD-681978513022}" type="pres">
      <dgm:prSet presAssocID="{F9C4BA9B-8446-457A-ADDF-AD5C7DBA276C}" presName="linNode" presStyleCnt="0"/>
      <dgm:spPr/>
    </dgm:pt>
    <dgm:pt modelId="{674D79DB-0D7B-4C76-B21A-E8234D36B9C1}" type="pres">
      <dgm:prSet presAssocID="{F9C4BA9B-8446-457A-ADDF-AD5C7DBA276C}" presName="parentText" presStyleLbl="node1" presStyleIdx="5" presStyleCnt="7" custScaleX="85808" custScaleY="31482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4464CA84-DA73-4C34-ADBD-EE4EDFAD8B99}" type="pres">
      <dgm:prSet presAssocID="{F9C4BA9B-8446-457A-ADDF-AD5C7DBA276C}" presName="descendantText" presStyleLbl="alignAccFollowNode1" presStyleIdx="5" presStyleCnt="7" custScaleX="94246" custScaleY="53761">
        <dgm:presLayoutVars>
          <dgm:bulletEnabled val="1"/>
        </dgm:presLayoutVars>
      </dgm:prSet>
      <dgm:spPr/>
    </dgm:pt>
    <dgm:pt modelId="{25416B7F-F7D7-4848-BD05-97774298496A}" type="pres">
      <dgm:prSet presAssocID="{E10EF682-AB72-410F-95F5-BA41CE7731A8}" presName="sp" presStyleCnt="0"/>
      <dgm:spPr/>
    </dgm:pt>
    <dgm:pt modelId="{898B275C-075A-4315-B088-7DAA010E4DD9}" type="pres">
      <dgm:prSet presAssocID="{A40DD733-8812-49CD-8F2D-D9833CE82462}" presName="linNode" presStyleCnt="0"/>
      <dgm:spPr/>
    </dgm:pt>
    <dgm:pt modelId="{BB5564D1-AB2F-4975-8B20-6C3A137918AB}" type="pres">
      <dgm:prSet presAssocID="{A40DD733-8812-49CD-8F2D-D9833CE82462}" presName="parentText" presStyleLbl="node1" presStyleIdx="6" presStyleCnt="7" custScaleX="85808" custScaleY="31482">
        <dgm:presLayoutVars>
          <dgm:chMax val="1"/>
          <dgm:bulletEnabled val="1"/>
        </dgm:presLayoutVars>
      </dgm:prSet>
      <dgm:spPr>
        <a:prstGeom prst="roundRect">
          <a:avLst/>
        </a:prstGeom>
      </dgm:spPr>
    </dgm:pt>
    <dgm:pt modelId="{F5033B04-2EB2-4C5B-85B9-187455BFDF3F}" type="pres">
      <dgm:prSet presAssocID="{A40DD733-8812-49CD-8F2D-D9833CE82462}" presName="descendantText" presStyleLbl="alignAccFollowNode1" presStyleIdx="6" presStyleCnt="7" custScaleX="94246" custScaleY="53761">
        <dgm:presLayoutVars>
          <dgm:bulletEnabled val="1"/>
        </dgm:presLayoutVars>
      </dgm:prSet>
      <dgm:spPr/>
    </dgm:pt>
  </dgm:ptLst>
  <dgm:cxnLst>
    <dgm:cxn modelId="{329A7200-943E-4A46-95EB-C1EE5E615FAD}" type="presOf" srcId="{12E69C22-CF89-414C-BBB7-E78EA5EFF4F3}" destId="{EE93C61D-77AB-4BFE-B794-BD1055D1C02D}" srcOrd="0" destOrd="0" presId="urn:microsoft.com/office/officeart/2005/8/layout/vList5"/>
    <dgm:cxn modelId="{B1B0DE01-414A-44A4-BADF-295295A728D5}" srcId="{F9C4BA9B-8446-457A-ADDF-AD5C7DBA276C}" destId="{C13D698A-F547-4439-840E-F95C7832EB86}" srcOrd="0" destOrd="0" parTransId="{42086F23-CEEC-44E7-9D82-6F9F83CDE49B}" sibTransId="{70C78862-FE51-4583-B6E4-88FB1AB916D1}"/>
    <dgm:cxn modelId="{6F3F6B0A-27E9-445E-98C3-6A0006A51128}" srcId="{A40DD733-8812-49CD-8F2D-D9833CE82462}" destId="{35CE32A6-0FAD-4D32-8DAB-A8B5233716CB}" srcOrd="1" destOrd="0" parTransId="{38597149-59CB-4F4C-AB53-720CBA3FD7AD}" sibTransId="{6DE76A66-6E60-4CA3-A181-85455E0DA129}"/>
    <dgm:cxn modelId="{106CB50A-F413-4703-BE46-6C2202A667AA}" type="presOf" srcId="{F9C4BA9B-8446-457A-ADDF-AD5C7DBA276C}" destId="{674D79DB-0D7B-4C76-B21A-E8234D36B9C1}" srcOrd="0" destOrd="0" presId="urn:microsoft.com/office/officeart/2005/8/layout/vList5"/>
    <dgm:cxn modelId="{5F5BDF0A-4CD4-472C-A646-8D529BA36204}" srcId="{497F9FB7-C298-47BE-9978-3201A3B8F668}" destId="{4C3120E4-456E-4C35-ADFB-57B419271688}" srcOrd="1" destOrd="0" parTransId="{4A5BC4B7-AC16-4C4D-B39D-DDD514925411}" sibTransId="{9CA66958-C009-4A8C-B098-C9D4F78DB8D2}"/>
    <dgm:cxn modelId="{CD062717-32C7-41D9-832A-C3CE40758C5E}" srcId="{3B2D9394-266F-4A46-9530-736575DAA20F}" destId="{497F9FB7-C298-47BE-9978-3201A3B8F668}" srcOrd="4" destOrd="0" parTransId="{4FD6B281-73C7-479C-A544-5ACC4073C823}" sibTransId="{FCA20D1C-FE9D-45BF-BA4A-2E2D56E0D92E}"/>
    <dgm:cxn modelId="{69CDF41C-D24D-4065-8DE6-8CC360AE3F91}" type="presOf" srcId="{D2D11756-0A49-49CB-B188-3867948A85DE}" destId="{CC9BA2DD-C916-4847-89FF-21DD6BD06D62}" srcOrd="0" destOrd="1" presId="urn:microsoft.com/office/officeart/2005/8/layout/vList5"/>
    <dgm:cxn modelId="{DD8E531E-EE05-436B-86FD-33922D837630}" type="presOf" srcId="{8A16CE46-105C-4B01-BC80-55AC16F909BC}" destId="{41CCDF27-C149-4F37-BE23-2B304108C3C2}" srcOrd="0" destOrd="0" presId="urn:microsoft.com/office/officeart/2005/8/layout/vList5"/>
    <dgm:cxn modelId="{82CC5021-BB8D-460E-BA73-B4C299DCBE6F}" srcId="{12E69C22-CF89-414C-BBB7-E78EA5EFF4F3}" destId="{D2D11756-0A49-49CB-B188-3867948A85DE}" srcOrd="1" destOrd="0" parTransId="{6A5B589A-C06D-452A-B7A9-DE402D6F4281}" sibTransId="{C859DF55-D32B-4A78-9133-1F378C8BF619}"/>
    <dgm:cxn modelId="{314EB52B-8138-49DC-9FF7-CA629795DB6E}" type="presOf" srcId="{38971C07-70DF-4230-8B7A-C0469482CF24}" destId="{5D3C169D-592D-43B3-96A2-E2AF00F98FCB}" srcOrd="0" destOrd="0" presId="urn:microsoft.com/office/officeart/2005/8/layout/vList5"/>
    <dgm:cxn modelId="{BEEBB62C-857D-474C-9571-57F30EBD7B6A}" type="presOf" srcId="{1806FC8D-0BEE-4F66-8DE8-E03D301FB8F1}" destId="{51EAAC29-7133-48E2-BA20-1C59C0CE160D}" srcOrd="0" destOrd="0" presId="urn:microsoft.com/office/officeart/2005/8/layout/vList5"/>
    <dgm:cxn modelId="{A199D32E-761A-4D21-95FF-7E0E1F74B4A9}" srcId="{3B2D9394-266F-4A46-9530-736575DAA20F}" destId="{F9C4BA9B-8446-457A-ADDF-AD5C7DBA276C}" srcOrd="5" destOrd="0" parTransId="{AFC4D08D-0624-4316-A18D-841EA19F19F6}" sibTransId="{E10EF682-AB72-410F-95F5-BA41CE7731A8}"/>
    <dgm:cxn modelId="{614F862F-515C-4A7F-8A0B-530B1414C5EA}" srcId="{F9C4BA9B-8446-457A-ADDF-AD5C7DBA276C}" destId="{DBE7F0B1-29D1-4250-B032-AD8330AB9E86}" srcOrd="3" destOrd="0" parTransId="{7C9C2038-055F-46FD-9FF5-0163D48EAF8C}" sibTransId="{1301EB56-432C-4E77-8A0E-975390422027}"/>
    <dgm:cxn modelId="{8B675C34-9CBA-4911-B1B1-BA27785D652B}" type="presOf" srcId="{148FF578-A3E6-4EF7-8576-64EFD3D87D7C}" destId="{4302BC3C-57DB-47DE-97B3-A55EA511B4CF}" srcOrd="0" destOrd="1" presId="urn:microsoft.com/office/officeart/2005/8/layout/vList5"/>
    <dgm:cxn modelId="{76E3F03D-E8F0-4CA2-8382-4D853F883DB7}" srcId="{D516ECE9-BCB2-427B-B4C7-DEBFD86EB069}" destId="{566F5EB6-81DB-4F86-A779-C6D06B2D5EE0}" srcOrd="1" destOrd="0" parTransId="{FB8D728E-5AFF-498A-A29B-9C8A78A5DF74}" sibTransId="{D80FE7AA-65B5-47C5-BE61-11A4074FA3B6}"/>
    <dgm:cxn modelId="{83AF2161-ECA3-4E23-B1AE-7B3D0B49D409}" type="presOf" srcId="{D516ECE9-BCB2-427B-B4C7-DEBFD86EB069}" destId="{A2E352DA-62FA-4579-98AA-21BED05F34C8}" srcOrd="0" destOrd="0" presId="urn:microsoft.com/office/officeart/2005/8/layout/vList5"/>
    <dgm:cxn modelId="{B09C2C64-BF6B-464A-AC7D-1FF88D3DD5C8}" type="presOf" srcId="{566F5EB6-81DB-4F86-A779-C6D06B2D5EE0}" destId="{5D3C169D-592D-43B3-96A2-E2AF00F98FCB}" srcOrd="0" destOrd="1" presId="urn:microsoft.com/office/officeart/2005/8/layout/vList5"/>
    <dgm:cxn modelId="{3E45A864-55A3-4975-AB57-BF0A7A89D81F}" srcId="{AA9211D3-58F5-489C-A0E6-EB2C7F48F056}" destId="{F01F3D6B-6515-44A6-B9F7-168DEDEA300A}" srcOrd="1" destOrd="0" parTransId="{CD7AEC4E-2CEE-444B-8624-A0523A976482}" sibTransId="{26A4E018-90BA-4FBD-A4B0-D6694DF8CEC2}"/>
    <dgm:cxn modelId="{63F30E48-3F70-45E2-817A-2BE49C5071E0}" type="presOf" srcId="{497F9FB7-C298-47BE-9978-3201A3B8F668}" destId="{F572F5F6-6AF4-4EC1-8CD2-23FA228EBB88}" srcOrd="0" destOrd="0" presId="urn:microsoft.com/office/officeart/2005/8/layout/vList5"/>
    <dgm:cxn modelId="{32B0996C-A94C-4955-AB21-DD1FDA4E65B4}" type="presOf" srcId="{A40DD733-8812-49CD-8F2D-D9833CE82462}" destId="{BB5564D1-AB2F-4975-8B20-6C3A137918AB}" srcOrd="0" destOrd="0" presId="urn:microsoft.com/office/officeart/2005/8/layout/vList5"/>
    <dgm:cxn modelId="{D4C91D6E-9EBB-4161-B271-829A61EA83F5}" type="presOf" srcId="{F01F3D6B-6515-44A6-B9F7-168DEDEA300A}" destId="{51EAAC29-7133-48E2-BA20-1C59C0CE160D}" srcOrd="0" destOrd="1" presId="urn:microsoft.com/office/officeart/2005/8/layout/vList5"/>
    <dgm:cxn modelId="{B0CF486F-BF3B-4932-AB9B-C79F6C3B7EFA}" type="presOf" srcId="{4C3120E4-456E-4C35-ADFB-57B419271688}" destId="{41CCDF27-C149-4F37-BE23-2B304108C3C2}" srcOrd="0" destOrd="1" presId="urn:microsoft.com/office/officeart/2005/8/layout/vList5"/>
    <dgm:cxn modelId="{FA46B46F-B1B8-4723-A3B2-244364909248}" type="presOf" srcId="{7607F187-A462-4AD1-8557-541680D3EB4E}" destId="{4302BC3C-57DB-47DE-97B3-A55EA511B4CF}" srcOrd="0" destOrd="0" presId="urn:microsoft.com/office/officeart/2005/8/layout/vList5"/>
    <dgm:cxn modelId="{ED013571-49B0-44E0-A9C5-073E8B78D4F5}" srcId="{F9C4BA9B-8446-457A-ADDF-AD5C7DBA276C}" destId="{563B6AC1-6A2C-40D8-BF79-D57C1FD16238}" srcOrd="1" destOrd="0" parTransId="{FBF44E36-0DF3-488C-8E29-2F1958E067BB}" sibTransId="{C42683DC-9AFF-4BCC-A69B-4DCF4A32DF31}"/>
    <dgm:cxn modelId="{B3990372-D61D-4DED-8FC9-BE81D8DA30BC}" type="presOf" srcId="{FD904437-DCAA-473B-93CE-6CF1B9D41152}" destId="{CC9BA2DD-C916-4847-89FF-21DD6BD06D62}" srcOrd="0" destOrd="0" presId="urn:microsoft.com/office/officeart/2005/8/layout/vList5"/>
    <dgm:cxn modelId="{1B31F174-28B3-4434-92D1-1EE9B8B9A2F8}" type="presOf" srcId="{5708EEB3-DE51-433B-A60F-872B7852BCD2}" destId="{503037C0-ECE5-4E0D-8F35-E2292E333CDF}" srcOrd="0" destOrd="0" presId="urn:microsoft.com/office/officeart/2005/8/layout/vList5"/>
    <dgm:cxn modelId="{B7BAF274-CBE7-48E3-A1A1-B3AD59A37A97}" type="presOf" srcId="{563B6AC1-6A2C-40D8-BF79-D57C1FD16238}" destId="{4464CA84-DA73-4C34-ADBD-EE4EDFAD8B99}" srcOrd="0" destOrd="1" presId="urn:microsoft.com/office/officeart/2005/8/layout/vList5"/>
    <dgm:cxn modelId="{D3BFE955-48DC-4CC2-83CA-0C1E2E5101FA}" srcId="{F9C4BA9B-8446-457A-ADDF-AD5C7DBA276C}" destId="{E178237D-1B22-4B51-BCA7-46D4630CDE15}" srcOrd="2" destOrd="0" parTransId="{1B5C17E9-3DB5-4CAF-8EC2-EC1D1FB8AF3E}" sibTransId="{6AE79BDD-B358-4448-96E5-AB7487A3060B}"/>
    <dgm:cxn modelId="{44CCB376-C631-46D9-AE4E-1CF9B70F0E18}" type="presOf" srcId="{AA9211D3-58F5-489C-A0E6-EB2C7F48F056}" destId="{788C1FDC-6700-4C53-AD2F-04AFF096940F}" srcOrd="0" destOrd="0" presId="urn:microsoft.com/office/officeart/2005/8/layout/vList5"/>
    <dgm:cxn modelId="{E45F0979-409D-4066-859F-428C9DCF92E1}" srcId="{12E69C22-CF89-414C-BBB7-E78EA5EFF4F3}" destId="{FD904437-DCAA-473B-93CE-6CF1B9D41152}" srcOrd="0" destOrd="0" parTransId="{63156B6A-DD98-4EC8-9C2A-2F6898A04B29}" sibTransId="{A688EF50-FF5A-475F-9927-E85BCEB5FAF0}"/>
    <dgm:cxn modelId="{CC26487F-EE5D-42F2-9EB3-BC75880A3A28}" srcId="{D516ECE9-BCB2-427B-B4C7-DEBFD86EB069}" destId="{38971C07-70DF-4230-8B7A-C0469482CF24}" srcOrd="0" destOrd="0" parTransId="{92A3173F-54A6-4336-BCCE-2BE5FFBCC9A5}" sibTransId="{67911BAD-752F-4FA4-BDEB-EFD7D4A72E3B}"/>
    <dgm:cxn modelId="{F57C7E82-CEA4-4C7B-9EA8-FF6ECC586083}" srcId="{3B2D9394-266F-4A46-9530-736575DAA20F}" destId="{D516ECE9-BCB2-427B-B4C7-DEBFD86EB069}" srcOrd="1" destOrd="0" parTransId="{D7664DA1-B7E5-407C-BB63-F73E88CE4E94}" sibTransId="{98E35CE7-FC63-4673-B3D7-1F4F7D1424D2}"/>
    <dgm:cxn modelId="{12D7C393-7FB7-49E0-A9B7-B4796F0C7484}" type="presOf" srcId="{DBE7F0B1-29D1-4250-B032-AD8330AB9E86}" destId="{4464CA84-DA73-4C34-ADBD-EE4EDFAD8B99}" srcOrd="0" destOrd="3" presId="urn:microsoft.com/office/officeart/2005/8/layout/vList5"/>
    <dgm:cxn modelId="{37CFB794-B827-4AB6-ACAA-62F8A6A9AE4C}" srcId="{AA9211D3-58F5-489C-A0E6-EB2C7F48F056}" destId="{1806FC8D-0BEE-4F66-8DE8-E03D301FB8F1}" srcOrd="0" destOrd="0" parTransId="{E14C58B4-14A1-46FB-AD68-918EBB8C52F3}" sibTransId="{E3EBCC27-B80E-426E-B05C-532283685D85}"/>
    <dgm:cxn modelId="{D8145295-1A7C-496C-84FB-101A51A3059E}" srcId="{5708EEB3-DE51-433B-A60F-872B7852BCD2}" destId="{148FF578-A3E6-4EF7-8576-64EFD3D87D7C}" srcOrd="1" destOrd="0" parTransId="{634BBA3E-301E-4479-952B-33E3470CDFAB}" sibTransId="{F723D1B0-32AA-47CF-9E18-25DE4EDE479B}"/>
    <dgm:cxn modelId="{C5A1959A-0CA2-4376-8AE5-068C554A150E}" srcId="{5708EEB3-DE51-433B-A60F-872B7852BCD2}" destId="{7607F187-A462-4AD1-8557-541680D3EB4E}" srcOrd="0" destOrd="0" parTransId="{2CAFA84A-033E-4840-9C65-4E6951E7FCE0}" sibTransId="{C2CF9626-4441-4536-8CA8-90DE174C1760}"/>
    <dgm:cxn modelId="{9E09CB9A-623F-4C2C-B5D0-AA662135E0DD}" type="presOf" srcId="{3B2D9394-266F-4A46-9530-736575DAA20F}" destId="{DB7A467F-BFDC-49C3-8BE0-C61C7DFA4AEA}" srcOrd="0" destOrd="0" presId="urn:microsoft.com/office/officeart/2005/8/layout/vList5"/>
    <dgm:cxn modelId="{3D5F73A5-117A-4C54-87DB-E1F129A4A38D}" type="presOf" srcId="{C13D698A-F547-4439-840E-F95C7832EB86}" destId="{4464CA84-DA73-4C34-ADBD-EE4EDFAD8B99}" srcOrd="0" destOrd="0" presId="urn:microsoft.com/office/officeart/2005/8/layout/vList5"/>
    <dgm:cxn modelId="{275CADAE-9A6A-4EAF-A2D3-58BBA2C75EE0}" type="presOf" srcId="{AE346936-E11F-4870-A5A6-3E1B19E45C81}" destId="{F5033B04-2EB2-4C5B-85B9-187455BFDF3F}" srcOrd="0" destOrd="0" presId="urn:microsoft.com/office/officeart/2005/8/layout/vList5"/>
    <dgm:cxn modelId="{E46520C7-EE92-4433-8F40-D58E576A588A}" srcId="{A40DD733-8812-49CD-8F2D-D9833CE82462}" destId="{AE346936-E11F-4870-A5A6-3E1B19E45C81}" srcOrd="0" destOrd="0" parTransId="{CCD37B50-6FC7-4172-80F7-B4A806A65C82}" sibTransId="{80ACDC26-01B1-4786-AED8-000764EFF655}"/>
    <dgm:cxn modelId="{210E0CD3-20C8-4673-86BD-81FB83B2E6CA}" srcId="{3B2D9394-266F-4A46-9530-736575DAA20F}" destId="{A40DD733-8812-49CD-8F2D-D9833CE82462}" srcOrd="6" destOrd="0" parTransId="{C8E3BFA1-4E2C-48FB-8954-A5736FDC0591}" sibTransId="{78E6E2FF-0C46-464F-89E1-A645935FC568}"/>
    <dgm:cxn modelId="{85EF63DE-C8A6-4752-9F96-35577D2960C8}" type="presOf" srcId="{35CE32A6-0FAD-4D32-8DAB-A8B5233716CB}" destId="{F5033B04-2EB2-4C5B-85B9-187455BFDF3F}" srcOrd="0" destOrd="1" presId="urn:microsoft.com/office/officeart/2005/8/layout/vList5"/>
    <dgm:cxn modelId="{C63D9DE0-9B05-40BC-9736-0F78C47C3EE3}" srcId="{3B2D9394-266F-4A46-9530-736575DAA20F}" destId="{12E69C22-CF89-414C-BBB7-E78EA5EFF4F3}" srcOrd="3" destOrd="0" parTransId="{21B97DBF-B96A-408B-AC5E-76E693C6AED5}" sibTransId="{8F2E44D2-A6DC-40BC-BBF8-2FEFD1FDFA99}"/>
    <dgm:cxn modelId="{EF08A1E3-16CF-4479-B4F3-51EB32037E7D}" srcId="{3B2D9394-266F-4A46-9530-736575DAA20F}" destId="{5708EEB3-DE51-433B-A60F-872B7852BCD2}" srcOrd="2" destOrd="0" parTransId="{9CD2F5E2-260C-4FB5-BD1B-7027352C5F51}" sibTransId="{DF9CE783-3003-499E-9048-017FCB9CC654}"/>
    <dgm:cxn modelId="{804537EB-4180-4DAF-86BC-98D08FAB46B9}" srcId="{497F9FB7-C298-47BE-9978-3201A3B8F668}" destId="{8A16CE46-105C-4B01-BC80-55AC16F909BC}" srcOrd="0" destOrd="0" parTransId="{67D613A3-DCF9-44AA-8309-536B1EF0480B}" sibTransId="{357E1C31-12AD-4A88-91A7-F73267DCCBC8}"/>
    <dgm:cxn modelId="{CE36CCF3-0A65-4566-A0A8-ED086ED4A76A}" srcId="{3B2D9394-266F-4A46-9530-736575DAA20F}" destId="{AA9211D3-58F5-489C-A0E6-EB2C7F48F056}" srcOrd="0" destOrd="0" parTransId="{7EFDACCC-C4E2-4397-9391-D48FC4518A7F}" sibTransId="{E080E34D-7652-4915-8FAD-8D1F5E704234}"/>
    <dgm:cxn modelId="{93AC7DF9-BA13-4D2E-9E1D-EA23DE9D48AA}" type="presOf" srcId="{E178237D-1B22-4B51-BCA7-46D4630CDE15}" destId="{4464CA84-DA73-4C34-ADBD-EE4EDFAD8B99}" srcOrd="0" destOrd="2" presId="urn:microsoft.com/office/officeart/2005/8/layout/vList5"/>
    <dgm:cxn modelId="{13C0B7CE-05E9-4A93-89AD-27371855F877}" type="presParOf" srcId="{DB7A467F-BFDC-49C3-8BE0-C61C7DFA4AEA}" destId="{8820AF75-3C24-460B-941A-FFA724AB9D69}" srcOrd="0" destOrd="0" presId="urn:microsoft.com/office/officeart/2005/8/layout/vList5"/>
    <dgm:cxn modelId="{61692BC5-0F99-4D7A-99F9-0C47C03010C6}" type="presParOf" srcId="{8820AF75-3C24-460B-941A-FFA724AB9D69}" destId="{788C1FDC-6700-4C53-AD2F-04AFF096940F}" srcOrd="0" destOrd="0" presId="urn:microsoft.com/office/officeart/2005/8/layout/vList5"/>
    <dgm:cxn modelId="{FD499D97-0C3D-41B8-B7D7-9340E184DAC5}" type="presParOf" srcId="{8820AF75-3C24-460B-941A-FFA724AB9D69}" destId="{51EAAC29-7133-48E2-BA20-1C59C0CE160D}" srcOrd="1" destOrd="0" presId="urn:microsoft.com/office/officeart/2005/8/layout/vList5"/>
    <dgm:cxn modelId="{C17C61EB-2F07-4A37-BE95-812628B462B8}" type="presParOf" srcId="{DB7A467F-BFDC-49C3-8BE0-C61C7DFA4AEA}" destId="{BE138CC6-F698-401B-8746-101D5ADB4129}" srcOrd="1" destOrd="0" presId="urn:microsoft.com/office/officeart/2005/8/layout/vList5"/>
    <dgm:cxn modelId="{E3315D06-0AF3-49C8-AB9D-A0A1B27B8714}" type="presParOf" srcId="{DB7A467F-BFDC-49C3-8BE0-C61C7DFA4AEA}" destId="{DE9DBBF9-A945-47A0-9FC4-7F59A07AC700}" srcOrd="2" destOrd="0" presId="urn:microsoft.com/office/officeart/2005/8/layout/vList5"/>
    <dgm:cxn modelId="{BF4DA92A-654E-469B-B51D-F68F6C73E000}" type="presParOf" srcId="{DE9DBBF9-A945-47A0-9FC4-7F59A07AC700}" destId="{A2E352DA-62FA-4579-98AA-21BED05F34C8}" srcOrd="0" destOrd="0" presId="urn:microsoft.com/office/officeart/2005/8/layout/vList5"/>
    <dgm:cxn modelId="{B3330970-983F-4E80-ACAB-3688D156ECD0}" type="presParOf" srcId="{DE9DBBF9-A945-47A0-9FC4-7F59A07AC700}" destId="{5D3C169D-592D-43B3-96A2-E2AF00F98FCB}" srcOrd="1" destOrd="0" presId="urn:microsoft.com/office/officeart/2005/8/layout/vList5"/>
    <dgm:cxn modelId="{9E103248-BBB7-4C0A-8F19-EDDA82F4C649}" type="presParOf" srcId="{DB7A467F-BFDC-49C3-8BE0-C61C7DFA4AEA}" destId="{13308CB4-D9C4-43BA-9B7D-52491CD99F9C}" srcOrd="3" destOrd="0" presId="urn:microsoft.com/office/officeart/2005/8/layout/vList5"/>
    <dgm:cxn modelId="{E1A8EC36-70A8-43DC-8B40-9408C7BD6431}" type="presParOf" srcId="{DB7A467F-BFDC-49C3-8BE0-C61C7DFA4AEA}" destId="{E46C7319-8FBA-4618-B092-245A85FA2A3C}" srcOrd="4" destOrd="0" presId="urn:microsoft.com/office/officeart/2005/8/layout/vList5"/>
    <dgm:cxn modelId="{47C8CE41-6D6C-4772-BF50-8228B7BA3DB5}" type="presParOf" srcId="{E46C7319-8FBA-4618-B092-245A85FA2A3C}" destId="{503037C0-ECE5-4E0D-8F35-E2292E333CDF}" srcOrd="0" destOrd="0" presId="urn:microsoft.com/office/officeart/2005/8/layout/vList5"/>
    <dgm:cxn modelId="{DCDFFB6F-9FBF-4741-A6F7-517E7518155F}" type="presParOf" srcId="{E46C7319-8FBA-4618-B092-245A85FA2A3C}" destId="{4302BC3C-57DB-47DE-97B3-A55EA511B4CF}" srcOrd="1" destOrd="0" presId="urn:microsoft.com/office/officeart/2005/8/layout/vList5"/>
    <dgm:cxn modelId="{F77D1C1C-DF4D-4631-A67A-53402BDCDE7D}" type="presParOf" srcId="{DB7A467F-BFDC-49C3-8BE0-C61C7DFA4AEA}" destId="{2EFF2961-1193-46DE-8A9A-74EB9A5ADABF}" srcOrd="5" destOrd="0" presId="urn:microsoft.com/office/officeart/2005/8/layout/vList5"/>
    <dgm:cxn modelId="{242347DC-2294-4AB8-BF41-C3FD91A76463}" type="presParOf" srcId="{DB7A467F-BFDC-49C3-8BE0-C61C7DFA4AEA}" destId="{E4E76A28-4BEB-40AA-BB03-759EDBAE7709}" srcOrd="6" destOrd="0" presId="urn:microsoft.com/office/officeart/2005/8/layout/vList5"/>
    <dgm:cxn modelId="{95F57A2D-CDC0-41AA-866B-69585452D4AD}" type="presParOf" srcId="{E4E76A28-4BEB-40AA-BB03-759EDBAE7709}" destId="{EE93C61D-77AB-4BFE-B794-BD1055D1C02D}" srcOrd="0" destOrd="0" presId="urn:microsoft.com/office/officeart/2005/8/layout/vList5"/>
    <dgm:cxn modelId="{7B9A91FE-536E-4E92-8C56-B123BCC5BDA5}" type="presParOf" srcId="{E4E76A28-4BEB-40AA-BB03-759EDBAE7709}" destId="{CC9BA2DD-C916-4847-89FF-21DD6BD06D62}" srcOrd="1" destOrd="0" presId="urn:microsoft.com/office/officeart/2005/8/layout/vList5"/>
    <dgm:cxn modelId="{C3BEF517-D642-46E0-A9E3-72CBF80424A2}" type="presParOf" srcId="{DB7A467F-BFDC-49C3-8BE0-C61C7DFA4AEA}" destId="{D410B08B-CD8E-4239-B699-24916A4D9E40}" srcOrd="7" destOrd="0" presId="urn:microsoft.com/office/officeart/2005/8/layout/vList5"/>
    <dgm:cxn modelId="{63523FB1-AD71-4C1C-BE6F-5A6C00A5B936}" type="presParOf" srcId="{DB7A467F-BFDC-49C3-8BE0-C61C7DFA4AEA}" destId="{2C258886-D1C6-44D4-8CB8-1368952F504F}" srcOrd="8" destOrd="0" presId="urn:microsoft.com/office/officeart/2005/8/layout/vList5"/>
    <dgm:cxn modelId="{288E97FD-2199-4A0C-845A-619773B87D20}" type="presParOf" srcId="{2C258886-D1C6-44D4-8CB8-1368952F504F}" destId="{F572F5F6-6AF4-4EC1-8CD2-23FA228EBB88}" srcOrd="0" destOrd="0" presId="urn:microsoft.com/office/officeart/2005/8/layout/vList5"/>
    <dgm:cxn modelId="{08325F08-12E5-455F-9B73-6283ADD46A97}" type="presParOf" srcId="{2C258886-D1C6-44D4-8CB8-1368952F504F}" destId="{41CCDF27-C149-4F37-BE23-2B304108C3C2}" srcOrd="1" destOrd="0" presId="urn:microsoft.com/office/officeart/2005/8/layout/vList5"/>
    <dgm:cxn modelId="{AC12F7CC-C51C-4C42-B428-AAB3F20AE097}" type="presParOf" srcId="{DB7A467F-BFDC-49C3-8BE0-C61C7DFA4AEA}" destId="{79F6DB62-B5E3-4E3F-B340-8215D904DBC4}" srcOrd="9" destOrd="0" presId="urn:microsoft.com/office/officeart/2005/8/layout/vList5"/>
    <dgm:cxn modelId="{F615E0A0-7511-42B7-8924-55C67E52A5E6}" type="presParOf" srcId="{DB7A467F-BFDC-49C3-8BE0-C61C7DFA4AEA}" destId="{7FFE73D3-DBD3-4BA6-96BD-681978513022}" srcOrd="10" destOrd="0" presId="urn:microsoft.com/office/officeart/2005/8/layout/vList5"/>
    <dgm:cxn modelId="{738E46CC-B117-4397-A118-36A33D7DE0C8}" type="presParOf" srcId="{7FFE73D3-DBD3-4BA6-96BD-681978513022}" destId="{674D79DB-0D7B-4C76-B21A-E8234D36B9C1}" srcOrd="0" destOrd="0" presId="urn:microsoft.com/office/officeart/2005/8/layout/vList5"/>
    <dgm:cxn modelId="{5DF07407-104D-4C87-AC3B-74F5CECB88FC}" type="presParOf" srcId="{7FFE73D3-DBD3-4BA6-96BD-681978513022}" destId="{4464CA84-DA73-4C34-ADBD-EE4EDFAD8B99}" srcOrd="1" destOrd="0" presId="urn:microsoft.com/office/officeart/2005/8/layout/vList5"/>
    <dgm:cxn modelId="{90DDD0E4-487B-4808-99D5-925A9B6FC8D3}" type="presParOf" srcId="{DB7A467F-BFDC-49C3-8BE0-C61C7DFA4AEA}" destId="{25416B7F-F7D7-4848-BD05-97774298496A}" srcOrd="11" destOrd="0" presId="urn:microsoft.com/office/officeart/2005/8/layout/vList5"/>
    <dgm:cxn modelId="{AEF95679-AC9B-46A7-9F25-3125DF0EE968}" type="presParOf" srcId="{DB7A467F-BFDC-49C3-8BE0-C61C7DFA4AEA}" destId="{898B275C-075A-4315-B088-7DAA010E4DD9}" srcOrd="12" destOrd="0" presId="urn:microsoft.com/office/officeart/2005/8/layout/vList5"/>
    <dgm:cxn modelId="{EDE5BC86-EF1A-4D0C-BFF3-C9C7AEB6BE2B}" type="presParOf" srcId="{898B275C-075A-4315-B088-7DAA010E4DD9}" destId="{BB5564D1-AB2F-4975-8B20-6C3A137918AB}" srcOrd="0" destOrd="0" presId="urn:microsoft.com/office/officeart/2005/8/layout/vList5"/>
    <dgm:cxn modelId="{6425CDAD-E3BB-43A8-8491-BF22C527D7D2}" type="presParOf" srcId="{898B275C-075A-4315-B088-7DAA010E4DD9}" destId="{F5033B04-2EB2-4C5B-85B9-187455BFDF3F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6784699" y="-2673732"/>
          <a:ext cx="1658020" cy="713678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Provide comprehensive governance of the approved product list as well as ongoing management and recommendations</a:t>
          </a: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Manager due-diligence, selection and evaluation. Report on any changes within approved managers.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Quarterly asset allocation reviews. Providing alignment with current market dynamics and key objectives.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Portfolio risk monitoring and reporting.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45315" y="146590"/>
        <a:ext cx="7055851" cy="1496144"/>
      </dsp:txXfrm>
    </dsp:sp>
    <dsp:sp modelId="{788C1FDC-6700-4C53-AD2F-04AFF096940F}">
      <dsp:nvSpPr>
        <dsp:cNvPr id="0" name=""/>
        <dsp:cNvSpPr/>
      </dsp:nvSpPr>
      <dsp:spPr>
        <a:xfrm>
          <a:off x="0" y="900"/>
          <a:ext cx="4045315" cy="17875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CIO Functions</a:t>
          </a:r>
        </a:p>
      </dsp:txBody>
      <dsp:txXfrm>
        <a:off x="87260" y="88160"/>
        <a:ext cx="3870795" cy="1613001"/>
      </dsp:txXfrm>
    </dsp:sp>
    <dsp:sp modelId="{5D3C169D-592D-43B3-96A2-E2AF00F98FCB}">
      <dsp:nvSpPr>
        <dsp:cNvPr id="0" name=""/>
        <dsp:cNvSpPr/>
      </dsp:nvSpPr>
      <dsp:spPr>
        <a:xfrm rot="5400000">
          <a:off x="7198199" y="-1237265"/>
          <a:ext cx="813838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Review and make recommendations of direct loan opportunities.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Construct new reporting system that helps streamline the direct loan portfolio and move away from excel based tracking.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26239" y="1974423"/>
        <a:ext cx="7118031" cy="734382"/>
      </dsp:txXfrm>
    </dsp:sp>
    <dsp:sp modelId="{A2E352DA-62FA-4579-98AA-21BED05F34C8}">
      <dsp:nvSpPr>
        <dsp:cNvPr id="0" name=""/>
        <dsp:cNvSpPr/>
      </dsp:nvSpPr>
      <dsp:spPr>
        <a:xfrm>
          <a:off x="0" y="1838712"/>
          <a:ext cx="4026239" cy="10058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Direct Loan Portfolio</a:t>
          </a:r>
        </a:p>
      </dsp:txBody>
      <dsp:txXfrm>
        <a:off x="49099" y="1887811"/>
        <a:ext cx="3928041" cy="907604"/>
      </dsp:txXfrm>
    </dsp:sp>
    <dsp:sp modelId="{4302BC3C-57DB-47DE-97B3-A55EA511B4CF}">
      <dsp:nvSpPr>
        <dsp:cNvPr id="0" name=""/>
        <dsp:cNvSpPr/>
      </dsp:nvSpPr>
      <dsp:spPr>
        <a:xfrm rot="5400000">
          <a:off x="7202798" y="-181173"/>
          <a:ext cx="804641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Conduct independent reviews of KIMI products, including analysis of corporate structures, personnel and process.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Provide reports validating opportunity as well as identifying key risk factors.</a:t>
          </a:r>
        </a:p>
      </dsp:txBody>
      <dsp:txXfrm rot="-5400000">
        <a:off x="4026240" y="3034664"/>
        <a:ext cx="7118480" cy="726083"/>
      </dsp:txXfrm>
    </dsp:sp>
    <dsp:sp modelId="{503037C0-ECE5-4E0D-8F35-E2292E333CDF}">
      <dsp:nvSpPr>
        <dsp:cNvPr id="0" name=""/>
        <dsp:cNvSpPr/>
      </dsp:nvSpPr>
      <dsp:spPr>
        <a:xfrm>
          <a:off x="0" y="2930591"/>
          <a:ext cx="4026239" cy="10058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KIMI Pre-Product DD</a:t>
          </a:r>
        </a:p>
      </dsp:txBody>
      <dsp:txXfrm>
        <a:off x="49099" y="2979690"/>
        <a:ext cx="3928041" cy="907604"/>
      </dsp:txXfrm>
    </dsp:sp>
    <dsp:sp modelId="{CC9BA2DD-C916-4847-89FF-21DD6BD06D62}">
      <dsp:nvSpPr>
        <dsp:cNvPr id="0" name=""/>
        <dsp:cNvSpPr/>
      </dsp:nvSpPr>
      <dsp:spPr>
        <a:xfrm rot="5400000">
          <a:off x="7202798" y="874919"/>
          <a:ext cx="804641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Execute initial build out of 3x investment products over 18 months.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/>
            <a:t>Provide ongoing investment management function of each product strategy.</a:t>
          </a:r>
        </a:p>
      </dsp:txBody>
      <dsp:txXfrm rot="-5400000">
        <a:off x="4026240" y="4090757"/>
        <a:ext cx="7118480" cy="726083"/>
      </dsp:txXfrm>
    </dsp:sp>
    <dsp:sp modelId="{EE93C61D-77AB-4BFE-B794-BD1055D1C02D}">
      <dsp:nvSpPr>
        <dsp:cNvPr id="0" name=""/>
        <dsp:cNvSpPr/>
      </dsp:nvSpPr>
      <dsp:spPr>
        <a:xfrm>
          <a:off x="0" y="3950897"/>
          <a:ext cx="4026239" cy="10058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KIMI Build Out</a:t>
          </a:r>
        </a:p>
      </dsp:txBody>
      <dsp:txXfrm>
        <a:off x="49099" y="3999996"/>
        <a:ext cx="3928041" cy="907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D5ED-4986-4DFF-BCF8-06BD4EE96BE0}">
      <dsp:nvSpPr>
        <dsp:cNvPr id="0" name=""/>
        <dsp:cNvSpPr/>
      </dsp:nvSpPr>
      <dsp:spPr>
        <a:xfrm>
          <a:off x="2343422" y="9"/>
          <a:ext cx="1571854" cy="6784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1. Market Outlook</a:t>
          </a:r>
        </a:p>
      </dsp:txBody>
      <dsp:txXfrm>
        <a:off x="2376539" y="33126"/>
        <a:ext cx="1505620" cy="612180"/>
      </dsp:txXfrm>
    </dsp:sp>
    <dsp:sp modelId="{41E875C4-FE0F-4A00-BD55-1E86F05E7823}">
      <dsp:nvSpPr>
        <dsp:cNvPr id="0" name=""/>
        <dsp:cNvSpPr/>
      </dsp:nvSpPr>
      <dsp:spPr>
        <a:xfrm>
          <a:off x="1687672" y="490656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2395784" y="55834"/>
              </a:moveTo>
              <a:arcTo wR="1934380" hR="1934380" stAng="17027982" swAng="927332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0E9F9-081F-44D5-B29E-588BC86C347E}">
      <dsp:nvSpPr>
        <dsp:cNvPr id="0" name=""/>
        <dsp:cNvSpPr/>
      </dsp:nvSpPr>
      <dsp:spPr>
        <a:xfrm>
          <a:off x="4149498" y="827735"/>
          <a:ext cx="1630030" cy="678414"/>
        </a:xfrm>
        <a:prstGeom prst="roundRect">
          <a:avLst/>
        </a:prstGeom>
        <a:solidFill>
          <a:schemeClr val="accent2">
            <a:hueOff val="1639676"/>
            <a:satOff val="-13342"/>
            <a:lumOff val="1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2. Portfolio Objectives</a:t>
          </a:r>
        </a:p>
      </dsp:txBody>
      <dsp:txXfrm>
        <a:off x="4182615" y="860852"/>
        <a:ext cx="1563796" cy="612180"/>
      </dsp:txXfrm>
    </dsp:sp>
    <dsp:sp modelId="{DA6D0E5F-B31C-4CCE-BF48-2C06D9180D7D}">
      <dsp:nvSpPr>
        <dsp:cNvPr id="0" name=""/>
        <dsp:cNvSpPr/>
      </dsp:nvSpPr>
      <dsp:spPr>
        <a:xfrm>
          <a:off x="1390920" y="269821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3784784" y="1370616"/>
              </a:moveTo>
              <a:arcTo wR="1934380" hR="1934380" stAng="20583333" swAng="764819"/>
            </a:path>
          </a:pathLst>
        </a:custGeom>
        <a:noFill/>
        <a:ln w="6350" cap="flat" cmpd="sng" algn="ctr">
          <a:solidFill>
            <a:schemeClr val="accent2">
              <a:hueOff val="1639676"/>
              <a:satOff val="-13342"/>
              <a:lumOff val="12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2FB03-591D-46B8-987A-D2B74AF65811}">
      <dsp:nvSpPr>
        <dsp:cNvPr id="0" name=""/>
        <dsp:cNvSpPr/>
      </dsp:nvSpPr>
      <dsp:spPr>
        <a:xfrm>
          <a:off x="4430108" y="2204590"/>
          <a:ext cx="1628047" cy="678414"/>
        </a:xfrm>
        <a:prstGeom prst="roundRect">
          <a:avLst/>
        </a:prstGeom>
        <a:solidFill>
          <a:schemeClr val="accent2">
            <a:hueOff val="3279352"/>
            <a:satOff val="-26684"/>
            <a:lumOff val="24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3. Stress Test and Optimise</a:t>
          </a:r>
        </a:p>
      </dsp:txBody>
      <dsp:txXfrm>
        <a:off x="4463225" y="2237707"/>
        <a:ext cx="1561813" cy="612180"/>
      </dsp:txXfrm>
    </dsp:sp>
    <dsp:sp modelId="{C5F32DFF-D1B0-4293-B00D-E3E7EC6C17D3}">
      <dsp:nvSpPr>
        <dsp:cNvPr id="0" name=""/>
        <dsp:cNvSpPr/>
      </dsp:nvSpPr>
      <dsp:spPr>
        <a:xfrm>
          <a:off x="1527340" y="47439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3564640" y="2975571"/>
              </a:moveTo>
              <a:arcTo wR="1934380" hR="1934380" stAng="1953898" swAng="874353"/>
            </a:path>
          </a:pathLst>
        </a:custGeom>
        <a:noFill/>
        <a:ln w="6350" cap="flat" cmpd="sng" algn="ctr">
          <a:solidFill>
            <a:schemeClr val="accent2">
              <a:hueOff val="3279352"/>
              <a:satOff val="-26684"/>
              <a:lumOff val="241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D2DDF9-237A-4C22-914E-58CB84A379E8}">
      <dsp:nvSpPr>
        <dsp:cNvPr id="0" name=""/>
        <dsp:cNvSpPr/>
      </dsp:nvSpPr>
      <dsp:spPr>
        <a:xfrm>
          <a:off x="3475775" y="3504789"/>
          <a:ext cx="1663648" cy="678414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4. Build Sector Portfolios</a:t>
          </a:r>
        </a:p>
      </dsp:txBody>
      <dsp:txXfrm>
        <a:off x="3508892" y="3537906"/>
        <a:ext cx="1597414" cy="612180"/>
      </dsp:txXfrm>
    </dsp:sp>
    <dsp:sp modelId="{9E306667-702C-4FC8-AC15-C000FB8AFB6A}">
      <dsp:nvSpPr>
        <dsp:cNvPr id="0" name=""/>
        <dsp:cNvSpPr/>
      </dsp:nvSpPr>
      <dsp:spPr>
        <a:xfrm>
          <a:off x="1266165" y="358506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2175856" y="3853629"/>
              </a:moveTo>
              <a:arcTo wR="1934380" hR="1934380" stAng="4969731" swAng="927476"/>
            </a:path>
          </a:pathLst>
        </a:custGeom>
        <a:noFill/>
        <a:ln w="6350" cap="flat" cmpd="sng" algn="ctr">
          <a:solidFill>
            <a:schemeClr val="accent2">
              <a:hueOff val="4919028"/>
              <a:satOff val="-40025"/>
              <a:lumOff val="36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CB1D9-B68F-4B0B-8E42-C8358F1BEC70}">
      <dsp:nvSpPr>
        <dsp:cNvPr id="0" name=""/>
        <dsp:cNvSpPr/>
      </dsp:nvSpPr>
      <dsp:spPr>
        <a:xfrm>
          <a:off x="1213491" y="3504781"/>
          <a:ext cx="1539801" cy="678414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5. Bottom-up risk analysis</a:t>
          </a:r>
        </a:p>
      </dsp:txBody>
      <dsp:txXfrm>
        <a:off x="1246608" y="3537898"/>
        <a:ext cx="1473567" cy="612180"/>
      </dsp:txXfrm>
    </dsp:sp>
    <dsp:sp modelId="{5C3361FE-477F-4973-80CB-4C3ACF7F6BE0}">
      <dsp:nvSpPr>
        <dsp:cNvPr id="0" name=""/>
        <dsp:cNvSpPr/>
      </dsp:nvSpPr>
      <dsp:spPr>
        <a:xfrm>
          <a:off x="1020352" y="168816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493178" y="3224638"/>
              </a:moveTo>
              <a:arcTo wR="1934380" hR="1934380" stAng="8289780" swAng="836634"/>
            </a:path>
          </a:pathLst>
        </a:custGeom>
        <a:noFill/>
        <a:ln w="6350" cap="flat" cmpd="sng" algn="ctr">
          <a:solidFill>
            <a:srgbClr val="3D555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1C02FE-3D0E-47F5-B86E-44A83BECDDCE}">
      <dsp:nvSpPr>
        <dsp:cNvPr id="0" name=""/>
        <dsp:cNvSpPr/>
      </dsp:nvSpPr>
      <dsp:spPr>
        <a:xfrm>
          <a:off x="163444" y="2189837"/>
          <a:ext cx="1883872" cy="678414"/>
        </a:xfrm>
        <a:prstGeom prst="roundRect">
          <a:avLst/>
        </a:prstGeom>
        <a:solidFill>
          <a:srgbClr val="669E9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6. Refine</a:t>
          </a:r>
        </a:p>
      </dsp:txBody>
      <dsp:txXfrm>
        <a:off x="196561" y="2222954"/>
        <a:ext cx="1817638" cy="612180"/>
      </dsp:txXfrm>
    </dsp:sp>
    <dsp:sp modelId="{08143117-5653-4A6A-94C3-ECE5DFCDEDC3}">
      <dsp:nvSpPr>
        <dsp:cNvPr id="0" name=""/>
        <dsp:cNvSpPr/>
      </dsp:nvSpPr>
      <dsp:spPr>
        <a:xfrm>
          <a:off x="1066989" y="-50633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8100" y="2111226"/>
              </a:moveTo>
              <a:arcTo wR="1934380" hR="1934380" stAng="10485273" swAng="700190"/>
            </a:path>
          </a:pathLst>
        </a:custGeom>
        <a:noFill/>
        <a:ln w="6350" cap="flat" cmpd="sng" algn="ctr">
          <a:solidFill>
            <a:schemeClr val="accent2">
              <a:hueOff val="8198379"/>
              <a:satOff val="-66709"/>
              <a:lumOff val="60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3E2B0-D5A1-4565-92A8-D2C34B0EE4E4}">
      <dsp:nvSpPr>
        <dsp:cNvPr id="0" name=""/>
        <dsp:cNvSpPr/>
      </dsp:nvSpPr>
      <dsp:spPr>
        <a:xfrm>
          <a:off x="326888" y="860007"/>
          <a:ext cx="1860357" cy="678414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7. Monitor</a:t>
          </a:r>
        </a:p>
      </dsp:txBody>
      <dsp:txXfrm>
        <a:off x="360005" y="893124"/>
        <a:ext cx="1794123" cy="612180"/>
      </dsp:txXfrm>
    </dsp:sp>
    <dsp:sp modelId="{BFDDC2E6-03D7-4A74-8F34-2B6D18086AC4}">
      <dsp:nvSpPr>
        <dsp:cNvPr id="0" name=""/>
        <dsp:cNvSpPr/>
      </dsp:nvSpPr>
      <dsp:spPr>
        <a:xfrm>
          <a:off x="728480" y="472120"/>
          <a:ext cx="3868760" cy="3868760"/>
        </a:xfrm>
        <a:custGeom>
          <a:avLst/>
          <a:gdLst/>
          <a:ahLst/>
          <a:cxnLst/>
          <a:rect l="0" t="0" r="0" b="0"/>
          <a:pathLst>
            <a:path>
              <a:moveTo>
                <a:pt x="923985" y="284856"/>
              </a:moveTo>
              <a:arcTo wR="1934380" hR="1934380" stAng="14310658" swAng="993183"/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D5ED-4986-4DFF-BCF8-06BD4EE96BE0}">
      <dsp:nvSpPr>
        <dsp:cNvPr id="0" name=""/>
        <dsp:cNvSpPr/>
      </dsp:nvSpPr>
      <dsp:spPr>
        <a:xfrm>
          <a:off x="2320659" y="0"/>
          <a:ext cx="1571041" cy="678063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1. Market Outlook</a:t>
          </a:r>
        </a:p>
      </dsp:txBody>
      <dsp:txXfrm>
        <a:off x="2353759" y="33100"/>
        <a:ext cx="1504841" cy="611863"/>
      </dsp:txXfrm>
    </dsp:sp>
    <dsp:sp modelId="{41E875C4-FE0F-4A00-BD55-1E86F05E7823}">
      <dsp:nvSpPr>
        <dsp:cNvPr id="0" name=""/>
        <dsp:cNvSpPr/>
      </dsp:nvSpPr>
      <dsp:spPr>
        <a:xfrm>
          <a:off x="1663719" y="490557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2396852" y="55310"/>
              </a:moveTo>
              <a:arcTo wR="1937244" hR="1937244" stAng="17023451" swAng="929563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0E9F9-081F-44D5-B29E-588BC86C347E}">
      <dsp:nvSpPr>
        <dsp:cNvPr id="0" name=""/>
        <dsp:cNvSpPr/>
      </dsp:nvSpPr>
      <dsp:spPr>
        <a:xfrm>
          <a:off x="4129467" y="827632"/>
          <a:ext cx="1629188" cy="678063"/>
        </a:xfrm>
        <a:prstGeom prst="roundRect">
          <a:avLst/>
        </a:prstGeom>
        <a:solidFill>
          <a:srgbClr val="E1D52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2. Portfolio Objectives</a:t>
          </a:r>
        </a:p>
      </dsp:txBody>
      <dsp:txXfrm>
        <a:off x="4162567" y="860732"/>
        <a:ext cx="1562988" cy="611863"/>
      </dsp:txXfrm>
    </dsp:sp>
    <dsp:sp modelId="{DA6D0E5F-B31C-4CCE-BF48-2C06D9180D7D}">
      <dsp:nvSpPr>
        <dsp:cNvPr id="0" name=""/>
        <dsp:cNvSpPr/>
      </dsp:nvSpPr>
      <dsp:spPr>
        <a:xfrm>
          <a:off x="1365200" y="268264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3790241" y="1372164"/>
              </a:moveTo>
              <a:arcTo wR="1937244" hR="1937244" stAng="20582440" swAng="766335"/>
            </a:path>
          </a:pathLst>
        </a:custGeom>
        <a:noFill/>
        <a:ln w="6350" cap="flat" cmpd="sng" algn="ctr">
          <a:solidFill>
            <a:schemeClr val="accent2">
              <a:hueOff val="1639676"/>
              <a:satOff val="-13342"/>
              <a:lumOff val="12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2FB03-591D-46B8-987A-D2B74AF65811}">
      <dsp:nvSpPr>
        <dsp:cNvPr id="0" name=""/>
        <dsp:cNvSpPr/>
      </dsp:nvSpPr>
      <dsp:spPr>
        <a:xfrm>
          <a:off x="4410491" y="2206525"/>
          <a:ext cx="1627206" cy="678063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3. Stress Test and Optimise</a:t>
          </a:r>
        </a:p>
      </dsp:txBody>
      <dsp:txXfrm>
        <a:off x="4443591" y="2239625"/>
        <a:ext cx="1561006" cy="611863"/>
      </dsp:txXfrm>
    </dsp:sp>
    <dsp:sp modelId="{C5F32DFF-D1B0-4293-B00D-E3E7EC6C17D3}">
      <dsp:nvSpPr>
        <dsp:cNvPr id="0" name=""/>
        <dsp:cNvSpPr/>
      </dsp:nvSpPr>
      <dsp:spPr>
        <a:xfrm>
          <a:off x="1501305" y="46145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3570557" y="2978975"/>
              </a:moveTo>
              <a:arcTo wR="1937244" hR="1937244" stAng="1951790" swAng="876027"/>
            </a:path>
          </a:pathLst>
        </a:custGeom>
        <a:noFill/>
        <a:ln w="6350" cap="flat" cmpd="sng" algn="ctr">
          <a:solidFill>
            <a:schemeClr val="accent2">
              <a:hueOff val="3279352"/>
              <a:satOff val="-26684"/>
              <a:lumOff val="241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D2DDF9-237A-4C22-914E-58CB84A379E8}">
      <dsp:nvSpPr>
        <dsp:cNvPr id="0" name=""/>
        <dsp:cNvSpPr/>
      </dsp:nvSpPr>
      <dsp:spPr>
        <a:xfrm>
          <a:off x="3454780" y="3508649"/>
          <a:ext cx="1662788" cy="678063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4. Build Sector Portfolios</a:t>
          </a:r>
        </a:p>
      </dsp:txBody>
      <dsp:txXfrm>
        <a:off x="3487880" y="3541749"/>
        <a:ext cx="1596588" cy="611863"/>
      </dsp:txXfrm>
    </dsp:sp>
    <dsp:sp modelId="{9E306667-702C-4FC8-AC15-C000FB8AFB6A}">
      <dsp:nvSpPr>
        <dsp:cNvPr id="0" name=""/>
        <dsp:cNvSpPr/>
      </dsp:nvSpPr>
      <dsp:spPr>
        <a:xfrm>
          <a:off x="1239826" y="357007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2181304" y="3859053"/>
              </a:moveTo>
              <a:arcTo wR="1937244" hR="1937244" stAng="4965747" swAng="932053"/>
            </a:path>
          </a:pathLst>
        </a:custGeom>
        <a:noFill/>
        <a:ln w="6350" cap="flat" cmpd="sng" algn="ctr">
          <a:solidFill>
            <a:schemeClr val="accent2">
              <a:hueOff val="4919028"/>
              <a:satOff val="-40025"/>
              <a:lumOff val="36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CB1D9-B68F-4B0B-8E42-C8358F1BEC70}">
      <dsp:nvSpPr>
        <dsp:cNvPr id="0" name=""/>
        <dsp:cNvSpPr/>
      </dsp:nvSpPr>
      <dsp:spPr>
        <a:xfrm>
          <a:off x="1189022" y="3508641"/>
          <a:ext cx="1539005" cy="678063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5. Bottom-up risk analysis</a:t>
          </a:r>
        </a:p>
      </dsp:txBody>
      <dsp:txXfrm>
        <a:off x="1222122" y="3541741"/>
        <a:ext cx="1472805" cy="611863"/>
      </dsp:txXfrm>
    </dsp:sp>
    <dsp:sp modelId="{5C3361FE-477F-4973-80CB-4C3ACF7F6BE0}">
      <dsp:nvSpPr>
        <dsp:cNvPr id="0" name=""/>
        <dsp:cNvSpPr/>
      </dsp:nvSpPr>
      <dsp:spPr>
        <a:xfrm>
          <a:off x="994309" y="167443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493986" y="3229499"/>
              </a:moveTo>
              <a:arcTo wR="1937244" hR="1937244" stAng="8289574" swAng="838341"/>
            </a:path>
          </a:pathLst>
        </a:custGeom>
        <a:noFill/>
        <a:ln w="6350" cap="flat" cmpd="sng" algn="ctr">
          <a:solidFill>
            <a:srgbClr val="3D555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1C02FE-3D0E-47F5-B86E-44A83BECDDCE}">
      <dsp:nvSpPr>
        <dsp:cNvPr id="0" name=""/>
        <dsp:cNvSpPr/>
      </dsp:nvSpPr>
      <dsp:spPr>
        <a:xfrm>
          <a:off x="137765" y="2191751"/>
          <a:ext cx="1882898" cy="678063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6. Refine</a:t>
          </a:r>
        </a:p>
      </dsp:txBody>
      <dsp:txXfrm>
        <a:off x="170865" y="2224851"/>
        <a:ext cx="1816698" cy="611863"/>
      </dsp:txXfrm>
    </dsp:sp>
    <dsp:sp modelId="{08143117-5653-4A6A-94C3-ECE5DFCDEDC3}">
      <dsp:nvSpPr>
        <dsp:cNvPr id="0" name=""/>
        <dsp:cNvSpPr/>
      </dsp:nvSpPr>
      <dsp:spPr>
        <a:xfrm>
          <a:off x="1040751" y="-51948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8079" y="2113991"/>
              </a:moveTo>
              <a:arcTo wR="1937244" hR="1937244" stAng="10485916" swAng="701671"/>
            </a:path>
          </a:pathLst>
        </a:custGeom>
        <a:noFill/>
        <a:ln w="6350" cap="flat" cmpd="sng" algn="ctr">
          <a:solidFill>
            <a:schemeClr val="accent2">
              <a:hueOff val="8198379"/>
              <a:satOff val="-66709"/>
              <a:lumOff val="60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3E2B0-D5A1-4565-92A8-D2C34B0EE4E4}">
      <dsp:nvSpPr>
        <dsp:cNvPr id="0" name=""/>
        <dsp:cNvSpPr/>
      </dsp:nvSpPr>
      <dsp:spPr>
        <a:xfrm>
          <a:off x="301427" y="859952"/>
          <a:ext cx="1859395" cy="678063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7. Monitor</a:t>
          </a:r>
        </a:p>
      </dsp:txBody>
      <dsp:txXfrm>
        <a:off x="334527" y="893052"/>
        <a:ext cx="1793195" cy="611863"/>
      </dsp:txXfrm>
    </dsp:sp>
    <dsp:sp modelId="{BFDDC2E6-03D7-4A74-8F34-2B6D18086AC4}">
      <dsp:nvSpPr>
        <dsp:cNvPr id="0" name=""/>
        <dsp:cNvSpPr/>
      </dsp:nvSpPr>
      <dsp:spPr>
        <a:xfrm>
          <a:off x="700405" y="472058"/>
          <a:ext cx="3874488" cy="3874488"/>
        </a:xfrm>
        <a:custGeom>
          <a:avLst/>
          <a:gdLst/>
          <a:ahLst/>
          <a:cxnLst/>
          <a:rect l="0" t="0" r="0" b="0"/>
          <a:pathLst>
            <a:path>
              <a:moveTo>
                <a:pt x="926493" y="284580"/>
              </a:moveTo>
              <a:arcTo wR="1937244" hR="1937244" stAng="14313030" swAng="995370"/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D5ED-4986-4DFF-BCF8-06BD4EE96BE0}">
      <dsp:nvSpPr>
        <dsp:cNvPr id="0" name=""/>
        <dsp:cNvSpPr/>
      </dsp:nvSpPr>
      <dsp:spPr>
        <a:xfrm>
          <a:off x="2343381" y="8"/>
          <a:ext cx="1571826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1. Market Outlook</a:t>
          </a:r>
        </a:p>
      </dsp:txBody>
      <dsp:txXfrm>
        <a:off x="2376498" y="33125"/>
        <a:ext cx="1505592" cy="612168"/>
      </dsp:txXfrm>
    </dsp:sp>
    <dsp:sp modelId="{41E875C4-FE0F-4A00-BD55-1E86F05E7823}">
      <dsp:nvSpPr>
        <dsp:cNvPr id="0" name=""/>
        <dsp:cNvSpPr/>
      </dsp:nvSpPr>
      <dsp:spPr>
        <a:xfrm>
          <a:off x="1687644" y="490647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2395742" y="55833"/>
              </a:moveTo>
              <a:arcTo wR="1934346" hR="1934346" stAng="17027982" swAng="927331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0E9F9-081F-44D5-B29E-588BC86C347E}">
      <dsp:nvSpPr>
        <dsp:cNvPr id="0" name=""/>
        <dsp:cNvSpPr/>
      </dsp:nvSpPr>
      <dsp:spPr>
        <a:xfrm>
          <a:off x="4149425" y="827720"/>
          <a:ext cx="1630002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2. Portfolio Objectives</a:t>
          </a:r>
        </a:p>
      </dsp:txBody>
      <dsp:txXfrm>
        <a:off x="4182542" y="860837"/>
        <a:ext cx="1563768" cy="612168"/>
      </dsp:txXfrm>
    </dsp:sp>
    <dsp:sp modelId="{DA6D0E5F-B31C-4CCE-BF48-2C06D9180D7D}">
      <dsp:nvSpPr>
        <dsp:cNvPr id="0" name=""/>
        <dsp:cNvSpPr/>
      </dsp:nvSpPr>
      <dsp:spPr>
        <a:xfrm>
          <a:off x="1390897" y="269816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3784718" y="1370592"/>
              </a:moveTo>
              <a:arcTo wR="1934346" hR="1934346" stAng="20583333" swAng="764819"/>
            </a:path>
          </a:pathLst>
        </a:custGeom>
        <a:noFill/>
        <a:ln w="6350" cap="flat" cmpd="sng" algn="ctr">
          <a:solidFill>
            <a:schemeClr val="accent2">
              <a:hueOff val="1639676"/>
              <a:satOff val="-13342"/>
              <a:lumOff val="12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2FB03-591D-46B8-987A-D2B74AF65811}">
      <dsp:nvSpPr>
        <dsp:cNvPr id="0" name=""/>
        <dsp:cNvSpPr/>
      </dsp:nvSpPr>
      <dsp:spPr>
        <a:xfrm>
          <a:off x="4430031" y="2204551"/>
          <a:ext cx="1628019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3. Stress Test and Optimise</a:t>
          </a:r>
        </a:p>
      </dsp:txBody>
      <dsp:txXfrm>
        <a:off x="4463148" y="2237668"/>
        <a:ext cx="1561785" cy="612168"/>
      </dsp:txXfrm>
    </dsp:sp>
    <dsp:sp modelId="{C5F32DFF-D1B0-4293-B00D-E3E7EC6C17D3}">
      <dsp:nvSpPr>
        <dsp:cNvPr id="0" name=""/>
        <dsp:cNvSpPr/>
      </dsp:nvSpPr>
      <dsp:spPr>
        <a:xfrm>
          <a:off x="1527314" y="47438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3564577" y="2975518"/>
              </a:moveTo>
              <a:arcTo wR="1934346" hR="1934346" stAng="1953898" swAng="874353"/>
            </a:path>
          </a:pathLst>
        </a:custGeom>
        <a:noFill/>
        <a:ln w="6350" cap="flat" cmpd="sng" algn="ctr">
          <a:solidFill>
            <a:schemeClr val="accent2">
              <a:hueOff val="3279352"/>
              <a:satOff val="-26684"/>
              <a:lumOff val="241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D2DDF9-237A-4C22-914E-58CB84A379E8}">
      <dsp:nvSpPr>
        <dsp:cNvPr id="0" name=""/>
        <dsp:cNvSpPr/>
      </dsp:nvSpPr>
      <dsp:spPr>
        <a:xfrm>
          <a:off x="3475715" y="3504727"/>
          <a:ext cx="1663619" cy="678402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4. Build Sector Portfolios</a:t>
          </a:r>
        </a:p>
      </dsp:txBody>
      <dsp:txXfrm>
        <a:off x="3508832" y="3537844"/>
        <a:ext cx="1597385" cy="612168"/>
      </dsp:txXfrm>
    </dsp:sp>
    <dsp:sp modelId="{9E306667-702C-4FC8-AC15-C000FB8AFB6A}">
      <dsp:nvSpPr>
        <dsp:cNvPr id="0" name=""/>
        <dsp:cNvSpPr/>
      </dsp:nvSpPr>
      <dsp:spPr>
        <a:xfrm>
          <a:off x="1266143" y="358500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2175817" y="3853561"/>
              </a:moveTo>
              <a:arcTo wR="1934346" hR="1934346" stAng="4969731" swAng="927476"/>
            </a:path>
          </a:pathLst>
        </a:custGeom>
        <a:noFill/>
        <a:ln w="6350" cap="flat" cmpd="sng" algn="ctr">
          <a:solidFill>
            <a:schemeClr val="accent2">
              <a:hueOff val="4919028"/>
              <a:satOff val="-40025"/>
              <a:lumOff val="36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CB1D9-B68F-4B0B-8E42-C8358F1BEC70}">
      <dsp:nvSpPr>
        <dsp:cNvPr id="0" name=""/>
        <dsp:cNvSpPr/>
      </dsp:nvSpPr>
      <dsp:spPr>
        <a:xfrm>
          <a:off x="1213470" y="3504719"/>
          <a:ext cx="1539774" cy="678402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5. Bottom-up risk analysis</a:t>
          </a:r>
        </a:p>
      </dsp:txBody>
      <dsp:txXfrm>
        <a:off x="1246587" y="3537836"/>
        <a:ext cx="1473540" cy="612168"/>
      </dsp:txXfrm>
    </dsp:sp>
    <dsp:sp modelId="{5C3361FE-477F-4973-80CB-4C3ACF7F6BE0}">
      <dsp:nvSpPr>
        <dsp:cNvPr id="0" name=""/>
        <dsp:cNvSpPr/>
      </dsp:nvSpPr>
      <dsp:spPr>
        <a:xfrm>
          <a:off x="1020334" y="168813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493170" y="3224581"/>
              </a:moveTo>
              <a:arcTo wR="1934346" hR="1934346" stAng="8289781" swAng="836634"/>
            </a:path>
          </a:pathLst>
        </a:custGeom>
        <a:noFill/>
        <a:ln w="6350" cap="flat" cmpd="sng" algn="ctr">
          <a:solidFill>
            <a:srgbClr val="3D555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1C02FE-3D0E-47F5-B86E-44A83BECDDCE}">
      <dsp:nvSpPr>
        <dsp:cNvPr id="0" name=""/>
        <dsp:cNvSpPr/>
      </dsp:nvSpPr>
      <dsp:spPr>
        <a:xfrm>
          <a:off x="163442" y="2189798"/>
          <a:ext cx="1883839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6. Refine</a:t>
          </a:r>
        </a:p>
      </dsp:txBody>
      <dsp:txXfrm>
        <a:off x="196559" y="2222915"/>
        <a:ext cx="1817605" cy="612168"/>
      </dsp:txXfrm>
    </dsp:sp>
    <dsp:sp modelId="{08143117-5653-4A6A-94C3-ECE5DFCDEDC3}">
      <dsp:nvSpPr>
        <dsp:cNvPr id="0" name=""/>
        <dsp:cNvSpPr/>
      </dsp:nvSpPr>
      <dsp:spPr>
        <a:xfrm>
          <a:off x="1066971" y="-50633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8100" y="2111189"/>
              </a:moveTo>
              <a:arcTo wR="1934346" hR="1934346" stAng="10485273" swAng="700189"/>
            </a:path>
          </a:pathLst>
        </a:custGeom>
        <a:noFill/>
        <a:ln w="6350" cap="flat" cmpd="sng" algn="ctr">
          <a:solidFill>
            <a:schemeClr val="accent2">
              <a:hueOff val="8198379"/>
              <a:satOff val="-66709"/>
              <a:lumOff val="60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3E2B0-D5A1-4565-92A8-D2C34B0EE4E4}">
      <dsp:nvSpPr>
        <dsp:cNvPr id="0" name=""/>
        <dsp:cNvSpPr/>
      </dsp:nvSpPr>
      <dsp:spPr>
        <a:xfrm>
          <a:off x="326883" y="859992"/>
          <a:ext cx="1860325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7. Monitor</a:t>
          </a:r>
        </a:p>
      </dsp:txBody>
      <dsp:txXfrm>
        <a:off x="360000" y="893109"/>
        <a:ext cx="1794091" cy="612168"/>
      </dsp:txXfrm>
    </dsp:sp>
    <dsp:sp modelId="{BFDDC2E6-03D7-4A74-8F34-2B6D18086AC4}">
      <dsp:nvSpPr>
        <dsp:cNvPr id="0" name=""/>
        <dsp:cNvSpPr/>
      </dsp:nvSpPr>
      <dsp:spPr>
        <a:xfrm>
          <a:off x="728468" y="472112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923969" y="284851"/>
              </a:moveTo>
              <a:arcTo wR="1934346" hR="1934346" stAng="14310659" swAng="993182"/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D5ED-4986-4DFF-BCF8-06BD4EE96BE0}">
      <dsp:nvSpPr>
        <dsp:cNvPr id="0" name=""/>
        <dsp:cNvSpPr/>
      </dsp:nvSpPr>
      <dsp:spPr>
        <a:xfrm>
          <a:off x="2343381" y="8"/>
          <a:ext cx="1571826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1. Market Outlook</a:t>
          </a:r>
        </a:p>
      </dsp:txBody>
      <dsp:txXfrm>
        <a:off x="2376498" y="33125"/>
        <a:ext cx="1505592" cy="612168"/>
      </dsp:txXfrm>
    </dsp:sp>
    <dsp:sp modelId="{41E875C4-FE0F-4A00-BD55-1E86F05E7823}">
      <dsp:nvSpPr>
        <dsp:cNvPr id="0" name=""/>
        <dsp:cNvSpPr/>
      </dsp:nvSpPr>
      <dsp:spPr>
        <a:xfrm>
          <a:off x="1687644" y="490647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2395742" y="55833"/>
              </a:moveTo>
              <a:arcTo wR="1934346" hR="1934346" stAng="17027982" swAng="927331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0E9F9-081F-44D5-B29E-588BC86C347E}">
      <dsp:nvSpPr>
        <dsp:cNvPr id="0" name=""/>
        <dsp:cNvSpPr/>
      </dsp:nvSpPr>
      <dsp:spPr>
        <a:xfrm>
          <a:off x="4149425" y="827720"/>
          <a:ext cx="1630002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2. Portfolio Objectives</a:t>
          </a:r>
        </a:p>
      </dsp:txBody>
      <dsp:txXfrm>
        <a:off x="4182542" y="860837"/>
        <a:ext cx="1563768" cy="612168"/>
      </dsp:txXfrm>
    </dsp:sp>
    <dsp:sp modelId="{DA6D0E5F-B31C-4CCE-BF48-2C06D9180D7D}">
      <dsp:nvSpPr>
        <dsp:cNvPr id="0" name=""/>
        <dsp:cNvSpPr/>
      </dsp:nvSpPr>
      <dsp:spPr>
        <a:xfrm>
          <a:off x="1390897" y="269816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3784718" y="1370592"/>
              </a:moveTo>
              <a:arcTo wR="1934346" hR="1934346" stAng="20583333" swAng="764819"/>
            </a:path>
          </a:pathLst>
        </a:custGeom>
        <a:noFill/>
        <a:ln w="6350" cap="flat" cmpd="sng" algn="ctr">
          <a:solidFill>
            <a:schemeClr val="accent2">
              <a:hueOff val="1639676"/>
              <a:satOff val="-13342"/>
              <a:lumOff val="12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2FB03-591D-46B8-987A-D2B74AF65811}">
      <dsp:nvSpPr>
        <dsp:cNvPr id="0" name=""/>
        <dsp:cNvSpPr/>
      </dsp:nvSpPr>
      <dsp:spPr>
        <a:xfrm>
          <a:off x="4430031" y="2204551"/>
          <a:ext cx="1628019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3. Stress Test and Optimise</a:t>
          </a:r>
        </a:p>
      </dsp:txBody>
      <dsp:txXfrm>
        <a:off x="4463148" y="2237668"/>
        <a:ext cx="1561785" cy="612168"/>
      </dsp:txXfrm>
    </dsp:sp>
    <dsp:sp modelId="{C5F32DFF-D1B0-4293-B00D-E3E7EC6C17D3}">
      <dsp:nvSpPr>
        <dsp:cNvPr id="0" name=""/>
        <dsp:cNvSpPr/>
      </dsp:nvSpPr>
      <dsp:spPr>
        <a:xfrm>
          <a:off x="1527314" y="47438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3564577" y="2975518"/>
              </a:moveTo>
              <a:arcTo wR="1934346" hR="1934346" stAng="1953898" swAng="874353"/>
            </a:path>
          </a:pathLst>
        </a:custGeom>
        <a:noFill/>
        <a:ln w="6350" cap="flat" cmpd="sng" algn="ctr">
          <a:solidFill>
            <a:schemeClr val="accent2">
              <a:hueOff val="3279352"/>
              <a:satOff val="-26684"/>
              <a:lumOff val="241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D2DDF9-237A-4C22-914E-58CB84A379E8}">
      <dsp:nvSpPr>
        <dsp:cNvPr id="0" name=""/>
        <dsp:cNvSpPr/>
      </dsp:nvSpPr>
      <dsp:spPr>
        <a:xfrm>
          <a:off x="3475715" y="3504727"/>
          <a:ext cx="1663619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4. Build Sector Portfolios</a:t>
          </a:r>
        </a:p>
      </dsp:txBody>
      <dsp:txXfrm>
        <a:off x="3508832" y="3537844"/>
        <a:ext cx="1597385" cy="612168"/>
      </dsp:txXfrm>
    </dsp:sp>
    <dsp:sp modelId="{9E306667-702C-4FC8-AC15-C000FB8AFB6A}">
      <dsp:nvSpPr>
        <dsp:cNvPr id="0" name=""/>
        <dsp:cNvSpPr/>
      </dsp:nvSpPr>
      <dsp:spPr>
        <a:xfrm>
          <a:off x="1266143" y="358500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2175817" y="3853561"/>
              </a:moveTo>
              <a:arcTo wR="1934346" hR="1934346" stAng="4969731" swAng="927476"/>
            </a:path>
          </a:pathLst>
        </a:custGeom>
        <a:noFill/>
        <a:ln w="6350" cap="flat" cmpd="sng" algn="ctr">
          <a:solidFill>
            <a:schemeClr val="accent2">
              <a:hueOff val="4919028"/>
              <a:satOff val="-40025"/>
              <a:lumOff val="36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CB1D9-B68F-4B0B-8E42-C8358F1BEC70}">
      <dsp:nvSpPr>
        <dsp:cNvPr id="0" name=""/>
        <dsp:cNvSpPr/>
      </dsp:nvSpPr>
      <dsp:spPr>
        <a:xfrm>
          <a:off x="1213470" y="3504719"/>
          <a:ext cx="1539774" cy="678402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5. Bottom-up risk analysis</a:t>
          </a:r>
        </a:p>
      </dsp:txBody>
      <dsp:txXfrm>
        <a:off x="1246587" y="3537836"/>
        <a:ext cx="1473540" cy="612168"/>
      </dsp:txXfrm>
    </dsp:sp>
    <dsp:sp modelId="{5C3361FE-477F-4973-80CB-4C3ACF7F6BE0}">
      <dsp:nvSpPr>
        <dsp:cNvPr id="0" name=""/>
        <dsp:cNvSpPr/>
      </dsp:nvSpPr>
      <dsp:spPr>
        <a:xfrm>
          <a:off x="1020334" y="168813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493170" y="3224581"/>
              </a:moveTo>
              <a:arcTo wR="1934346" hR="1934346" stAng="8289781" swAng="836634"/>
            </a:path>
          </a:pathLst>
        </a:custGeom>
        <a:noFill/>
        <a:ln w="6350" cap="flat" cmpd="sng" algn="ctr">
          <a:solidFill>
            <a:srgbClr val="3D555E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1C02FE-3D0E-47F5-B86E-44A83BECDDCE}">
      <dsp:nvSpPr>
        <dsp:cNvPr id="0" name=""/>
        <dsp:cNvSpPr/>
      </dsp:nvSpPr>
      <dsp:spPr>
        <a:xfrm>
          <a:off x="163442" y="2189798"/>
          <a:ext cx="1883839" cy="678402"/>
        </a:xfrm>
        <a:prstGeom prst="roundRect">
          <a:avLst/>
        </a:prstGeom>
        <a:solidFill>
          <a:srgbClr val="78A99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6. Refine</a:t>
          </a:r>
        </a:p>
      </dsp:txBody>
      <dsp:txXfrm>
        <a:off x="196559" y="2222915"/>
        <a:ext cx="1817605" cy="612168"/>
      </dsp:txXfrm>
    </dsp:sp>
    <dsp:sp modelId="{08143117-5653-4A6A-94C3-ECE5DFCDEDC3}">
      <dsp:nvSpPr>
        <dsp:cNvPr id="0" name=""/>
        <dsp:cNvSpPr/>
      </dsp:nvSpPr>
      <dsp:spPr>
        <a:xfrm>
          <a:off x="1066971" y="-50633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8100" y="2111189"/>
              </a:moveTo>
              <a:arcTo wR="1934346" hR="1934346" stAng="10485273" swAng="700189"/>
            </a:path>
          </a:pathLst>
        </a:custGeom>
        <a:noFill/>
        <a:ln w="6350" cap="flat" cmpd="sng" algn="ctr">
          <a:solidFill>
            <a:schemeClr val="accent2">
              <a:hueOff val="8198379"/>
              <a:satOff val="-66709"/>
              <a:lumOff val="60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3E2B0-D5A1-4565-92A8-D2C34B0EE4E4}">
      <dsp:nvSpPr>
        <dsp:cNvPr id="0" name=""/>
        <dsp:cNvSpPr/>
      </dsp:nvSpPr>
      <dsp:spPr>
        <a:xfrm>
          <a:off x="326883" y="859992"/>
          <a:ext cx="1860325" cy="678402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7. Monitor</a:t>
          </a:r>
        </a:p>
      </dsp:txBody>
      <dsp:txXfrm>
        <a:off x="360000" y="893109"/>
        <a:ext cx="1794091" cy="612168"/>
      </dsp:txXfrm>
    </dsp:sp>
    <dsp:sp modelId="{BFDDC2E6-03D7-4A74-8F34-2B6D18086AC4}">
      <dsp:nvSpPr>
        <dsp:cNvPr id="0" name=""/>
        <dsp:cNvSpPr/>
      </dsp:nvSpPr>
      <dsp:spPr>
        <a:xfrm>
          <a:off x="728468" y="472112"/>
          <a:ext cx="3868692" cy="3868692"/>
        </a:xfrm>
        <a:custGeom>
          <a:avLst/>
          <a:gdLst/>
          <a:ahLst/>
          <a:cxnLst/>
          <a:rect l="0" t="0" r="0" b="0"/>
          <a:pathLst>
            <a:path>
              <a:moveTo>
                <a:pt x="923969" y="284851"/>
              </a:moveTo>
              <a:arcTo wR="1934346" hR="1934346" stAng="14310659" swAng="993182"/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7241663" y="-3078144"/>
          <a:ext cx="802703" cy="71642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Daily emails that keep advisers informed on overnight market moves to support timely client conversations.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sp:txBody>
      <dsp:txXfrm rot="-5400000">
        <a:off x="4060886" y="141818"/>
        <a:ext cx="7125073" cy="724333"/>
      </dsp:txXfrm>
    </dsp:sp>
    <dsp:sp modelId="{788C1FDC-6700-4C53-AD2F-04AFF096940F}">
      <dsp:nvSpPr>
        <dsp:cNvPr id="0" name=""/>
        <dsp:cNvSpPr/>
      </dsp:nvSpPr>
      <dsp:spPr>
        <a:xfrm>
          <a:off x="0" y="2294"/>
          <a:ext cx="4060885" cy="1003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</a:rPr>
            <a:t>Daily Market Updates</a:t>
          </a:r>
        </a:p>
      </dsp:txBody>
      <dsp:txXfrm>
        <a:off x="48981" y="51275"/>
        <a:ext cx="3962923" cy="905417"/>
      </dsp:txXfrm>
    </dsp:sp>
    <dsp:sp modelId="{5D3C169D-592D-43B3-96A2-E2AF00F98FCB}">
      <dsp:nvSpPr>
        <dsp:cNvPr id="0" name=""/>
        <dsp:cNvSpPr/>
      </dsp:nvSpPr>
      <dsp:spPr>
        <a:xfrm rot="5400000">
          <a:off x="7228452" y="-2035122"/>
          <a:ext cx="811878" cy="71853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Digestible summary of key market themes to inform adviser commentary and strategy.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sp:txBody>
      <dsp:txXfrm rot="-5400000">
        <a:off x="4041737" y="1191226"/>
        <a:ext cx="7145676" cy="732612"/>
      </dsp:txXfrm>
    </dsp:sp>
    <dsp:sp modelId="{A2E352DA-62FA-4579-98AA-21BED05F34C8}">
      <dsp:nvSpPr>
        <dsp:cNvPr id="0" name=""/>
        <dsp:cNvSpPr/>
      </dsp:nvSpPr>
      <dsp:spPr>
        <a:xfrm>
          <a:off x="0" y="1055842"/>
          <a:ext cx="4041736" cy="1003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Monthly Market Updates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48981" y="1104823"/>
        <a:ext cx="3943774" cy="905417"/>
      </dsp:txXfrm>
    </dsp:sp>
    <dsp:sp modelId="{4302BC3C-57DB-47DE-97B3-A55EA511B4CF}">
      <dsp:nvSpPr>
        <dsp:cNvPr id="0" name=""/>
        <dsp:cNvSpPr/>
      </dsp:nvSpPr>
      <dsp:spPr>
        <a:xfrm rot="5400000">
          <a:off x="7233039" y="-981574"/>
          <a:ext cx="802703" cy="71853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Tracks benchmark performance across regions and asset classes.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Provides additional thematic insights into gaming, Bitcoin, and healthcare.</a:t>
          </a:r>
          <a:endParaRPr lang="en-AU" sz="1200" kern="1200"/>
        </a:p>
      </dsp:txBody>
      <dsp:txXfrm rot="-5400000">
        <a:off x="4041737" y="2248913"/>
        <a:ext cx="7146124" cy="724333"/>
      </dsp:txXfrm>
    </dsp:sp>
    <dsp:sp modelId="{503037C0-ECE5-4E0D-8F35-E2292E333CDF}">
      <dsp:nvSpPr>
        <dsp:cNvPr id="0" name=""/>
        <dsp:cNvSpPr/>
      </dsp:nvSpPr>
      <dsp:spPr>
        <a:xfrm>
          <a:off x="0" y="2107494"/>
          <a:ext cx="4041736" cy="1003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Monthly Indices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48981" y="2156475"/>
        <a:ext cx="3943774" cy="905417"/>
      </dsp:txXfrm>
    </dsp:sp>
    <dsp:sp modelId="{CC9BA2DD-C916-4847-89FF-21DD6BD06D62}">
      <dsp:nvSpPr>
        <dsp:cNvPr id="0" name=""/>
        <dsp:cNvSpPr/>
      </dsp:nvSpPr>
      <dsp:spPr>
        <a:xfrm rot="5400000">
          <a:off x="7233039" y="71973"/>
          <a:ext cx="802703" cy="71853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Quarterly portfolio positioning based on a </a:t>
          </a:r>
          <a:r>
            <a:rPr lang="en-US" sz="1200" kern="1200">
              <a:latin typeface="Arial" panose="020B0604020202020204"/>
            </a:rPr>
            <a:t>12–18 month</a:t>
          </a:r>
          <a:r>
            <a:rPr lang="en-US" sz="1200" kern="1200"/>
            <a:t> forward-looking asset class view.</a:t>
          </a:r>
          <a:endParaRPr lang="en-AU" sz="1200" kern="1200"/>
        </a:p>
      </dsp:txBody>
      <dsp:txXfrm rot="-5400000">
        <a:off x="4041737" y="3302461"/>
        <a:ext cx="7146124" cy="724333"/>
      </dsp:txXfrm>
    </dsp:sp>
    <dsp:sp modelId="{EE93C61D-77AB-4BFE-B794-BD1055D1C02D}">
      <dsp:nvSpPr>
        <dsp:cNvPr id="0" name=""/>
        <dsp:cNvSpPr/>
      </dsp:nvSpPr>
      <dsp:spPr>
        <a:xfrm>
          <a:off x="0" y="3162938"/>
          <a:ext cx="4041736" cy="1003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Tactical Asset Allocation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48981" y="3211919"/>
        <a:ext cx="3943774" cy="905417"/>
      </dsp:txXfrm>
    </dsp:sp>
    <dsp:sp modelId="{41CCDF27-C149-4F37-BE23-2B304108C3C2}">
      <dsp:nvSpPr>
        <dsp:cNvPr id="0" name=""/>
        <dsp:cNvSpPr/>
      </dsp:nvSpPr>
      <dsp:spPr>
        <a:xfrm rot="5400000">
          <a:off x="7233039" y="1125521"/>
          <a:ext cx="802703" cy="71853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10-year forecast of markets, using proprietary mean variance </a:t>
          </a:r>
          <a:r>
            <a:rPr lang="en-US" sz="1200" kern="1200" dirty="0" err="1"/>
            <a:t>optimisation</a:t>
          </a:r>
          <a:r>
            <a:rPr lang="en-US" sz="1200" kern="1200" dirty="0"/>
            <a:t> and stress testing model. </a:t>
          </a:r>
          <a:endParaRPr lang="en-AU" sz="1200" kern="1200" dirty="0"/>
        </a:p>
      </dsp:txBody>
      <dsp:txXfrm rot="-5400000">
        <a:off x="4041737" y="4356009"/>
        <a:ext cx="7146124" cy="724333"/>
      </dsp:txXfrm>
    </dsp:sp>
    <dsp:sp modelId="{F572F5F6-6AF4-4EC1-8CD2-23FA228EBB88}">
      <dsp:nvSpPr>
        <dsp:cNvPr id="0" name=""/>
        <dsp:cNvSpPr/>
      </dsp:nvSpPr>
      <dsp:spPr>
        <a:xfrm>
          <a:off x="0" y="4216487"/>
          <a:ext cx="4041736" cy="1003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Strategic Asset Allocation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48981" y="4265468"/>
        <a:ext cx="3943774" cy="9054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7171224" y="-2965520"/>
          <a:ext cx="1005673" cy="71933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A list of investment products available to advisers for client use outside of the SMA framework.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sp:txBody>
      <dsp:txXfrm rot="-5400000">
        <a:off x="4077381" y="177416"/>
        <a:ext cx="7144267" cy="907487"/>
      </dsp:txXfrm>
    </dsp:sp>
    <dsp:sp modelId="{788C1FDC-6700-4C53-AD2F-04AFF096940F}">
      <dsp:nvSpPr>
        <dsp:cNvPr id="0" name=""/>
        <dsp:cNvSpPr/>
      </dsp:nvSpPr>
      <dsp:spPr>
        <a:xfrm>
          <a:off x="0" y="2613"/>
          <a:ext cx="4077381" cy="12570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</a:rPr>
            <a:t>Approved Product List</a:t>
          </a:r>
        </a:p>
      </dsp:txBody>
      <dsp:txXfrm>
        <a:off x="61366" y="63979"/>
        <a:ext cx="3954649" cy="1134360"/>
      </dsp:txXfrm>
    </dsp:sp>
    <dsp:sp modelId="{5D3C169D-592D-43B3-96A2-E2AF00F98FCB}">
      <dsp:nvSpPr>
        <dsp:cNvPr id="0" name=""/>
        <dsp:cNvSpPr/>
      </dsp:nvSpPr>
      <dsp:spPr>
        <a:xfrm rot="5400000">
          <a:off x="7156818" y="-1656141"/>
          <a:ext cx="1017168" cy="72144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</a:t>
          </a:r>
          <a:r>
            <a:rPr lang="en-US" sz="1200" kern="1200" dirty="0" err="1"/>
            <a:t>centralised</a:t>
          </a:r>
          <a:r>
            <a:rPr lang="en-US" sz="1200" kern="1200" dirty="0"/>
            <a:t> web portal, specific to </a:t>
          </a:r>
          <a:r>
            <a:rPr lang="en-US" sz="1200" kern="1200" dirty="0">
              <a:hlinkClick xmlns:r="http://schemas.openxmlformats.org/officeDocument/2006/relationships" r:id="rId1"/>
            </a:rPr>
            <a:t>Each Client</a:t>
          </a:r>
          <a:r>
            <a:rPr lang="en-US" sz="1200" kern="1200" dirty="0"/>
            <a:t>, giving advisers access to all relevant investment resources in one place.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58154" y="1492177"/>
        <a:ext cx="7164842" cy="917860"/>
      </dsp:txXfrm>
    </dsp:sp>
    <dsp:sp modelId="{A2E352DA-62FA-4579-98AA-21BED05F34C8}">
      <dsp:nvSpPr>
        <dsp:cNvPr id="0" name=""/>
        <dsp:cNvSpPr/>
      </dsp:nvSpPr>
      <dsp:spPr>
        <a:xfrm>
          <a:off x="0" y="1322560"/>
          <a:ext cx="4058154" cy="12570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Interactive Adviser Portal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61366" y="1383926"/>
        <a:ext cx="3935422" cy="1134360"/>
      </dsp:txXfrm>
    </dsp:sp>
    <dsp:sp modelId="{4302BC3C-57DB-47DE-97B3-A55EA511B4CF}">
      <dsp:nvSpPr>
        <dsp:cNvPr id="0" name=""/>
        <dsp:cNvSpPr/>
      </dsp:nvSpPr>
      <dsp:spPr>
        <a:xfrm rot="5400000">
          <a:off x="7162565" y="-336194"/>
          <a:ext cx="1005673" cy="72144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Pitch Deck: </a:t>
          </a:r>
          <a:r>
            <a:rPr lang="en-US" sz="1200" b="0" kern="1200"/>
            <a:t>C</a:t>
          </a:r>
          <a:r>
            <a:rPr lang="en-US" sz="1200" kern="1200"/>
            <a:t>oncise, 6-slide presentation to help advisers articulate their value and how Atchison enhances their client offering. 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Atchison Booklet: </a:t>
          </a:r>
          <a:r>
            <a:rPr lang="en-US" sz="1200" b="0" kern="1200"/>
            <a:t>Take home booklet outlining RP’s Investment Arm.</a:t>
          </a:r>
          <a:endParaRPr lang="en-AU" sz="1200" b="1" kern="1200"/>
        </a:p>
      </dsp:txBody>
      <dsp:txXfrm rot="-5400000">
        <a:off x="4058154" y="2817310"/>
        <a:ext cx="7165403" cy="907487"/>
      </dsp:txXfrm>
    </dsp:sp>
    <dsp:sp modelId="{503037C0-ECE5-4E0D-8F35-E2292E333CDF}">
      <dsp:nvSpPr>
        <dsp:cNvPr id="0" name=""/>
        <dsp:cNvSpPr/>
      </dsp:nvSpPr>
      <dsp:spPr>
        <a:xfrm>
          <a:off x="0" y="2640131"/>
          <a:ext cx="4058154" cy="12570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Adviser &amp; Client Relationship</a:t>
          </a:r>
          <a:b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</a:b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(meeting one)</a:t>
          </a:r>
          <a:endParaRPr lang="en-AU" sz="1800" kern="1200">
            <a:solidFill>
              <a:srgbClr val="3D545E"/>
            </a:solidFill>
            <a:latin typeface="Arial" panose="020B0604020202020204"/>
            <a:ea typeface="+mn-ea"/>
            <a:cs typeface="+mn-cs"/>
          </a:endParaRPr>
        </a:p>
      </dsp:txBody>
      <dsp:txXfrm>
        <a:off x="61366" y="2701497"/>
        <a:ext cx="3935422" cy="1134360"/>
      </dsp:txXfrm>
    </dsp:sp>
    <dsp:sp modelId="{CC9BA2DD-C916-4847-89FF-21DD6BD06D62}">
      <dsp:nvSpPr>
        <dsp:cNvPr id="0" name=""/>
        <dsp:cNvSpPr/>
      </dsp:nvSpPr>
      <dsp:spPr>
        <a:xfrm rot="5400000">
          <a:off x="7162565" y="983752"/>
          <a:ext cx="1005673" cy="72144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Product 2 Pager: </a:t>
          </a:r>
          <a:r>
            <a:rPr lang="en-US" sz="1200" b="0" kern="1200"/>
            <a:t>Overview of the product.</a:t>
          </a:r>
          <a:endParaRPr lang="en-AU" sz="1200" b="1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Performance Reports: </a:t>
          </a:r>
          <a:r>
            <a:rPr lang="en-US" sz="1200" b="0" kern="1200"/>
            <a:t>Overview of performance of relevant solution.  </a:t>
          </a:r>
          <a:endParaRPr lang="en-AU" sz="1200" b="1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b="1" kern="1200"/>
        </a:p>
      </dsp:txBody>
      <dsp:txXfrm rot="-5400000">
        <a:off x="4058154" y="4137257"/>
        <a:ext cx="7165403" cy="907487"/>
      </dsp:txXfrm>
    </dsp:sp>
    <dsp:sp modelId="{EE93C61D-77AB-4BFE-B794-BD1055D1C02D}">
      <dsp:nvSpPr>
        <dsp:cNvPr id="0" name=""/>
        <dsp:cNvSpPr/>
      </dsp:nvSpPr>
      <dsp:spPr>
        <a:xfrm>
          <a:off x="0" y="3962454"/>
          <a:ext cx="4058154" cy="12570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Adviser &amp; Client Relationship</a:t>
          </a:r>
          <a:br>
            <a:rPr lang="en-US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</a:br>
          <a:r>
            <a:rPr lang="en-AU" sz="1800" kern="120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(meeting two)</a:t>
          </a:r>
        </a:p>
      </dsp:txBody>
      <dsp:txXfrm>
        <a:off x="61366" y="4023820"/>
        <a:ext cx="3935422" cy="11343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7232691" y="-3048381"/>
          <a:ext cx="762037" cy="713678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Improved IC oversight by working with </a:t>
          </a:r>
          <a:r>
            <a:rPr lang="en-US" sz="1200" kern="1200" dirty="0" err="1">
              <a:latin typeface="Arial" panose="020B0604020202020204"/>
              <a:ea typeface="+mn-ea"/>
              <a:cs typeface="+mn-cs"/>
            </a:rPr>
            <a:t>KeyInvest</a:t>
          </a:r>
          <a:r>
            <a:rPr lang="en-US" sz="1200" kern="1200" dirty="0">
              <a:latin typeface="Arial" panose="020B0604020202020204"/>
              <a:ea typeface="+mn-ea"/>
              <a:cs typeface="+mn-cs"/>
            </a:rPr>
            <a:t> internal investment team and all stakeholders.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Provide strategic direction on all investment activities e.g. Approved Product Lists.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Research, investment manager DD, selection and continuous evaluation and reporting.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Guard rails for financial advisers to choose appropriate investments in particular sub-categories.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45315" y="176195"/>
        <a:ext cx="7099589" cy="687637"/>
      </dsp:txXfrm>
    </dsp:sp>
    <dsp:sp modelId="{788C1FDC-6700-4C53-AD2F-04AFF096940F}">
      <dsp:nvSpPr>
        <dsp:cNvPr id="0" name=""/>
        <dsp:cNvSpPr/>
      </dsp:nvSpPr>
      <dsp:spPr>
        <a:xfrm>
          <a:off x="0" y="2178"/>
          <a:ext cx="4045315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Outsourced CIO Function</a:t>
          </a:r>
        </a:p>
      </dsp:txBody>
      <dsp:txXfrm>
        <a:off x="46499" y="48677"/>
        <a:ext cx="3952317" cy="859548"/>
      </dsp:txXfrm>
    </dsp:sp>
    <dsp:sp modelId="{5D3C169D-592D-43B3-96A2-E2AF00F98FCB}">
      <dsp:nvSpPr>
        <dsp:cNvPr id="0" name=""/>
        <dsp:cNvSpPr/>
      </dsp:nvSpPr>
      <dsp:spPr>
        <a:xfrm rot="5400000">
          <a:off x="7219745" y="-2100253"/>
          <a:ext cx="77074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Test thousands of portfolio combinations to improve risk and return outcomes.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+mn-ea"/>
              <a:cs typeface="+mn-cs"/>
            </a:rPr>
            <a:t>Tailor asset allocation to objectives, time horizon, and volatility.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+mn-ea"/>
              <a:cs typeface="+mn-cs"/>
            </a:rPr>
            <a:t>On-going asset allocation review and adjustment aligned to market dynamics.</a:t>
          </a:r>
        </a:p>
      </dsp:txBody>
      <dsp:txXfrm rot="-5400000">
        <a:off x="4026240" y="1130877"/>
        <a:ext cx="7120134" cy="695497"/>
      </dsp:txXfrm>
    </dsp:sp>
    <dsp:sp modelId="{A2E352DA-62FA-4579-98AA-21BED05F34C8}">
      <dsp:nvSpPr>
        <dsp:cNvPr id="0" name=""/>
        <dsp:cNvSpPr/>
      </dsp:nvSpPr>
      <dsp:spPr>
        <a:xfrm>
          <a:off x="0" y="1002352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</a:rPr>
            <a:t>Optimisation</a:t>
          </a:r>
        </a:p>
      </dsp:txBody>
      <dsp:txXfrm>
        <a:off x="46499" y="1048851"/>
        <a:ext cx="3933241" cy="859548"/>
      </dsp:txXfrm>
    </dsp:sp>
    <dsp:sp modelId="{4302BC3C-57DB-47DE-97B3-A55EA511B4CF}">
      <dsp:nvSpPr>
        <dsp:cNvPr id="0" name=""/>
        <dsp:cNvSpPr/>
      </dsp:nvSpPr>
      <dsp:spPr>
        <a:xfrm rot="5400000">
          <a:off x="7224100" y="-110007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Support APRA compliance team regarding investment function.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Incorporate governance, ESG, and climate risk standards into portfolio reviews.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Support </a:t>
          </a:r>
          <a:r>
            <a:rPr lang="en-US" sz="1200" kern="1200" dirty="0" err="1">
              <a:latin typeface="Arial" panose="020B0604020202020204"/>
              <a:ea typeface="+mn-ea"/>
              <a:cs typeface="+mn-cs"/>
            </a:rPr>
            <a:t>KeyInvest</a:t>
          </a:r>
          <a:r>
            <a:rPr lang="en-US" sz="1200" kern="1200" dirty="0">
              <a:latin typeface="Arial" panose="020B0604020202020204"/>
              <a:ea typeface="+mn-ea"/>
              <a:cs typeface="+mn-cs"/>
            </a:rPr>
            <a:t> with maintenance and updating of compliance investment policies.</a:t>
          </a:r>
        </a:p>
      </dsp:txBody>
      <dsp:txXfrm rot="-5400000">
        <a:off x="4026239" y="2134982"/>
        <a:ext cx="7120559" cy="687637"/>
      </dsp:txXfrm>
    </dsp:sp>
    <dsp:sp modelId="{503037C0-ECE5-4E0D-8F35-E2292E333CDF}">
      <dsp:nvSpPr>
        <dsp:cNvPr id="0" name=""/>
        <dsp:cNvSpPr/>
      </dsp:nvSpPr>
      <dsp:spPr>
        <a:xfrm>
          <a:off x="0" y="2002527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APRA SPS530 &amp; CPG229</a:t>
          </a:r>
        </a:p>
      </dsp:txBody>
      <dsp:txXfrm>
        <a:off x="46499" y="2049026"/>
        <a:ext cx="3933241" cy="859548"/>
      </dsp:txXfrm>
    </dsp:sp>
    <dsp:sp modelId="{CC9BA2DD-C916-4847-89FF-21DD6BD06D62}">
      <dsp:nvSpPr>
        <dsp:cNvPr id="0" name=""/>
        <dsp:cNvSpPr/>
      </dsp:nvSpPr>
      <dsp:spPr>
        <a:xfrm rot="5400000">
          <a:off x="7224100" y="-99904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Liquidity management and cash-flow planning.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 dirty="0">
              <a:latin typeface="+mn-lt"/>
              <a:ea typeface="+mn-ea"/>
              <a:cs typeface="+mn-cs"/>
            </a:rPr>
            <a:t>Evaluate liquidity under normal and stressed market conditions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 Assesses sustainability and ethical exposures across portfolios</a:t>
          </a:r>
          <a:endParaRPr lang="en-US" sz="1200" kern="1200" baseline="0" dirty="0">
            <a:latin typeface="+mn-lt"/>
            <a:ea typeface="+mn-ea"/>
            <a:cs typeface="+mn-cs"/>
          </a:endParaRPr>
        </a:p>
      </dsp:txBody>
      <dsp:txXfrm rot="-5400000">
        <a:off x="4026239" y="3135157"/>
        <a:ext cx="7120559" cy="687637"/>
      </dsp:txXfrm>
    </dsp:sp>
    <dsp:sp modelId="{EE93C61D-77AB-4BFE-B794-BD1055D1C02D}">
      <dsp:nvSpPr>
        <dsp:cNvPr id="0" name=""/>
        <dsp:cNvSpPr/>
      </dsp:nvSpPr>
      <dsp:spPr>
        <a:xfrm>
          <a:off x="0" y="3002701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ESG &amp; Liquidity Testing</a:t>
          </a:r>
        </a:p>
      </dsp:txBody>
      <dsp:txXfrm>
        <a:off x="46499" y="3049200"/>
        <a:ext cx="3933241" cy="859548"/>
      </dsp:txXfrm>
    </dsp:sp>
    <dsp:sp modelId="{41CCDF27-C149-4F37-BE23-2B304108C3C2}">
      <dsp:nvSpPr>
        <dsp:cNvPr id="0" name=""/>
        <dsp:cNvSpPr/>
      </dsp:nvSpPr>
      <dsp:spPr>
        <a:xfrm rot="5400000">
          <a:off x="7224100" y="90026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Portfolio risk management monitoring and reporting.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Modelling portfolio behaviors across market shocks and downturns.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 dirty="0">
              <a:latin typeface="Arial" panose="020B0604020202020204"/>
              <a:ea typeface="+mn-ea"/>
              <a:cs typeface="+mn-cs"/>
            </a:rPr>
            <a:t>Identifies trigger points and resilience under adverse scenarios.</a:t>
          </a:r>
        </a:p>
      </dsp:txBody>
      <dsp:txXfrm rot="-5400000">
        <a:off x="4026239" y="4135330"/>
        <a:ext cx="7120559" cy="687637"/>
      </dsp:txXfrm>
    </dsp:sp>
    <dsp:sp modelId="{F572F5F6-6AF4-4EC1-8CD2-23FA228EBB88}">
      <dsp:nvSpPr>
        <dsp:cNvPr id="0" name=""/>
        <dsp:cNvSpPr/>
      </dsp:nvSpPr>
      <dsp:spPr>
        <a:xfrm>
          <a:off x="0" y="4005054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Risk Scenario Analysis</a:t>
          </a:r>
        </a:p>
      </dsp:txBody>
      <dsp:txXfrm>
        <a:off x="46499" y="4051553"/>
        <a:ext cx="3933241" cy="8595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7232691" y="-3089942"/>
          <a:ext cx="762037" cy="713678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Conduct independent reviews of KIMI products and provide recommendations.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Co-ordinate product launches, including DD, market readiness, and strategic execution.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Provide on-going investment performance monitoring, benchmarking and product enhancements.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AU" sz="1200" kern="1200">
            <a:latin typeface="Arial"/>
            <a:ea typeface="+mn-ea"/>
            <a:cs typeface="Arial"/>
          </a:endParaRPr>
        </a:p>
      </dsp:txBody>
      <dsp:txXfrm rot="-5400000">
        <a:off x="4045315" y="134634"/>
        <a:ext cx="7099589" cy="687637"/>
      </dsp:txXfrm>
    </dsp:sp>
    <dsp:sp modelId="{788C1FDC-6700-4C53-AD2F-04AFF096940F}">
      <dsp:nvSpPr>
        <dsp:cNvPr id="0" name=""/>
        <dsp:cNvSpPr/>
      </dsp:nvSpPr>
      <dsp:spPr>
        <a:xfrm>
          <a:off x="0" y="2178"/>
          <a:ext cx="4045315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</a:rPr>
            <a:t>Product Innovation </a:t>
          </a:r>
          <a:endParaRPr lang="en-AU" sz="1800" kern="1200">
            <a:solidFill>
              <a:schemeClr val="tx1"/>
            </a:solidFill>
          </a:endParaRPr>
        </a:p>
      </dsp:txBody>
      <dsp:txXfrm>
        <a:off x="46499" y="48677"/>
        <a:ext cx="3952317" cy="859548"/>
      </dsp:txXfrm>
    </dsp:sp>
    <dsp:sp modelId="{5D3C169D-592D-43B3-96A2-E2AF00F98FCB}">
      <dsp:nvSpPr>
        <dsp:cNvPr id="0" name=""/>
        <dsp:cNvSpPr/>
      </dsp:nvSpPr>
      <dsp:spPr>
        <a:xfrm rot="5400000">
          <a:off x="7219745" y="-2245726"/>
          <a:ext cx="77074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Establishment of all inclusive Portfolios inc. Aus Shares, Int Shares, Fixed Income, Real Assets, Alternatives.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Active and Passive (ETF) SMA’s across different risk profiles, 40%, 55%, 70%, 85% Growth.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Product innovation and management e.g. </a:t>
          </a:r>
          <a:r>
            <a:rPr lang="en-US" sz="1200" kern="1200" err="1">
              <a:latin typeface="Arial" panose="020B0604020202020204"/>
              <a:ea typeface="+mn-ea"/>
              <a:cs typeface="+mn-cs"/>
            </a:rPr>
            <a:t>FoF</a:t>
          </a:r>
          <a:r>
            <a:rPr lang="en-US" sz="1200" kern="1200">
              <a:latin typeface="Arial" panose="020B0604020202020204"/>
              <a:ea typeface="+mn-ea"/>
              <a:cs typeface="+mn-cs"/>
            </a:rPr>
            <a:t> Credit portfolio.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en-US" sz="1200" b="0" i="0" u="none" strike="noStrike" kern="1200" cap="none" normalizeH="0" baseline="0">
            <a:ln/>
            <a:effectLst/>
            <a:latin typeface="Arial"/>
            <a:ea typeface="+mn-ea"/>
            <a:cs typeface="+mn-cs"/>
          </a:endParaRPr>
        </a:p>
      </dsp:txBody>
      <dsp:txXfrm rot="-5400000">
        <a:off x="4026240" y="985404"/>
        <a:ext cx="7120134" cy="695497"/>
      </dsp:txXfrm>
    </dsp:sp>
    <dsp:sp modelId="{A2E352DA-62FA-4579-98AA-21BED05F34C8}">
      <dsp:nvSpPr>
        <dsp:cNvPr id="0" name=""/>
        <dsp:cNvSpPr/>
      </dsp:nvSpPr>
      <dsp:spPr>
        <a:xfrm>
          <a:off x="0" y="1002352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</a:rPr>
            <a:t>Separately Managed Portfolios</a:t>
          </a:r>
          <a:endParaRPr lang="en-AU" sz="1800" kern="1200">
            <a:solidFill>
              <a:schemeClr val="tx1"/>
            </a:solidFill>
          </a:endParaRPr>
        </a:p>
      </dsp:txBody>
      <dsp:txXfrm>
        <a:off x="46499" y="1048851"/>
        <a:ext cx="3933241" cy="859548"/>
      </dsp:txXfrm>
    </dsp:sp>
    <dsp:sp modelId="{4302BC3C-57DB-47DE-97B3-A55EA511B4CF}">
      <dsp:nvSpPr>
        <dsp:cNvPr id="0" name=""/>
        <dsp:cNvSpPr/>
      </dsp:nvSpPr>
      <dsp:spPr>
        <a:xfrm rot="5400000">
          <a:off x="7224100" y="-110007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Australian Shares: 20 equal weighted holdings, quant-based. Ex: CBA, ANZ, BHP, CSL.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International Shares: 40 equal weighted holdings, quant-based. Ex: APPL, GOOGL, NVDA.</a:t>
          </a:r>
        </a:p>
      </dsp:txBody>
      <dsp:txXfrm rot="-5400000">
        <a:off x="4026239" y="2134982"/>
        <a:ext cx="7120559" cy="687637"/>
      </dsp:txXfrm>
    </dsp:sp>
    <dsp:sp modelId="{503037C0-ECE5-4E0D-8F35-E2292E333CDF}">
      <dsp:nvSpPr>
        <dsp:cNvPr id="0" name=""/>
        <dsp:cNvSpPr/>
      </dsp:nvSpPr>
      <dsp:spPr>
        <a:xfrm>
          <a:off x="0" y="2002527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Direct Equities</a:t>
          </a:r>
        </a:p>
      </dsp:txBody>
      <dsp:txXfrm>
        <a:off x="46499" y="2049026"/>
        <a:ext cx="3933241" cy="859548"/>
      </dsp:txXfrm>
    </dsp:sp>
    <dsp:sp modelId="{CC9BA2DD-C916-4847-89FF-21DD6BD06D62}">
      <dsp:nvSpPr>
        <dsp:cNvPr id="0" name=""/>
        <dsp:cNvSpPr/>
      </dsp:nvSpPr>
      <dsp:spPr>
        <a:xfrm rot="5400000">
          <a:off x="7224100" y="-99904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Paper portfolio of </a:t>
          </a:r>
          <a:r>
            <a:rPr lang="en-US" sz="1200" kern="1200">
              <a:latin typeface="Arial" panose="020B0604020202020204"/>
            </a:rPr>
            <a:t>6-10</a:t>
          </a:r>
          <a:r>
            <a:rPr lang="en-US" sz="1200" kern="1200"/>
            <a:t> semi-liquid alternatives, 30-50k min investment per product.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>
              <a:latin typeface="+mn-lt"/>
              <a:ea typeface="+mn-ea"/>
              <a:cs typeface="+mn-cs"/>
            </a:rPr>
            <a:t>Appropriate for clients who want to deploy 500k on semi-liquid alternatives.</a:t>
          </a:r>
        </a:p>
      </dsp:txBody>
      <dsp:txXfrm rot="-5400000">
        <a:off x="4026239" y="3135157"/>
        <a:ext cx="7120559" cy="687637"/>
      </dsp:txXfrm>
    </dsp:sp>
    <dsp:sp modelId="{EE93C61D-77AB-4BFE-B794-BD1055D1C02D}">
      <dsp:nvSpPr>
        <dsp:cNvPr id="0" name=""/>
        <dsp:cNvSpPr/>
      </dsp:nvSpPr>
      <dsp:spPr>
        <a:xfrm>
          <a:off x="0" y="3002701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Semi Liquid Alternatives</a:t>
          </a:r>
        </a:p>
      </dsp:txBody>
      <dsp:txXfrm>
        <a:off x="46499" y="3049200"/>
        <a:ext cx="3933241" cy="859548"/>
      </dsp:txXfrm>
    </dsp:sp>
    <dsp:sp modelId="{41CCDF27-C149-4F37-BE23-2B304108C3C2}">
      <dsp:nvSpPr>
        <dsp:cNvPr id="0" name=""/>
        <dsp:cNvSpPr/>
      </dsp:nvSpPr>
      <dsp:spPr>
        <a:xfrm rot="5400000">
          <a:off x="7224100" y="90026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>
              <a:latin typeface="Arial" panose="020B0604020202020204"/>
              <a:ea typeface="+mn-ea"/>
              <a:cs typeface="+mn-cs"/>
            </a:rPr>
            <a:t>Collaborate with marketing and sales team to construct strategic product distribution partnerships.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>
              <a:latin typeface="Arial" panose="020B0604020202020204"/>
              <a:ea typeface="+mn-ea"/>
              <a:cs typeface="+mn-cs"/>
            </a:rPr>
            <a:t>Regional based investment solutions.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ESG based investment solutions.</a:t>
          </a:r>
          <a:endParaRPr lang="en-AU" sz="1200" kern="1200"/>
        </a:p>
      </dsp:txBody>
      <dsp:txXfrm rot="-5400000">
        <a:off x="4026239" y="4135330"/>
        <a:ext cx="7120559" cy="687637"/>
      </dsp:txXfrm>
    </dsp:sp>
    <dsp:sp modelId="{F572F5F6-6AF4-4EC1-8CD2-23FA228EBB88}">
      <dsp:nvSpPr>
        <dsp:cNvPr id="0" name=""/>
        <dsp:cNvSpPr/>
      </dsp:nvSpPr>
      <dsp:spPr>
        <a:xfrm>
          <a:off x="0" y="4002875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Bespoke</a:t>
          </a:r>
        </a:p>
      </dsp:txBody>
      <dsp:txXfrm>
        <a:off x="46499" y="4049374"/>
        <a:ext cx="3933241" cy="8595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7232691" y="-3089942"/>
          <a:ext cx="762037" cy="713678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Independent expertise, advice, oversight.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Strategic and Tactical Asset Allocation Advice + Regime analysis. 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45315" y="134634"/>
        <a:ext cx="7099589" cy="687637"/>
      </dsp:txXfrm>
    </dsp:sp>
    <dsp:sp modelId="{788C1FDC-6700-4C53-AD2F-04AFF096940F}">
      <dsp:nvSpPr>
        <dsp:cNvPr id="0" name=""/>
        <dsp:cNvSpPr/>
      </dsp:nvSpPr>
      <dsp:spPr>
        <a:xfrm>
          <a:off x="0" y="2178"/>
          <a:ext cx="4045315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Investment Committee</a:t>
          </a:r>
        </a:p>
      </dsp:txBody>
      <dsp:txXfrm>
        <a:off x="46499" y="48677"/>
        <a:ext cx="3952317" cy="859548"/>
      </dsp:txXfrm>
    </dsp:sp>
    <dsp:sp modelId="{5D3C169D-592D-43B3-96A2-E2AF00F98FCB}">
      <dsp:nvSpPr>
        <dsp:cNvPr id="0" name=""/>
        <dsp:cNvSpPr/>
      </dsp:nvSpPr>
      <dsp:spPr>
        <a:xfrm rot="5400000">
          <a:off x="7219745" y="-2100253"/>
          <a:ext cx="77074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Positioning advisers as intellectual thought leaders on relevant topics.</a:t>
          </a:r>
          <a:endParaRPr lang="en-AU" sz="1200" kern="120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  <a:ea typeface="+mn-ea"/>
              <a:cs typeface="+mn-cs"/>
            </a:rPr>
            <a:t>Increase credibility, via deep dive analysis on requested investments / thematics.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sp:txBody>
      <dsp:txXfrm rot="-5400000">
        <a:off x="4026240" y="1130877"/>
        <a:ext cx="7120134" cy="695497"/>
      </dsp:txXfrm>
    </dsp:sp>
    <dsp:sp modelId="{A2E352DA-62FA-4579-98AA-21BED05F34C8}">
      <dsp:nvSpPr>
        <dsp:cNvPr id="0" name=""/>
        <dsp:cNvSpPr/>
      </dsp:nvSpPr>
      <dsp:spPr>
        <a:xfrm>
          <a:off x="0" y="1002352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White Papers</a:t>
          </a:r>
        </a:p>
      </dsp:txBody>
      <dsp:txXfrm>
        <a:off x="46499" y="1048851"/>
        <a:ext cx="3933241" cy="859548"/>
      </dsp:txXfrm>
    </dsp:sp>
    <dsp:sp modelId="{4302BC3C-57DB-47DE-97B3-A55EA511B4CF}">
      <dsp:nvSpPr>
        <dsp:cNvPr id="0" name=""/>
        <dsp:cNvSpPr/>
      </dsp:nvSpPr>
      <dsp:spPr>
        <a:xfrm rot="5400000">
          <a:off x="7224100" y="-110007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Measurement of performance against a benchmark aligned to a specific strategy / theme.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/>
            </a:rPr>
            <a:t>Supports compliance with APRA Prudential Standards .</a:t>
          </a:r>
          <a:endParaRPr lang="en-AU" sz="1200" kern="1200">
            <a:latin typeface="Arial" panose="020B0604020202020204"/>
            <a:ea typeface="+mn-ea"/>
            <a:cs typeface="+mn-cs"/>
          </a:endParaRPr>
        </a:p>
      </dsp:txBody>
      <dsp:txXfrm rot="-5400000">
        <a:off x="4026239" y="2134982"/>
        <a:ext cx="7120559" cy="687637"/>
      </dsp:txXfrm>
    </dsp:sp>
    <dsp:sp modelId="{503037C0-ECE5-4E0D-8F35-E2292E333CDF}">
      <dsp:nvSpPr>
        <dsp:cNvPr id="0" name=""/>
        <dsp:cNvSpPr/>
      </dsp:nvSpPr>
      <dsp:spPr>
        <a:xfrm>
          <a:off x="0" y="2002527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Custom Indices</a:t>
          </a:r>
        </a:p>
      </dsp:txBody>
      <dsp:txXfrm>
        <a:off x="46499" y="2049026"/>
        <a:ext cx="3933241" cy="859548"/>
      </dsp:txXfrm>
    </dsp:sp>
    <dsp:sp modelId="{CC9BA2DD-C916-4847-89FF-21DD6BD06D62}">
      <dsp:nvSpPr>
        <dsp:cNvPr id="0" name=""/>
        <dsp:cNvSpPr/>
      </dsp:nvSpPr>
      <dsp:spPr>
        <a:xfrm rot="5400000">
          <a:off x="7224100" y="-99904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Marketing tool to showcase outperformance and adviser value-add.</a:t>
          </a:r>
          <a:endParaRPr lang="en-AU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Product analysis / comparator tools.</a:t>
          </a:r>
          <a:endParaRPr lang="en-AU" sz="1200" kern="1200"/>
        </a:p>
      </dsp:txBody>
      <dsp:txXfrm rot="-5400000">
        <a:off x="4026239" y="3135157"/>
        <a:ext cx="7120559" cy="687637"/>
      </dsp:txXfrm>
    </dsp:sp>
    <dsp:sp modelId="{EE93C61D-77AB-4BFE-B794-BD1055D1C02D}">
      <dsp:nvSpPr>
        <dsp:cNvPr id="0" name=""/>
        <dsp:cNvSpPr/>
      </dsp:nvSpPr>
      <dsp:spPr>
        <a:xfrm>
          <a:off x="0" y="3002701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Peer Analysis &amp; Ranking</a:t>
          </a:r>
        </a:p>
      </dsp:txBody>
      <dsp:txXfrm>
        <a:off x="46499" y="3049200"/>
        <a:ext cx="3933241" cy="859548"/>
      </dsp:txXfrm>
    </dsp:sp>
    <dsp:sp modelId="{41CCDF27-C149-4F37-BE23-2B304108C3C2}">
      <dsp:nvSpPr>
        <dsp:cNvPr id="0" name=""/>
        <dsp:cNvSpPr/>
      </dsp:nvSpPr>
      <dsp:spPr>
        <a:xfrm rot="5400000">
          <a:off x="7224100" y="900269"/>
          <a:ext cx="762037" cy="71577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Breaks down performance drivers by asset class, manager</a:t>
          </a:r>
          <a:r>
            <a:rPr lang="en-US" altLang="en-US" sz="1200" kern="1200" dirty="0">
              <a:latin typeface="Arial" panose="020B0604020202020204" pitchFamily="34" charset="0"/>
            </a:rPr>
            <a:t>, or strategy.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Supports IC decisions and helps advisers explain “what worked, what didn’t” to clients.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4026239" y="4135330"/>
        <a:ext cx="7120559" cy="687637"/>
      </dsp:txXfrm>
    </dsp:sp>
    <dsp:sp modelId="{F572F5F6-6AF4-4EC1-8CD2-23FA228EBB88}">
      <dsp:nvSpPr>
        <dsp:cNvPr id="0" name=""/>
        <dsp:cNvSpPr/>
      </dsp:nvSpPr>
      <dsp:spPr>
        <a:xfrm>
          <a:off x="0" y="4002875"/>
          <a:ext cx="4026239" cy="952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Attribution &amp; Contribution Data</a:t>
          </a:r>
        </a:p>
      </dsp:txBody>
      <dsp:txXfrm>
        <a:off x="46499" y="4049374"/>
        <a:ext cx="3933241" cy="8595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AAC29-7133-48E2-BA20-1C59C0CE160D}">
      <dsp:nvSpPr>
        <dsp:cNvPr id="0" name=""/>
        <dsp:cNvSpPr/>
      </dsp:nvSpPr>
      <dsp:spPr>
        <a:xfrm rot="5400000">
          <a:off x="6980051" y="-3022368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Murray Irrigation Ltd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0" lang="en-US" altLang="en-US" sz="1200" b="0" i="0" u="none" strike="noStrike" kern="1200" cap="none" normalizeH="0" baseline="0" dirty="0">
              <a:ln/>
              <a:effectLst/>
              <a:latin typeface="Arial" panose="020B0604020202020204" pitchFamily="34" charset="0"/>
            </a:rPr>
            <a:t>RAIZ Invest Australia 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</dsp:txBody>
      <dsp:txXfrm rot="-5400000">
        <a:off x="3954640" y="36974"/>
        <a:ext cx="6711970" cy="627216"/>
      </dsp:txXfrm>
    </dsp:sp>
    <dsp:sp modelId="{788C1FDC-6700-4C53-AD2F-04AFF096940F}">
      <dsp:nvSpPr>
        <dsp:cNvPr id="0" name=""/>
        <dsp:cNvSpPr/>
      </dsp:nvSpPr>
      <dsp:spPr>
        <a:xfrm>
          <a:off x="483457" y="96187"/>
          <a:ext cx="3471182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Corporates</a:t>
          </a:r>
        </a:p>
      </dsp:txBody>
      <dsp:txXfrm>
        <a:off x="508294" y="121024"/>
        <a:ext cx="3421508" cy="459116"/>
      </dsp:txXfrm>
    </dsp:sp>
    <dsp:sp modelId="{5D3C169D-592D-43B3-96A2-E2AF00F98FCB}">
      <dsp:nvSpPr>
        <dsp:cNvPr id="0" name=""/>
        <dsp:cNvSpPr/>
      </dsp:nvSpPr>
      <dsp:spPr>
        <a:xfrm rot="5400000">
          <a:off x="6959742" y="-2242520"/>
          <a:ext cx="703003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/>
              <a:ea typeface="+mn-ea"/>
              <a:cs typeface="+mn-cs"/>
            </a:rPr>
            <a:t>Superhero</a:t>
          </a:r>
          <a:endParaRPr lang="en-AU" sz="1200" kern="1200" dirty="0"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latin typeface="Arial" panose="020B0604020202020204"/>
              <a:ea typeface="+mn-ea"/>
              <a:cs typeface="+mn-cs"/>
            </a:rPr>
            <a:t>REI Super</a:t>
          </a:r>
        </a:p>
      </dsp:txBody>
      <dsp:txXfrm rot="-5400000">
        <a:off x="3938293" y="813247"/>
        <a:ext cx="6711583" cy="634367"/>
      </dsp:txXfrm>
    </dsp:sp>
    <dsp:sp modelId="{A2E352DA-62FA-4579-98AA-21BED05F34C8}">
      <dsp:nvSpPr>
        <dsp:cNvPr id="0" name=""/>
        <dsp:cNvSpPr/>
      </dsp:nvSpPr>
      <dsp:spPr>
        <a:xfrm>
          <a:off x="483457" y="876035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</a:rPr>
            <a:t>Superannuation Funds</a:t>
          </a:r>
        </a:p>
      </dsp:txBody>
      <dsp:txXfrm>
        <a:off x="508294" y="900872"/>
        <a:ext cx="3405161" cy="459116"/>
      </dsp:txXfrm>
    </dsp:sp>
    <dsp:sp modelId="{4302BC3C-57DB-47DE-97B3-A55EA511B4CF}">
      <dsp:nvSpPr>
        <dsp:cNvPr id="0" name=""/>
        <dsp:cNvSpPr/>
      </dsp:nvSpPr>
      <dsp:spPr>
        <a:xfrm rot="5400000">
          <a:off x="6963705" y="-1462673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DASH</a:t>
          </a:r>
          <a:endParaRPr lang="en-AU" sz="1200" kern="1200" dirty="0">
            <a:solidFill>
              <a:srgbClr val="3D545E">
                <a:hueOff val="0"/>
                <a:satOff val="0"/>
                <a:lumOff val="0"/>
                <a:alphaOff val="0"/>
              </a:srgbClr>
            </a:solidFill>
            <a:latin typeface="Arial" panose="020B0604020202020204"/>
            <a:ea typeface="+mn-ea"/>
            <a:cs typeface="+mn-cs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Acclaim</a:t>
          </a:r>
        </a:p>
      </dsp:txBody>
      <dsp:txXfrm rot="-5400000">
        <a:off x="3938294" y="1596669"/>
        <a:ext cx="6711970" cy="627216"/>
      </dsp:txXfrm>
    </dsp:sp>
    <dsp:sp modelId="{503037C0-ECE5-4E0D-8F35-E2292E333CDF}">
      <dsp:nvSpPr>
        <dsp:cNvPr id="0" name=""/>
        <dsp:cNvSpPr/>
      </dsp:nvSpPr>
      <dsp:spPr>
        <a:xfrm>
          <a:off x="483457" y="1655882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Investment Platforms (Retail)</a:t>
          </a:r>
        </a:p>
      </dsp:txBody>
      <dsp:txXfrm>
        <a:off x="508294" y="1680719"/>
        <a:ext cx="3405161" cy="459116"/>
      </dsp:txXfrm>
    </dsp:sp>
    <dsp:sp modelId="{CC9BA2DD-C916-4847-89FF-21DD6BD06D62}">
      <dsp:nvSpPr>
        <dsp:cNvPr id="0" name=""/>
        <dsp:cNvSpPr/>
      </dsp:nvSpPr>
      <dsp:spPr>
        <a:xfrm rot="5400000">
          <a:off x="6963705" y="-686788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WestEnd</a:t>
          </a:r>
          <a:r>
            <a:rPr lang="en-US" sz="1200" kern="1200" dirty="0"/>
            <a:t> Group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/>
            <a:t>Regional Prosperity</a:t>
          </a:r>
        </a:p>
      </dsp:txBody>
      <dsp:txXfrm rot="-5400000">
        <a:off x="3938294" y="2372554"/>
        <a:ext cx="6711970" cy="627216"/>
      </dsp:txXfrm>
    </dsp:sp>
    <dsp:sp modelId="{EE93C61D-77AB-4BFE-B794-BD1055D1C02D}">
      <dsp:nvSpPr>
        <dsp:cNvPr id="0" name=""/>
        <dsp:cNvSpPr/>
      </dsp:nvSpPr>
      <dsp:spPr>
        <a:xfrm>
          <a:off x="483457" y="2431767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Wealth Advisory Groups</a:t>
          </a:r>
        </a:p>
      </dsp:txBody>
      <dsp:txXfrm>
        <a:off x="508294" y="2456604"/>
        <a:ext cx="3405161" cy="459116"/>
      </dsp:txXfrm>
    </dsp:sp>
    <dsp:sp modelId="{41CCDF27-C149-4F37-BE23-2B304108C3C2}">
      <dsp:nvSpPr>
        <dsp:cNvPr id="0" name=""/>
        <dsp:cNvSpPr/>
      </dsp:nvSpPr>
      <dsp:spPr>
        <a:xfrm rot="5400000">
          <a:off x="6963705" y="89095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 kern="1200" dirty="0" err="1">
              <a:latin typeface="Arial" panose="020B0604020202020204"/>
              <a:ea typeface="+mn-ea"/>
              <a:cs typeface="+mn-cs"/>
            </a:rPr>
            <a:t>Yarra</a:t>
          </a:r>
          <a:r>
            <a:rPr lang="en-US" altLang="en-US" sz="1200" kern="1200" dirty="0">
              <a:latin typeface="Arial" panose="020B0604020202020204"/>
              <a:ea typeface="+mn-ea"/>
              <a:cs typeface="+mn-cs"/>
            </a:rPr>
            <a:t> Capital </a:t>
          </a:r>
          <a:endParaRPr lang="en-A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/>
            <a:t>Euree Asset Management</a:t>
          </a:r>
        </a:p>
      </dsp:txBody>
      <dsp:txXfrm rot="-5400000">
        <a:off x="3938294" y="3148438"/>
        <a:ext cx="6711970" cy="627216"/>
      </dsp:txXfrm>
    </dsp:sp>
    <dsp:sp modelId="{F572F5F6-6AF4-4EC1-8CD2-23FA228EBB88}">
      <dsp:nvSpPr>
        <dsp:cNvPr id="0" name=""/>
        <dsp:cNvSpPr/>
      </dsp:nvSpPr>
      <dsp:spPr>
        <a:xfrm>
          <a:off x="483457" y="3207651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chemeClr val="tx1"/>
              </a:solidFill>
              <a:latin typeface="Arial" panose="020B0604020202020204"/>
              <a:ea typeface="+mn-ea"/>
              <a:cs typeface="+mn-cs"/>
            </a:rPr>
            <a:t>Fund Managers</a:t>
          </a:r>
        </a:p>
      </dsp:txBody>
      <dsp:txXfrm>
        <a:off x="508294" y="3232488"/>
        <a:ext cx="3405161" cy="459116"/>
      </dsp:txXfrm>
    </dsp:sp>
    <dsp:sp modelId="{4464CA84-DA73-4C34-ADBD-EE4EDFAD8B99}">
      <dsp:nvSpPr>
        <dsp:cNvPr id="0" name=""/>
        <dsp:cNvSpPr/>
      </dsp:nvSpPr>
      <dsp:spPr>
        <a:xfrm rot="5400000">
          <a:off x="6963705" y="864980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8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MARQ Trustees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Equity Trustees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AU" sz="1200" kern="1200" dirty="0">
            <a:solidFill>
              <a:srgbClr val="3D545E">
                <a:hueOff val="0"/>
                <a:satOff val="0"/>
                <a:lumOff val="0"/>
                <a:alphaOff val="0"/>
              </a:srgbClr>
            </a:solidFill>
            <a:latin typeface="Arial" panose="020B0604020202020204"/>
            <a:ea typeface="+mn-ea"/>
            <a:cs typeface="+mn-cs"/>
          </a:endParaRPr>
        </a:p>
      </dsp:txBody>
      <dsp:txXfrm rot="-5400000">
        <a:off x="3938294" y="3924323"/>
        <a:ext cx="6711970" cy="627216"/>
      </dsp:txXfrm>
    </dsp:sp>
    <dsp:sp modelId="{674D79DB-0D7B-4C76-B21A-E8234D36B9C1}">
      <dsp:nvSpPr>
        <dsp:cNvPr id="0" name=""/>
        <dsp:cNvSpPr/>
      </dsp:nvSpPr>
      <dsp:spPr>
        <a:xfrm>
          <a:off x="483457" y="3983536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Trustee Companies</a:t>
          </a:r>
        </a:p>
      </dsp:txBody>
      <dsp:txXfrm>
        <a:off x="508294" y="4008373"/>
        <a:ext cx="3405161" cy="459116"/>
      </dsp:txXfrm>
    </dsp:sp>
    <dsp:sp modelId="{F5033B04-2EB2-4C5B-85B9-187455BFDF3F}">
      <dsp:nvSpPr>
        <dsp:cNvPr id="0" name=""/>
        <dsp:cNvSpPr/>
      </dsp:nvSpPr>
      <dsp:spPr>
        <a:xfrm rot="5400000">
          <a:off x="6963705" y="1640865"/>
          <a:ext cx="695078" cy="674590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The Nehemiah Foundation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200" kern="1200" dirty="0" err="1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Mossaic</a:t>
          </a:r>
          <a:r>
            <a:rPr lang="en-AU" sz="1200" kern="1200" dirty="0">
              <a:solidFill>
                <a:srgbClr val="3D545E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 Community Care Inc</a:t>
          </a:r>
        </a:p>
      </dsp:txBody>
      <dsp:txXfrm rot="-5400000">
        <a:off x="3938294" y="4700208"/>
        <a:ext cx="6711970" cy="627216"/>
      </dsp:txXfrm>
    </dsp:sp>
    <dsp:sp modelId="{BB5564D1-AB2F-4975-8B20-6C3A137918AB}">
      <dsp:nvSpPr>
        <dsp:cNvPr id="0" name=""/>
        <dsp:cNvSpPr/>
      </dsp:nvSpPr>
      <dsp:spPr>
        <a:xfrm>
          <a:off x="483457" y="4759421"/>
          <a:ext cx="3454835" cy="508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solidFill>
                <a:srgbClr val="3D545E"/>
              </a:solidFill>
              <a:latin typeface="Arial" panose="020B0604020202020204"/>
              <a:ea typeface="+mn-ea"/>
              <a:cs typeface="+mn-cs"/>
            </a:rPr>
            <a:t>Non-For Profit</a:t>
          </a:r>
        </a:p>
      </dsp:txBody>
      <dsp:txXfrm>
        <a:off x="508294" y="4784258"/>
        <a:ext cx="3405161" cy="459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0C4714A-DA1E-9449-86E5-07B57384D4F5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F58FB17-155D-F645-B634-80663ED93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3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8FB17-155D-F645-B634-80663ED937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6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8FB17-155D-F645-B634-80663ED937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mailto:jake.jodlowski@atchison.com.au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kev.jodlowski@atchison.com.au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een lights in the sky&#10;&#10;Description automatically generated with medium confidence">
            <a:extLst>
              <a:ext uri="{FF2B5EF4-FFF2-40B4-BE49-F238E27FC236}">
                <a16:creationId xmlns:a16="http://schemas.microsoft.com/office/drawing/2014/main" id="{5B2B7ECE-C2FE-4C47-9349-5EBAFDE102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3F3D2B-7EE4-7E4C-99F5-8A1925C65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504000"/>
            <a:ext cx="10447536" cy="1521791"/>
          </a:xfrm>
          <a:noFill/>
        </p:spPr>
        <p:txBody>
          <a:bodyPr lIns="0" tIns="0" rIns="0" bIns="0" anchor="t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F57B6-1A1A-A247-A94E-64D3B037B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2520000"/>
            <a:ext cx="4548809" cy="20657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B9DB6-696C-F745-94C1-3E68281C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2772000"/>
            <a:ext cx="4548808" cy="206573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5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30 March 2022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8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F60B-C2B5-9E48-B200-493700D0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77BAC-D0B3-FF45-8C00-4D20F406A2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D624E-EA5A-B549-AB57-6D66A1AB8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7BDEA4-6D5C-2440-A54C-0853E778A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2020186"/>
            <a:ext cx="11184000" cy="410416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1pPr>
            <a:lvl2pPr marL="685800" indent="-228600">
              <a:lnSpc>
                <a:spcPct val="100000"/>
              </a:lnSpc>
              <a:buFont typeface="Arial" panose="020B0604020202020204" pitchFamily="34" charset="0"/>
              <a:buChar char="•"/>
              <a:defRPr sz="1600" baseline="0">
                <a:solidFill>
                  <a:srgbClr val="3D555E"/>
                </a:solidFill>
              </a:defRPr>
            </a:lvl2pPr>
            <a:lvl3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3pPr>
            <a:lvl4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4pPr>
            <a:lvl5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7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F60B-C2B5-9E48-B200-493700D0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77BAC-D0B3-FF45-8C00-4D20F406A2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D624E-EA5A-B549-AB57-6D66A1AB8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7BDEA4-6D5C-2440-A54C-0853E778A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2020186"/>
            <a:ext cx="11184000" cy="4104167"/>
          </a:xfrm>
        </p:spPr>
        <p:txBody>
          <a:bodyPr lIns="0" tIns="0" rIns="0" bIns="0" numCol="2" spcCol="360000">
            <a:normAutofit/>
          </a:bodyPr>
          <a:lstStyle>
            <a:lvl1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1pPr>
            <a:lvl2pPr marL="685800" indent="-228600">
              <a:lnSpc>
                <a:spcPct val="100000"/>
              </a:lnSpc>
              <a:buFont typeface="Arial" panose="020B0604020202020204" pitchFamily="34" charset="0"/>
              <a:buChar char="•"/>
              <a:defRPr sz="1600" baseline="0">
                <a:solidFill>
                  <a:srgbClr val="3D555E"/>
                </a:solidFill>
              </a:defRPr>
            </a:lvl2pPr>
            <a:lvl3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3pPr>
            <a:lvl4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4pPr>
            <a:lvl5pPr>
              <a:lnSpc>
                <a:spcPct val="100000"/>
              </a:lnSpc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8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932B-704F-7E4C-95CE-C702C09D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56149" cy="1325563"/>
          </a:xfrm>
        </p:spPr>
        <p:txBody>
          <a:bodyPr lIns="0" tIns="0" rIns="0" bIns="0" anchor="t" anchorCtr="0">
            <a:noAutofit/>
          </a:bodyPr>
          <a:lstStyle>
            <a:lvl1pPr>
              <a:defRPr sz="4000" baseline="0">
                <a:solidFill>
                  <a:srgbClr val="3D555E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BD5C-7E08-E14E-8A15-D55B1E415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2016000"/>
            <a:ext cx="5515800" cy="4101265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defRPr sz="1600" baseline="0">
                <a:solidFill>
                  <a:srgbClr val="3D555E"/>
                </a:solidFill>
              </a:defRPr>
            </a:lvl1pPr>
            <a:lvl2pPr>
              <a:lnSpc>
                <a:spcPct val="120000"/>
              </a:lnSpc>
              <a:defRPr sz="1600" baseline="0">
                <a:solidFill>
                  <a:srgbClr val="3D555E"/>
                </a:solidFill>
              </a:defRPr>
            </a:lvl2pPr>
            <a:lvl3pPr>
              <a:lnSpc>
                <a:spcPct val="120000"/>
              </a:lnSpc>
              <a:defRPr sz="1600" baseline="0">
                <a:solidFill>
                  <a:srgbClr val="3D555E"/>
                </a:solidFill>
              </a:defRPr>
            </a:lvl3pPr>
            <a:lvl4pPr>
              <a:lnSpc>
                <a:spcPct val="120000"/>
              </a:lnSpc>
              <a:defRPr sz="1600" baseline="0">
                <a:solidFill>
                  <a:srgbClr val="3D555E"/>
                </a:solidFill>
              </a:defRPr>
            </a:lvl4pPr>
            <a:lvl5pPr>
              <a:lnSpc>
                <a:spcPct val="120000"/>
              </a:lnSpc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2823C-98A0-6D44-888E-DFF5AA62E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6000"/>
            <a:ext cx="5515800" cy="4101265"/>
          </a:xfrm>
        </p:spPr>
        <p:txBody>
          <a:bodyPr lIns="0" tIns="0" rIns="0" bIns="0">
            <a:normAutofit/>
          </a:bodyPr>
          <a:lstStyle>
            <a:lvl1pPr>
              <a:defRPr sz="1600" baseline="0">
                <a:solidFill>
                  <a:srgbClr val="3D555E"/>
                </a:solidFill>
              </a:defRPr>
            </a:lvl1pPr>
            <a:lvl2pPr>
              <a:defRPr sz="1600" baseline="0">
                <a:solidFill>
                  <a:srgbClr val="3D555E"/>
                </a:solidFill>
              </a:defRPr>
            </a:lvl2pPr>
            <a:lvl3pPr>
              <a:defRPr sz="1600" baseline="0">
                <a:solidFill>
                  <a:srgbClr val="3D555E"/>
                </a:solidFill>
              </a:defRPr>
            </a:lvl3pPr>
            <a:lvl4pPr>
              <a:defRPr sz="1600" baseline="0">
                <a:solidFill>
                  <a:srgbClr val="3D555E"/>
                </a:solidFill>
              </a:defRPr>
            </a:lvl4pPr>
            <a:lvl5pPr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CC1CF-5FED-D34E-A3FD-A607FE8A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1248" y="6356351"/>
            <a:ext cx="4031751" cy="245928"/>
          </a:xfrm>
        </p:spPr>
        <p:txBody>
          <a:bodyPr lIns="0" tIns="0" rIns="0" bIns="0"/>
          <a:lstStyle>
            <a:lvl1pPr algn="l">
              <a:defRPr baseline="0">
                <a:solidFill>
                  <a:srgbClr val="3D555E"/>
                </a:solidFill>
              </a:defRPr>
            </a:lvl1pPr>
          </a:lstStyle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36645-D482-B749-9FF5-057D5E31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4000" y="6356350"/>
            <a:ext cx="417249" cy="245929"/>
          </a:xfrm>
        </p:spPr>
        <p:txBody>
          <a:bodyPr/>
          <a:lstStyle>
            <a:lvl1pPr algn="l">
              <a:defRPr baseline="0">
                <a:solidFill>
                  <a:srgbClr val="76C204"/>
                </a:solidFill>
              </a:defRPr>
            </a:lvl1pPr>
          </a:lstStyle>
          <a:p>
            <a:fld id="{C88128C6-A6A3-394B-86F9-39BAF5F56A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2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40943-6353-4E49-AAAA-1BBB4E69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56295-BA74-E24F-A50F-BD169E0AC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E0610-31B3-5D40-8931-7C87F91CE2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B0D13B-E367-BF49-BE83-7222E0F1B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2015999"/>
            <a:ext cx="5515800" cy="4101266"/>
          </a:xfrm>
        </p:spPr>
        <p:txBody>
          <a:bodyPr lIns="0" tIns="0" rIns="0" bIns="0">
            <a:normAutofit/>
          </a:bodyPr>
          <a:lstStyle>
            <a:lvl1pPr>
              <a:defRPr sz="1600" baseline="0">
                <a:solidFill>
                  <a:srgbClr val="3D555E"/>
                </a:solidFill>
              </a:defRPr>
            </a:lvl1pPr>
            <a:lvl2pPr>
              <a:defRPr sz="1600" baseline="0">
                <a:solidFill>
                  <a:srgbClr val="3D555E"/>
                </a:solidFill>
              </a:defRPr>
            </a:lvl2pPr>
            <a:lvl3pPr>
              <a:defRPr sz="1600" baseline="0">
                <a:solidFill>
                  <a:srgbClr val="3D555E"/>
                </a:solidFill>
              </a:defRPr>
            </a:lvl3pPr>
            <a:lvl4pPr>
              <a:defRPr sz="1600" baseline="0">
                <a:solidFill>
                  <a:srgbClr val="3D555E"/>
                </a:solidFill>
              </a:defRPr>
            </a:lvl4pPr>
            <a:lvl5pPr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96C0D4-4911-2E40-A9A3-A53A766B6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6001"/>
            <a:ext cx="5515800" cy="4101264"/>
          </a:xfrm>
        </p:spPr>
        <p:txBody>
          <a:bodyPr lIns="0" tIns="0" rIns="0" bIns="0">
            <a:normAutofit/>
          </a:bodyPr>
          <a:lstStyle>
            <a:lvl1pPr>
              <a:defRPr sz="1600" baseline="0">
                <a:solidFill>
                  <a:srgbClr val="3D555E"/>
                </a:solidFill>
              </a:defRPr>
            </a:lvl1pPr>
            <a:lvl2pPr>
              <a:defRPr sz="1600" baseline="0">
                <a:solidFill>
                  <a:srgbClr val="3D555E"/>
                </a:solidFill>
              </a:defRPr>
            </a:lvl2pPr>
            <a:lvl3pPr>
              <a:defRPr sz="1600" baseline="0">
                <a:solidFill>
                  <a:srgbClr val="3D555E"/>
                </a:solidFill>
              </a:defRPr>
            </a:lvl3pPr>
            <a:lvl4pPr>
              <a:defRPr sz="1600" baseline="0">
                <a:solidFill>
                  <a:srgbClr val="3D555E"/>
                </a:solidFill>
              </a:defRPr>
            </a:lvl4pPr>
            <a:lvl5pPr>
              <a:defRPr sz="1600" baseline="0">
                <a:solidFill>
                  <a:srgbClr val="3D555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9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5D35-2C04-2F48-A31E-1E4B4EF8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7C2F6-2E44-6C45-9F18-9A66C3DF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77A83-1E53-7842-A72C-E3C0CE83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1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5D35-2C04-2F48-A31E-1E4B4EF8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7C2F6-2E44-6C45-9F18-9A66C3DF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77A83-1E53-7842-A72C-E3C0CE83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F544CD5-A46B-E14A-9A43-2C3A523FE9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865079"/>
              </p:ext>
            </p:extLst>
          </p:nvPr>
        </p:nvGraphicFramePr>
        <p:xfrm>
          <a:off x="503999" y="1984745"/>
          <a:ext cx="11170550" cy="398141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558717">
                  <a:extLst>
                    <a:ext uri="{9D8B030D-6E8A-4147-A177-3AD203B41FA5}">
                      <a16:colId xmlns:a16="http://schemas.microsoft.com/office/drawing/2014/main" val="1985296072"/>
                    </a:ext>
                  </a:extLst>
                </a:gridCol>
                <a:gridCol w="1750828">
                  <a:extLst>
                    <a:ext uri="{9D8B030D-6E8A-4147-A177-3AD203B41FA5}">
                      <a16:colId xmlns:a16="http://schemas.microsoft.com/office/drawing/2014/main" val="3340708001"/>
                    </a:ext>
                  </a:extLst>
                </a:gridCol>
                <a:gridCol w="2105247">
                  <a:extLst>
                    <a:ext uri="{9D8B030D-6E8A-4147-A177-3AD203B41FA5}">
                      <a16:colId xmlns:a16="http://schemas.microsoft.com/office/drawing/2014/main" val="1126923877"/>
                    </a:ext>
                  </a:extLst>
                </a:gridCol>
                <a:gridCol w="2126511">
                  <a:extLst>
                    <a:ext uri="{9D8B030D-6E8A-4147-A177-3AD203B41FA5}">
                      <a16:colId xmlns:a16="http://schemas.microsoft.com/office/drawing/2014/main" val="1892620863"/>
                    </a:ext>
                  </a:extLst>
                </a:gridCol>
                <a:gridCol w="3629247">
                  <a:extLst>
                    <a:ext uri="{9D8B030D-6E8A-4147-A177-3AD203B41FA5}">
                      <a16:colId xmlns:a16="http://schemas.microsoft.com/office/drawing/2014/main" val="1900792257"/>
                    </a:ext>
                  </a:extLst>
                </a:gridCol>
              </a:tblGrid>
              <a:tr h="490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kern="1200" baseline="0">
                          <a:solidFill>
                            <a:schemeClr val="lt1"/>
                          </a:solidFill>
                          <a:effectLst/>
                        </a:rPr>
                        <a:t>Position</a:t>
                      </a:r>
                      <a:endParaRPr lang="en-AU" sz="1200" b="1" kern="1200" baseline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baseline="0">
                          <a:solidFill>
                            <a:srgbClr val="FFFFFF"/>
                          </a:solidFill>
                          <a:effectLst/>
                        </a:rPr>
                        <a:t>Name</a:t>
                      </a:r>
                      <a:endParaRPr lang="en-AU" sz="1200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baseline="0">
                          <a:solidFill>
                            <a:srgbClr val="FFFFFF"/>
                          </a:solidFill>
                          <a:effectLst/>
                        </a:rPr>
                        <a:t>Qualifications</a:t>
                      </a:r>
                      <a:endParaRPr lang="en-AU" sz="1200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baseline="0">
                          <a:solidFill>
                            <a:srgbClr val="FFFFFF"/>
                          </a:solidFill>
                          <a:effectLst/>
                        </a:rPr>
                        <a:t>Relevant Experience Years</a:t>
                      </a:r>
                      <a:endParaRPr lang="en-AU" sz="1200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baseline="0">
                          <a:solidFill>
                            <a:srgbClr val="FFFFFF"/>
                          </a:solidFill>
                          <a:effectLst/>
                        </a:rPr>
                        <a:t>Relevant Previous Experience</a:t>
                      </a:r>
                      <a:endParaRPr lang="en-AU" sz="1200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454277"/>
                  </a:ext>
                </a:extLst>
              </a:tr>
              <a:tr h="651799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Lead Consultant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Jake Jodlowski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B.Bus, FCCA,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M.Appl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 Fin,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F.Finsia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28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PwC (Lnd), Buzzacott &amp; Co (Lnd),Buzzacott Investment Management (Lnd), Select Managed Funds (Hobart &amp; Melb), IOOF (Melb &amp; Sydney)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53961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Principal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Kevin Toohey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B.Com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 Sc,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M.Appl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 Fin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19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Australian Indices (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Melb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)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99480"/>
                  </a:ext>
                </a:extLst>
              </a:tr>
              <a:tr h="436066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Principal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Peter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Wiliamson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B.Sc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, FIAA,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Snr.Finsia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, AICD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31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Wm M Mercer, PwC, Counterpoint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0294"/>
                  </a:ext>
                </a:extLst>
              </a:tr>
              <a:tr h="490529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Senior Investment Analyst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Chris Owens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B.Comm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M.Econ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4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Waterford Accountants, NAB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348117"/>
                  </a:ext>
                </a:extLst>
              </a:tr>
              <a:tr h="490529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Investment Analyst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Alan Au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B.Med Radiation, M.Comm, CFA Level 1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4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Latrobe Financial, 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Escala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 Partners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35592"/>
                  </a:ext>
                </a:extLst>
              </a:tr>
              <a:tr h="490529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Investment Analyst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William Loebis-Arnost 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Dip Bus Technology, MBA, Grad Dip Fin Planning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11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Snap Innovations, Australian Stock Report, Wattle Partners Private Wealth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79041"/>
                  </a:ext>
                </a:extLst>
              </a:tr>
              <a:tr h="490529"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Data Analyst 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Ye Peng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B.Fin Eng, M.Mge (Acct), M.Biostatistics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6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Tzung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 Hsiang Forex (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Melb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), TMGM  Capital (</a:t>
                      </a:r>
                      <a:r>
                        <a:rPr lang="en-AU" sz="1200" baseline="0" err="1">
                          <a:solidFill>
                            <a:srgbClr val="3D555E"/>
                          </a:solidFill>
                          <a:effectLst/>
                        </a:rPr>
                        <a:t>Melb</a:t>
                      </a:r>
                      <a:r>
                        <a:rPr lang="en-AU" sz="1200" baseline="0">
                          <a:solidFill>
                            <a:srgbClr val="3D555E"/>
                          </a:solidFill>
                          <a:effectLst/>
                        </a:rPr>
                        <a:t>)</a:t>
                      </a:r>
                      <a:endParaRPr lang="en-AU" sz="1200" baseline="0">
                        <a:solidFill>
                          <a:srgbClr val="3D555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36000" marT="72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D5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11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80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D72ED-5277-E54E-98DF-84CB512F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175A8-7026-6B4B-9ED8-39F35097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95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3B24-3677-8048-AFBB-D4C21D616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4268025" cy="1230384"/>
          </a:xfrm>
        </p:spPr>
        <p:txBody>
          <a:bodyPr anchor="b">
            <a:normAutofit/>
          </a:bodyPr>
          <a:lstStyle>
            <a:lvl1pPr>
              <a:defRPr sz="2700" baseline="0">
                <a:solidFill>
                  <a:srgbClr val="76C20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10BE-68B4-CD47-A42B-AFF01A05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2015999"/>
            <a:ext cx="6533891" cy="4058735"/>
          </a:xfrm>
        </p:spPr>
        <p:txBody>
          <a:bodyPr lIns="0" tIns="0" rIns="0" bIns="0">
            <a:normAutofit/>
          </a:bodyPr>
          <a:lstStyle>
            <a:lvl1pPr>
              <a:defRPr sz="1600" baseline="0"/>
            </a:lvl1pPr>
            <a:lvl2pPr>
              <a:defRPr sz="1600" baseline="0"/>
            </a:lvl2pPr>
            <a:lvl3pPr>
              <a:defRPr sz="16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1F8B1-3ECC-DE42-8393-0FB42A715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4000" y="2016000"/>
            <a:ext cx="4268025" cy="405873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04247-527B-C640-BB2C-4399F66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337E4-D2A3-904B-BE8A-962C7649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90E6-C805-DD47-80AE-F8B007768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1"/>
            <a:ext cx="4268025" cy="1232650"/>
          </a:xfrm>
        </p:spPr>
        <p:txBody>
          <a:bodyPr anchor="b">
            <a:normAutofit/>
          </a:bodyPr>
          <a:lstStyle>
            <a:lvl1pPr>
              <a:defRPr sz="2700" baseline="0">
                <a:solidFill>
                  <a:srgbClr val="76C20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B429E-2992-2547-9781-2D80E3416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F013D-E0E0-D74D-AA92-DF37A6049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4000" y="2013098"/>
            <a:ext cx="4268025" cy="385589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1A243-3A76-654C-9426-709AD881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46792-5B50-E14D-9A96-06BCF19C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00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E1A36EEF-2AB2-4E47-892A-83F026005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8FC219-2AE4-D440-ABBF-0C6D78928C2C}"/>
              </a:ext>
            </a:extLst>
          </p:cNvPr>
          <p:cNvSpPr txBox="1"/>
          <p:nvPr userDrawn="1"/>
        </p:nvSpPr>
        <p:spPr>
          <a:xfrm>
            <a:off x="474388" y="1904427"/>
            <a:ext cx="2921955" cy="332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800" b="1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Atchison Consultants</a:t>
            </a: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Level 4, 125 Flinders Lane, </a:t>
            </a:r>
            <a:b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Melbourne Vic 3000</a:t>
            </a: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P: +61 (0) 3 9642 3835 </a:t>
            </a:r>
          </a:p>
          <a:p>
            <a:r>
              <a:rPr lang="en-AU" sz="8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enquiries@atchison.com.au</a:t>
            </a:r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      </a:t>
            </a:r>
            <a:b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8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www.atchison.com.au</a:t>
            </a:r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</a:t>
            </a:r>
            <a:b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ABN: 58 097 703 047 </a:t>
            </a: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AFSL Number: 230846</a:t>
            </a:r>
            <a:b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i="1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To obtain further information, </a:t>
            </a:r>
            <a:br>
              <a:rPr lang="en-AU" sz="800" i="1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AU" sz="800" i="1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please contact: </a:t>
            </a: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b="1" kern="1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Jake Jodlowski</a:t>
            </a:r>
            <a:endParaRPr lang="en-AU" sz="800" kern="1200" baseline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Principal</a:t>
            </a: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Email: </a:t>
            </a:r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jake@atchison.com.au</a:t>
            </a: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b="1" kern="1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Kev Toohey</a:t>
            </a:r>
            <a:endParaRPr lang="en-AU" sz="800" kern="1200" baseline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Principal</a:t>
            </a: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Email: </a:t>
            </a:r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kev@atchison.com.au</a:t>
            </a: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b="1" kern="1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Mishan Dahia</a:t>
            </a:r>
            <a:endParaRPr lang="en-AU" sz="800" kern="1200" baseline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80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Investment Analyst</a:t>
            </a:r>
          </a:p>
          <a:p>
            <a:r>
              <a:rPr lang="en-AU" sz="80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Email: </a:t>
            </a:r>
            <a:r>
              <a:rPr lang="en-AU" sz="800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mishan@atchison.com.au</a:t>
            </a:r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800" kern="1200" baseline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11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C7A-9065-42AE-A698-3AEC0CFE2EAA}" type="datetime1">
              <a:rPr lang="en-AU" smtClean="0"/>
              <a:t>8/07/2025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8485B-9F00-49DE-A94A-C57F992A0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53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BD8820F3-A0B6-4E4D-A1B6-0F61F685EDC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482E7-D31C-5049-97DF-42A36D04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56A7C-8B87-8142-BF9F-FA3DE4C50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000" y="2041451"/>
            <a:ext cx="11184000" cy="41098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6BA1B-2083-4D4A-A859-E94DF415D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826" y="6255051"/>
            <a:ext cx="7267574" cy="2039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rgbClr val="3D555E"/>
                </a:solidFill>
              </a:defRPr>
            </a:lvl1pPr>
          </a:lstStyle>
          <a:p>
            <a:r>
              <a:rPr lang="en-US"/>
              <a:t>Provision of Asset Consulting Service to AJ Gleeson – Financial Advisers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11C7-0BE0-3342-9033-D005820DF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4000" y="6257401"/>
            <a:ext cx="381826" cy="2016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rgbClr val="76C204"/>
                </a:solidFill>
              </a:defRPr>
            </a:lvl1pPr>
          </a:lstStyle>
          <a:p>
            <a:fld id="{C88128C6-A6A3-394B-86F9-39BAF5F56A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4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61" r:id="rId3"/>
    <p:sldLayoutId id="2147483652" r:id="rId4"/>
    <p:sldLayoutId id="2147483659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62" r:id="rId11"/>
    <p:sldLayoutId id="214748366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rgbClr val="3D555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kern="1200" baseline="0">
          <a:solidFill>
            <a:srgbClr val="3D55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3D555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3D555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3D555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3D555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tchisonanalytics.github.io/assetsHTML/Atchison/AtchisonSMAWhitePaper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tchisonanalytics.github.io/assetsHTML/Atchison/SAAForecasts2025.pdf" TargetMode="External"/><Relationship Id="rId5" Type="http://schemas.openxmlformats.org/officeDocument/2006/relationships/hyperlink" Target="https://atchisonanalytics.github.io/assetsHTML/Atchison/CapitalMarketAssumptionProcess-202503.pdf" TargetMode="Externa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tchisonanalytics.github.io/assetsHTML/Atchison/AtchisonSMASAAReview2024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tchisonanalytics.github.io/AtchisonRegime/Outputs/RegimeAnalysis-31May2025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hyperlink" Target="https://atchisonanalytics.github.io/assetsHTML/Atchison/TAAPosition2025Q2.pd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tchisonanalytics.github.io/assetsHTML/Atchison/AtchisonAPLReview202412.pdf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tchisonanalytics.github.io/Wattle.html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ve with light shining on it">
            <a:extLst>
              <a:ext uri="{FF2B5EF4-FFF2-40B4-BE49-F238E27FC236}">
                <a16:creationId xmlns:a16="http://schemas.microsoft.com/office/drawing/2014/main" id="{3E5B32CF-C756-774E-7D65-6D101BA8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493" y="0"/>
            <a:ext cx="122829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212069-7972-F712-71BF-8D4264C2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614837"/>
            <a:ext cx="10298679" cy="1318155"/>
          </a:xfrm>
        </p:spPr>
        <p:txBody>
          <a:bodyPr/>
          <a:lstStyle/>
          <a:p>
            <a:r>
              <a:rPr lang="en-AU" b="1" dirty="0">
                <a:solidFill>
                  <a:schemeClr val="bg1"/>
                </a:solidFill>
              </a:rPr>
              <a:t>Atchison</a:t>
            </a:r>
            <a:br>
              <a:rPr lang="en-AU" b="1" dirty="0">
                <a:solidFill>
                  <a:schemeClr val="bg1"/>
                </a:solidFill>
              </a:rPr>
            </a:br>
            <a:br>
              <a:rPr lang="en-AU" b="1" dirty="0">
                <a:solidFill>
                  <a:schemeClr val="bg1"/>
                </a:solidFill>
              </a:rPr>
            </a:br>
            <a:r>
              <a:rPr lang="en-AU" b="1" dirty="0">
                <a:solidFill>
                  <a:schemeClr val="bg1"/>
                </a:solidFill>
              </a:rPr>
              <a:t>Presentation to </a:t>
            </a:r>
            <a:r>
              <a:rPr lang="en-AU" b="1" dirty="0" err="1">
                <a:solidFill>
                  <a:schemeClr val="bg1"/>
                </a:solidFill>
              </a:rPr>
              <a:t>KeyInvest</a:t>
            </a:r>
            <a:r>
              <a:rPr lang="en-AU" b="1" dirty="0">
                <a:solidFill>
                  <a:schemeClr val="bg1"/>
                </a:solidFill>
              </a:rPr>
              <a:t> Management Committee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E64A6-C0B0-4C86-63BE-6556F17A5A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92965C-4777-3741-AA7B-6F6D4240BB7A}"/>
              </a:ext>
            </a:extLst>
          </p:cNvPr>
          <p:cNvSpPr txBox="1">
            <a:spLocks/>
          </p:cNvSpPr>
          <p:nvPr/>
        </p:nvSpPr>
        <p:spPr>
          <a:xfrm>
            <a:off x="504000" y="3448012"/>
            <a:ext cx="4548809" cy="24063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1500" b="1" dirty="0"/>
          </a:p>
          <a:p>
            <a:endParaRPr lang="en-AU" sz="1500" b="1" dirty="0"/>
          </a:p>
          <a:p>
            <a:endParaRPr lang="en-AU" sz="1500" dirty="0"/>
          </a:p>
          <a:p>
            <a:pPr marL="0" indent="0">
              <a:buNone/>
            </a:pPr>
            <a:r>
              <a:rPr lang="en-AU" sz="1500" dirty="0">
                <a:solidFill>
                  <a:schemeClr val="bg1"/>
                </a:solidFill>
              </a:rPr>
              <a:t>Kev Toohey – Partner</a:t>
            </a:r>
          </a:p>
          <a:p>
            <a:pPr marL="0" indent="0">
              <a:buNone/>
            </a:pPr>
            <a:r>
              <a:rPr lang="en-AU" sz="1500" dirty="0">
                <a:solidFill>
                  <a:schemeClr val="bg1"/>
                </a:solidFill>
              </a:rPr>
              <a:t>Jake Jodlowski - Principal</a:t>
            </a:r>
          </a:p>
          <a:p>
            <a:pPr marL="0" indent="0">
              <a:buNone/>
            </a:pPr>
            <a:r>
              <a:rPr lang="en-AU" sz="1500" dirty="0">
                <a:solidFill>
                  <a:schemeClr val="bg1"/>
                </a:solidFill>
              </a:rPr>
              <a:t>Nick Hatzis – Investment Analyst</a:t>
            </a:r>
          </a:p>
          <a:p>
            <a:endParaRPr lang="en-AU" sz="1500" dirty="0">
              <a:solidFill>
                <a:schemeClr val="bg1"/>
              </a:solidFill>
              <a:cs typeface="Arial"/>
            </a:endParaRPr>
          </a:p>
          <a:p>
            <a:pPr marL="0" indent="0">
              <a:buNone/>
            </a:pPr>
            <a:r>
              <a:rPr lang="en-AU" sz="1500" dirty="0">
                <a:solidFill>
                  <a:schemeClr val="bg1"/>
                </a:solidFill>
                <a:cs typeface="Arial"/>
              </a:rPr>
              <a:t>July 2025</a:t>
            </a:r>
          </a:p>
          <a:p>
            <a:r>
              <a:rPr lang="en-AU" sz="1500" dirty="0">
                <a:cs typeface="Arial"/>
              </a:rPr>
              <a:t>July </a:t>
            </a:r>
          </a:p>
        </p:txBody>
      </p:sp>
    </p:spTree>
    <p:extLst>
      <p:ext uri="{BB962C8B-B14F-4D97-AF65-F5344CB8AC3E}">
        <p14:creationId xmlns:p14="http://schemas.microsoft.com/office/powerpoint/2010/main" val="49787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ED056-9945-FD5F-8160-B47C5439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966F-D833-AC6E-F945-80D5C4346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515934" cy="721485"/>
          </a:xfrm>
        </p:spPr>
        <p:txBody>
          <a:bodyPr/>
          <a:lstStyle/>
          <a:p>
            <a:r>
              <a:rPr lang="en-AU" b="1"/>
              <a:t>Atchison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D1BD2-D5E1-51A8-ACA0-8850D338C5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0EB95DE-1014-8B3D-AD24-C04A4DB890CB}"/>
              </a:ext>
            </a:extLst>
          </p:cNvPr>
          <p:cNvSpPr txBox="1">
            <a:spLocks/>
          </p:cNvSpPr>
          <p:nvPr/>
        </p:nvSpPr>
        <p:spPr>
          <a:xfrm>
            <a:off x="504000" y="1489604"/>
            <a:ext cx="10298679" cy="47635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Founded in Melbourne in 2001, with satellite offices in Perth and Sydney.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Atchison provides holistic and bespoke advice and investment management to superannuation funds, wealth management groups, family offices, charities, foundations and endowment funds.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Assets under advice and management in excess of A$31 billion.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We </a:t>
            </a:r>
            <a:r>
              <a:rPr lang="en-US" sz="2400" dirty="0" err="1"/>
              <a:t>specialise</a:t>
            </a:r>
            <a:r>
              <a:rPr lang="en-US" sz="2400" dirty="0"/>
              <a:t> in three core pillars:</a:t>
            </a:r>
          </a:p>
          <a:p>
            <a:pPr lvl="1"/>
            <a:r>
              <a:rPr lang="en-US" sz="2400" b="1" dirty="0"/>
              <a:t>Governance, Solutions, and Consulting</a:t>
            </a:r>
          </a:p>
          <a:p>
            <a:pPr>
              <a:buFont typeface="Arial" panose="020B0604020202020204" pitchFamily="34" charset="0"/>
              <a:buChar char="●"/>
            </a:pPr>
            <a:endParaRPr lang="en-US" sz="1000" dirty="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 dirty="0">
              <a:cs typeface="Arial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057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7155-6659-47C4-E762-DD8B9AB0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5491-5125-6F12-0750-11BF40D9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515934" cy="721485"/>
          </a:xfrm>
        </p:spPr>
        <p:txBody>
          <a:bodyPr/>
          <a:lstStyle/>
          <a:p>
            <a:r>
              <a:rPr lang="en-AU" b="1" dirty="0"/>
              <a:t>Atchison – Value-add and Differentiation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F7310-B866-920B-F9AE-79BFB27B71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893BB4B-3194-57EC-7CBC-983F17D7B71B}"/>
              </a:ext>
            </a:extLst>
          </p:cNvPr>
          <p:cNvSpPr txBox="1">
            <a:spLocks/>
          </p:cNvSpPr>
          <p:nvPr/>
        </p:nvSpPr>
        <p:spPr>
          <a:xfrm>
            <a:off x="504000" y="1489604"/>
            <a:ext cx="10298679" cy="47635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Our value proposition has not changed since 2001, nor is it a static statement but evolves with each client relationship and requirement - a testament of Atchison’s plus 24 years of providing economic value to clients.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Our focus is on assisting our clients to increase return on investment made within acceptable risk parameters, across defined timeframe. We understand that clients seek outcomes, not just services.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Atchison’s methodology is to assess each client’s objectives and work alongside to achieve corporate and investment objectives.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8867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FD7B-6DD5-9070-092D-B5ABD4CD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2D6D1-4BE7-15FA-F180-4471F6547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4279B-1A33-9A52-6173-43BB559429D2}"/>
              </a:ext>
            </a:extLst>
          </p:cNvPr>
          <p:cNvSpPr txBox="1"/>
          <p:nvPr/>
        </p:nvSpPr>
        <p:spPr>
          <a:xfrm>
            <a:off x="409871" y="1184185"/>
            <a:ext cx="9609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AU" sz="1200" b="0" i="0">
                <a:effectLst/>
                <a:latin typeface="+mj-lt"/>
              </a:rPr>
              <a:t>Our linear structure ensures all members of Atchison can be effectively involved in contributing to maximising investment outcomes for our clients.</a:t>
            </a:r>
            <a:r>
              <a:rPr lang="en-AU" sz="1200">
                <a:latin typeface="+mj-lt"/>
              </a:rPr>
              <a:t> </a:t>
            </a:r>
            <a:r>
              <a:rPr lang="en-AU" sz="1200" b="0" i="0">
                <a:effectLst/>
                <a:latin typeface="+mj-lt"/>
              </a:rPr>
              <a:t>All team members provide high quality research, advice, and both customised solutions and model portfolios.</a:t>
            </a:r>
            <a:br>
              <a:rPr lang="en-AU" sz="1200" b="0" i="0">
                <a:effectLst/>
                <a:latin typeface="+mj-lt"/>
              </a:rPr>
            </a:br>
            <a:endParaRPr lang="en-AU" sz="1200" b="0" i="0">
              <a:effectLst/>
              <a:latin typeface="+mj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ED84D1C-690B-E070-41A9-0224C928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1"/>
            <a:ext cx="10298679" cy="646332"/>
          </a:xfrm>
        </p:spPr>
        <p:txBody>
          <a:bodyPr/>
          <a:lstStyle/>
          <a:p>
            <a:r>
              <a:rPr lang="en-US" b="1"/>
              <a:t>Our Team</a:t>
            </a:r>
            <a:endParaRPr lang="en-AU" b="1"/>
          </a:p>
        </p:txBody>
      </p:sp>
      <p:pic>
        <p:nvPicPr>
          <p:cNvPr id="2" name="Picture 1" descr="A person in a suit smiling&#10;&#10;Description automatically generated">
            <a:extLst>
              <a:ext uri="{FF2B5EF4-FFF2-40B4-BE49-F238E27FC236}">
                <a16:creationId xmlns:a16="http://schemas.microsoft.com/office/drawing/2014/main" id="{5F19DB75-28C1-4395-C70C-54D694B5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90" y="2004024"/>
            <a:ext cx="1301496" cy="1626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34C69E-FA50-AF0F-82F8-277DBD0A22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5980" y="2004025"/>
            <a:ext cx="1299800" cy="1624751"/>
          </a:xfrm>
          <a:prstGeom prst="rect">
            <a:avLst/>
          </a:prstGeom>
        </p:spPr>
      </p:pic>
      <p:pic>
        <p:nvPicPr>
          <p:cNvPr id="6" name="Picture 5" descr="Medium shot of a person smiling&#10;&#10;Description automatically generated">
            <a:extLst>
              <a:ext uri="{FF2B5EF4-FFF2-40B4-BE49-F238E27FC236}">
                <a16:creationId xmlns:a16="http://schemas.microsoft.com/office/drawing/2014/main" id="{E9AD0113-2082-FC16-DD0E-E5351C21F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076" y="2023737"/>
            <a:ext cx="1299801" cy="1624751"/>
          </a:xfrm>
          <a:prstGeom prst="rect">
            <a:avLst/>
          </a:prstGeom>
        </p:spPr>
      </p:pic>
      <p:pic>
        <p:nvPicPr>
          <p:cNvPr id="16" name="Picture 15" descr="A person in a suit smiling&#10;&#10;Description automatically generated">
            <a:extLst>
              <a:ext uri="{FF2B5EF4-FFF2-40B4-BE49-F238E27FC236}">
                <a16:creationId xmlns:a16="http://schemas.microsoft.com/office/drawing/2014/main" id="{116AFAFF-36D6-2E20-1B32-1C37D99D2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094" y="4377799"/>
            <a:ext cx="1299801" cy="1624751"/>
          </a:xfrm>
          <a:prstGeom prst="rect">
            <a:avLst/>
          </a:prstGeom>
        </p:spPr>
      </p:pic>
      <p:pic>
        <p:nvPicPr>
          <p:cNvPr id="17" name="Picture 16" descr="A person in a suit">
            <a:extLst>
              <a:ext uri="{FF2B5EF4-FFF2-40B4-BE49-F238E27FC236}">
                <a16:creationId xmlns:a16="http://schemas.microsoft.com/office/drawing/2014/main" id="{21F9FABD-F360-C7F9-1B3C-76C4F8A83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00" y="4377800"/>
            <a:ext cx="1299801" cy="1624751"/>
          </a:xfrm>
          <a:prstGeom prst="rect">
            <a:avLst/>
          </a:prstGeom>
        </p:spPr>
      </p:pic>
      <p:pic>
        <p:nvPicPr>
          <p:cNvPr id="25" name="Picture 24" descr="A person in a suit and tie&#10;&#10;Description automatically generated">
            <a:extLst>
              <a:ext uri="{FF2B5EF4-FFF2-40B4-BE49-F238E27FC236}">
                <a16:creationId xmlns:a16="http://schemas.microsoft.com/office/drawing/2014/main" id="{788A749B-4A6B-9E50-AA43-DB235CD099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" y="2004025"/>
            <a:ext cx="1299801" cy="1624751"/>
          </a:xfrm>
          <a:prstGeom prst="rect">
            <a:avLst/>
          </a:prstGeom>
        </p:spPr>
      </p:pic>
      <p:pic>
        <p:nvPicPr>
          <p:cNvPr id="26" name="Picture 25" descr="A person in a suit and tie&#10;&#10;Description automatically generated">
            <a:extLst>
              <a:ext uri="{FF2B5EF4-FFF2-40B4-BE49-F238E27FC236}">
                <a16:creationId xmlns:a16="http://schemas.microsoft.com/office/drawing/2014/main" id="{5E5332E7-AA25-2659-50D1-BF66BD53AE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4095" y="2004024"/>
            <a:ext cx="1299801" cy="1624752"/>
          </a:xfrm>
          <a:prstGeom prst="rect">
            <a:avLst/>
          </a:prstGeom>
        </p:spPr>
      </p:pic>
      <p:pic>
        <p:nvPicPr>
          <p:cNvPr id="27" name="Picture 26" descr="A person in a suit smiling&#10;&#10;Description automatically generated">
            <a:extLst>
              <a:ext uri="{FF2B5EF4-FFF2-40B4-BE49-F238E27FC236}">
                <a16:creationId xmlns:a16="http://schemas.microsoft.com/office/drawing/2014/main" id="{C48FBB1E-91A3-93D8-7827-A209274C8A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076" y="4377796"/>
            <a:ext cx="1299801" cy="1624751"/>
          </a:xfrm>
          <a:prstGeom prst="rect">
            <a:avLst/>
          </a:prstGeom>
        </p:spPr>
      </p:pic>
      <p:pic>
        <p:nvPicPr>
          <p:cNvPr id="28" name="Picture 27" descr="A person in a suit and tie&#10;&#10;Description automatically generated">
            <a:extLst>
              <a:ext uri="{FF2B5EF4-FFF2-40B4-BE49-F238E27FC236}">
                <a16:creationId xmlns:a16="http://schemas.microsoft.com/office/drawing/2014/main" id="{F2E40BB4-8DF1-FB6E-F0EB-CB8804972F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5979" y="4377797"/>
            <a:ext cx="1299801" cy="1624751"/>
          </a:xfrm>
          <a:prstGeom prst="rect">
            <a:avLst/>
          </a:prstGeom>
        </p:spPr>
      </p:pic>
      <p:pic>
        <p:nvPicPr>
          <p:cNvPr id="29" name="Picture 28" descr="A person with short hair wearing a collared shirt&#10;&#10;Description automatically generated">
            <a:extLst>
              <a:ext uri="{FF2B5EF4-FFF2-40B4-BE49-F238E27FC236}">
                <a16:creationId xmlns:a16="http://schemas.microsoft.com/office/drawing/2014/main" id="{64ED7030-EC08-0FDA-4607-DF284AEA14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5882" y="4377798"/>
            <a:ext cx="1299801" cy="16247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13985D-55A5-E2B7-2B06-95A12947DC0C}"/>
              </a:ext>
            </a:extLst>
          </p:cNvPr>
          <p:cNvSpPr txBox="1"/>
          <p:nvPr/>
        </p:nvSpPr>
        <p:spPr>
          <a:xfrm>
            <a:off x="409871" y="3708793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Jake Jodlowski</a:t>
            </a:r>
            <a:br>
              <a:rPr lang="en-AU" sz="1200" b="1"/>
            </a:br>
            <a:r>
              <a:rPr lang="en-AU" sz="1200"/>
              <a:t>Principal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96C476-17A4-23A2-B6EE-B2D7642C2968}"/>
              </a:ext>
            </a:extLst>
          </p:cNvPr>
          <p:cNvSpPr txBox="1"/>
          <p:nvPr/>
        </p:nvSpPr>
        <p:spPr>
          <a:xfrm>
            <a:off x="2331269" y="3685644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Kev Toohey</a:t>
            </a:r>
            <a:br>
              <a:rPr lang="en-AU" sz="1200" b="1"/>
            </a:br>
            <a:r>
              <a:rPr lang="en-AU" sz="1200"/>
              <a:t>Principal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75F69A-C123-3646-918D-C75BE563368D}"/>
              </a:ext>
            </a:extLst>
          </p:cNvPr>
          <p:cNvSpPr txBox="1"/>
          <p:nvPr/>
        </p:nvSpPr>
        <p:spPr>
          <a:xfrm>
            <a:off x="4244312" y="3702624"/>
            <a:ext cx="194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Mishan Dahia</a:t>
            </a:r>
            <a:br>
              <a:rPr lang="en-AU" sz="1200" b="1" dirty="0"/>
            </a:br>
            <a:r>
              <a:rPr lang="en-AU" sz="1200" dirty="0"/>
              <a:t>Research &amp; Investment Analyst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3C8B4E-D5CF-5A45-A2E7-609B716DAC26}"/>
              </a:ext>
            </a:extLst>
          </p:cNvPr>
          <p:cNvSpPr txBox="1"/>
          <p:nvPr/>
        </p:nvSpPr>
        <p:spPr>
          <a:xfrm>
            <a:off x="6243512" y="3685644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Nick Hatzis</a:t>
            </a:r>
            <a:br>
              <a:rPr lang="en-AU" sz="1200" b="1"/>
            </a:br>
            <a:r>
              <a:rPr lang="en-AU" sz="1200"/>
              <a:t>Investment Analyst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1667EA-C194-B69A-AB84-A1013D5A2513}"/>
              </a:ext>
            </a:extLst>
          </p:cNvPr>
          <p:cNvSpPr txBox="1"/>
          <p:nvPr/>
        </p:nvSpPr>
        <p:spPr>
          <a:xfrm>
            <a:off x="8153335" y="3685644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Ye Peng</a:t>
            </a:r>
            <a:br>
              <a:rPr lang="en-AU" sz="1200" b="1"/>
            </a:br>
            <a:r>
              <a:rPr lang="en-AU" sz="1200"/>
              <a:t>Developer &amp; Data Analyst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2A443B-83BA-7E60-9EFA-ABFFAE9CE608}"/>
              </a:ext>
            </a:extLst>
          </p:cNvPr>
          <p:cNvSpPr txBox="1"/>
          <p:nvPr/>
        </p:nvSpPr>
        <p:spPr>
          <a:xfrm>
            <a:off x="409871" y="6046882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Jamie Nemtsas</a:t>
            </a:r>
            <a:br>
              <a:rPr lang="en-AU" sz="1200" b="1"/>
            </a:br>
            <a:r>
              <a:rPr lang="en-AU" sz="1200"/>
              <a:t>Director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4ADCF4-E774-031B-1919-1A1BF76C84B9}"/>
              </a:ext>
            </a:extLst>
          </p:cNvPr>
          <p:cNvSpPr txBox="1"/>
          <p:nvPr/>
        </p:nvSpPr>
        <p:spPr>
          <a:xfrm>
            <a:off x="2342843" y="6046882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Drew Meredith</a:t>
            </a:r>
            <a:br>
              <a:rPr lang="en-AU" sz="1200" b="1"/>
            </a:br>
            <a:r>
              <a:rPr lang="en-AU" sz="1200"/>
              <a:t>Director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BE0F06-99AC-5ABE-7EA2-B6173E05C5C2}"/>
              </a:ext>
            </a:extLst>
          </p:cNvPr>
          <p:cNvSpPr txBox="1"/>
          <p:nvPr/>
        </p:nvSpPr>
        <p:spPr>
          <a:xfrm>
            <a:off x="4275815" y="6035308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Terry Toohey</a:t>
            </a:r>
            <a:br>
              <a:rPr lang="en-AU" sz="1200" b="1"/>
            </a:br>
            <a:r>
              <a:rPr lang="en-AU" sz="1200"/>
              <a:t>Senior Consultant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60AE37-5828-1FD5-90C6-08D67198C9DC}"/>
              </a:ext>
            </a:extLst>
          </p:cNvPr>
          <p:cNvSpPr txBox="1"/>
          <p:nvPr/>
        </p:nvSpPr>
        <p:spPr>
          <a:xfrm>
            <a:off x="6243511" y="6035308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Peter Williamson</a:t>
            </a:r>
            <a:br>
              <a:rPr lang="en-AU" sz="1200" b="1"/>
            </a:br>
            <a:r>
              <a:rPr lang="en-AU" sz="1200"/>
              <a:t>Principal (Perth)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9B3A8F-248F-1214-4388-13A6AF9B9AE7}"/>
              </a:ext>
            </a:extLst>
          </p:cNvPr>
          <p:cNvSpPr txBox="1"/>
          <p:nvPr/>
        </p:nvSpPr>
        <p:spPr>
          <a:xfrm>
            <a:off x="8153334" y="6035308"/>
            <a:ext cx="1940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/>
              <a:t>Rohan Shan</a:t>
            </a:r>
            <a:br>
              <a:rPr lang="en-AU" sz="1200" b="1"/>
            </a:br>
            <a:r>
              <a:rPr lang="en-AU" sz="1200"/>
              <a:t>Senior Consultant</a:t>
            </a:r>
          </a:p>
        </p:txBody>
      </p:sp>
    </p:spTree>
    <p:extLst>
      <p:ext uri="{BB962C8B-B14F-4D97-AF65-F5344CB8AC3E}">
        <p14:creationId xmlns:p14="http://schemas.microsoft.com/office/powerpoint/2010/main" val="306264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E11E-D753-7A67-8459-83A61C67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Planned Outcomes &amp; Priorities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11A64-AB00-211E-9F04-E551816B0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B7A0998-9CB4-5356-A0E0-A5588FE2A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326826"/>
              </p:ext>
            </p:extLst>
          </p:nvPr>
        </p:nvGraphicFramePr>
        <p:xfrm>
          <a:off x="427800" y="1203549"/>
          <a:ext cx="11183999" cy="4957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103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4EAC-6C02-1DA2-C302-313F6B8B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CIO Functions</a:t>
            </a:r>
            <a:br>
              <a:rPr lang="en-AU" dirty="0">
                <a:solidFill>
                  <a:schemeClr val="tx1"/>
                </a:solidFill>
              </a:rPr>
            </a:br>
            <a:br>
              <a:rPr lang="en-AU" dirty="0">
                <a:solidFill>
                  <a:schemeClr val="tx1"/>
                </a:solidFill>
              </a:rPr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9F6B6-5741-5E23-B756-2C0D99682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4069BE-E5B2-64A6-11C7-4B3EB035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376916"/>
            <a:ext cx="11184000" cy="4738749"/>
          </a:xfrm>
        </p:spPr>
        <p:txBody>
          <a:bodyPr>
            <a:normAutofit/>
          </a:bodyPr>
          <a:lstStyle/>
          <a:p>
            <a:r>
              <a:rPr lang="en-AU" sz="2000" dirty="0"/>
              <a:t>Participation in Investment Committee meetings </a:t>
            </a:r>
            <a:r>
              <a:rPr lang="en-US" sz="2000" dirty="0">
                <a:ln/>
              </a:rPr>
              <a:t>providing</a:t>
            </a:r>
            <a:r>
              <a:rPr lang="en-US" altLang="en-US" sz="2000" dirty="0">
                <a:ln/>
              </a:rPr>
              <a:t> timely market commentary and quarterly asset allocation reviews. </a:t>
            </a:r>
            <a:endParaRPr lang="en-AU" sz="2000" dirty="0"/>
          </a:p>
          <a:p>
            <a:r>
              <a:rPr lang="en-AU" sz="2000" dirty="0"/>
              <a:t>Conducting complete refresh of APL – including identifying gaps, recommending changes and constructing a process around manager due-diligence and research.</a:t>
            </a:r>
          </a:p>
          <a:p>
            <a:r>
              <a:rPr lang="en-AU" sz="2000" dirty="0"/>
              <a:t>Improved Governance Oversight </a:t>
            </a:r>
          </a:p>
          <a:p>
            <a:pPr lvl="1"/>
            <a:r>
              <a:rPr lang="en-AU" sz="2000" dirty="0"/>
              <a:t>Implement quarterly APL monitoring system and provide reports</a:t>
            </a:r>
          </a:p>
          <a:p>
            <a:pPr lvl="1"/>
            <a:r>
              <a:rPr lang="en-AU" sz="2000" dirty="0"/>
              <a:t>Portfolio risk management and reporting.</a:t>
            </a:r>
          </a:p>
          <a:p>
            <a:r>
              <a:rPr lang="en-AU" sz="2000" dirty="0"/>
              <a:t>Provide monthly market commentary and monthly key index </a:t>
            </a:r>
            <a:r>
              <a:rPr lang="en-AU" sz="2000"/>
              <a:t>performance </a:t>
            </a:r>
            <a:r>
              <a:rPr lang="en-AU" sz="2000" dirty="0"/>
              <a:t>files for distribution. </a:t>
            </a:r>
          </a:p>
          <a:p>
            <a:r>
              <a:rPr lang="en-AU" sz="2000" b="1" dirty="0"/>
              <a:t>Action Items:</a:t>
            </a:r>
            <a:endParaRPr lang="en-AU" sz="2000" dirty="0"/>
          </a:p>
          <a:p>
            <a:pPr lvl="1"/>
            <a:r>
              <a:rPr lang="en-AU" sz="2000" dirty="0"/>
              <a:t>APRA requirements for APL changes – what has been discussed and decided?</a:t>
            </a:r>
          </a:p>
          <a:p>
            <a:pPr lvl="1"/>
            <a:r>
              <a:rPr lang="en-AU" sz="2000" dirty="0"/>
              <a:t>Existing APL due-diligence – Any existing documentation?</a:t>
            </a:r>
          </a:p>
          <a:p>
            <a:pPr lvl="1"/>
            <a:r>
              <a:rPr lang="en-AU" sz="2000" dirty="0"/>
              <a:t>Do Key Invest have the in-house capabilities to on-board SMA’s?</a:t>
            </a:r>
          </a:p>
        </p:txBody>
      </p:sp>
    </p:spTree>
    <p:extLst>
      <p:ext uri="{BB962C8B-B14F-4D97-AF65-F5344CB8AC3E}">
        <p14:creationId xmlns:p14="http://schemas.microsoft.com/office/powerpoint/2010/main" val="366061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96F9-1B45-11FF-7F7C-FBCC224D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8851-4474-4A3A-FF79-BB0F7190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Direct Loan Portfolio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843FB-E774-2D45-79D9-486B2E1224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F396F1-8FC6-8B7F-2AD0-F1553026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376916"/>
            <a:ext cx="11184000" cy="4738749"/>
          </a:xfrm>
        </p:spPr>
        <p:txBody>
          <a:bodyPr>
            <a:normAutofit/>
          </a:bodyPr>
          <a:lstStyle/>
          <a:p>
            <a:r>
              <a:rPr lang="en-AU" sz="2000" dirty="0"/>
              <a:t>Provide weekly review of direct loan portfolio as well as direct loan opportunities</a:t>
            </a:r>
          </a:p>
          <a:p>
            <a:pPr lvl="1"/>
            <a:r>
              <a:rPr lang="en-AU" sz="2000" dirty="0"/>
              <a:t>Monitor risks within the portfolio </a:t>
            </a:r>
          </a:p>
          <a:p>
            <a:pPr lvl="1"/>
            <a:r>
              <a:rPr lang="en-AU" sz="2000" dirty="0"/>
              <a:t>Provide opinion on opportunities whilst considering requirements</a:t>
            </a:r>
          </a:p>
          <a:p>
            <a:r>
              <a:rPr lang="en-AU" sz="2000" dirty="0"/>
              <a:t>Build new and more efficient tracking system</a:t>
            </a:r>
          </a:p>
          <a:p>
            <a:pPr lvl="1"/>
            <a:r>
              <a:rPr lang="en-AU" sz="2000" dirty="0"/>
              <a:t>Move away from excel to a python-based model to allow for quicker tracking, communication and reporting </a:t>
            </a:r>
          </a:p>
          <a:p>
            <a:pPr lvl="1"/>
            <a:endParaRPr lang="en-AU" sz="2000" dirty="0"/>
          </a:p>
          <a:p>
            <a:r>
              <a:rPr lang="en-AU" sz="2000" b="1" dirty="0"/>
              <a:t>Action Items:</a:t>
            </a:r>
          </a:p>
          <a:p>
            <a:pPr lvl="1"/>
            <a:r>
              <a:rPr lang="en-AU" sz="2000" dirty="0"/>
              <a:t>Handover of existing loan due-diligence and details. </a:t>
            </a:r>
          </a:p>
          <a:p>
            <a:pPr lvl="2"/>
            <a:r>
              <a:rPr lang="en-AU" sz="2000" dirty="0"/>
              <a:t>Supporting documentation on all current loans within the portfolio.</a:t>
            </a:r>
          </a:p>
          <a:p>
            <a:pPr lvl="1"/>
            <a:r>
              <a:rPr lang="en-AU" sz="2000" dirty="0"/>
              <a:t>Handover of contacts and leads for direct loan opportunities.</a:t>
            </a:r>
          </a:p>
          <a:p>
            <a:pPr lvl="2"/>
            <a:r>
              <a:rPr lang="en-AU" sz="2000" dirty="0"/>
              <a:t>Need streamline of communication to us to review documents and opportunities weekly.</a:t>
            </a:r>
          </a:p>
        </p:txBody>
      </p:sp>
    </p:spTree>
    <p:extLst>
      <p:ext uri="{BB962C8B-B14F-4D97-AF65-F5344CB8AC3E}">
        <p14:creationId xmlns:p14="http://schemas.microsoft.com/office/powerpoint/2010/main" val="371873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4F94-E94E-EB5F-6751-EDF51684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9A76-1998-FB0B-B9A1-080325DA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KIMI Project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CCEEC-F8A5-95DB-87EE-2B451B945A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C30922-32DF-6F0A-CA79-2DE95B51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376916"/>
            <a:ext cx="11184000" cy="4738749"/>
          </a:xfrm>
        </p:spPr>
        <p:txBody>
          <a:bodyPr>
            <a:normAutofit lnSpcReduction="10000"/>
          </a:bodyPr>
          <a:lstStyle/>
          <a:p>
            <a:r>
              <a:rPr lang="en-AU" sz="2000" b="1" dirty="0"/>
              <a:t>Stage 1:</a:t>
            </a:r>
          </a:p>
          <a:p>
            <a:pPr lvl="1"/>
            <a:r>
              <a:rPr lang="en-AU" sz="2000" dirty="0"/>
              <a:t>Conduct detailed reviews of KIMI products.</a:t>
            </a:r>
          </a:p>
          <a:p>
            <a:pPr lvl="1"/>
            <a:r>
              <a:rPr lang="en-AU" sz="2000" dirty="0"/>
              <a:t>Provide comprehensive reporting around readiness and key risk factors.</a:t>
            </a:r>
          </a:p>
          <a:p>
            <a:r>
              <a:rPr lang="en-AU" sz="2000" b="1" dirty="0"/>
              <a:t>Stage 2:</a:t>
            </a:r>
          </a:p>
          <a:p>
            <a:pPr lvl="1"/>
            <a:r>
              <a:rPr lang="en-AU" sz="2000" dirty="0"/>
              <a:t>Management and oversight across the KIMI Product lifecycle. </a:t>
            </a:r>
          </a:p>
          <a:p>
            <a:pPr lvl="1"/>
            <a:r>
              <a:rPr lang="en-AU" sz="2000" dirty="0"/>
              <a:t>Coordination of product launches and strategic execution.</a:t>
            </a:r>
          </a:p>
          <a:p>
            <a:pPr lvl="1"/>
            <a:r>
              <a:rPr lang="en-AU" sz="2000" dirty="0"/>
              <a:t>Ongoing performance monitoring and governance.</a:t>
            </a:r>
          </a:p>
          <a:p>
            <a:pPr lvl="1"/>
            <a:r>
              <a:rPr lang="en-AU" sz="2000" dirty="0"/>
              <a:t>Collaborate with marketing and sales to effectively position and distribute products.</a:t>
            </a:r>
          </a:p>
          <a:p>
            <a:r>
              <a:rPr lang="en-AU" sz="2000" b="1" dirty="0"/>
              <a:t>Stage 3:</a:t>
            </a:r>
          </a:p>
          <a:p>
            <a:pPr lvl="1"/>
            <a:r>
              <a:rPr lang="en-AU" sz="2000" dirty="0"/>
              <a:t>Ongoing investment product and management functions of each product developed under stage 2.</a:t>
            </a:r>
          </a:p>
          <a:p>
            <a:r>
              <a:rPr lang="en-AU" sz="2000" b="1" dirty="0"/>
              <a:t>What do we need?</a:t>
            </a:r>
          </a:p>
          <a:p>
            <a:pPr lvl="1"/>
            <a:r>
              <a:rPr lang="en-AU" sz="2000" dirty="0"/>
              <a:t>Had the existing team met with anyone and is there any key details to handover?</a:t>
            </a:r>
          </a:p>
        </p:txBody>
      </p:sp>
    </p:spTree>
    <p:extLst>
      <p:ext uri="{BB962C8B-B14F-4D97-AF65-F5344CB8AC3E}">
        <p14:creationId xmlns:p14="http://schemas.microsoft.com/office/powerpoint/2010/main" val="110724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87FA-C32B-DD1B-BFE9-95B41B65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75E9-13ED-B335-A8C3-63F138E3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 </a:t>
            </a:r>
            <a:endParaRPr lang="en-AU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0F730-79D3-9588-F02F-143B99D5F4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961D14-D122-86FA-DD41-F21277589128}"/>
              </a:ext>
            </a:extLst>
          </p:cNvPr>
          <p:cNvSpPr txBox="1">
            <a:spLocks/>
          </p:cNvSpPr>
          <p:nvPr/>
        </p:nvSpPr>
        <p:spPr>
          <a:xfrm>
            <a:off x="1032455" y="3891728"/>
            <a:ext cx="11618817" cy="558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2800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C609EE4-3D01-8033-C5B8-7742A023DF7D}"/>
              </a:ext>
            </a:extLst>
          </p:cNvPr>
          <p:cNvSpPr txBox="1">
            <a:spLocks/>
          </p:cNvSpPr>
          <p:nvPr/>
        </p:nvSpPr>
        <p:spPr>
          <a:xfrm>
            <a:off x="504000" y="3222097"/>
            <a:ext cx="9823217" cy="303530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>
              <a:solidFill>
                <a:schemeClr val="accent2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SMA White Paper for Advisers</a:t>
            </a:r>
            <a:endParaRPr lang="en-US" dirty="0">
              <a:solidFill>
                <a:schemeClr val="accent2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C0C5CE7-D737-96EF-CCEF-3FC5C66D22CE}"/>
              </a:ext>
            </a:extLst>
          </p:cNvPr>
          <p:cNvSpPr txBox="1">
            <a:spLocks/>
          </p:cNvSpPr>
          <p:nvPr/>
        </p:nvSpPr>
        <p:spPr>
          <a:xfrm>
            <a:off x="16389132" y="-47422"/>
            <a:ext cx="1968641" cy="5218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</a:rPr>
              <a:t>Approved Product List</a:t>
            </a:r>
            <a:endParaRPr lang="en-AU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895DAE3-6B7B-1BC0-D95D-A79AB8D47022}"/>
              </a:ext>
            </a:extLst>
          </p:cNvPr>
          <p:cNvSpPr txBox="1">
            <a:spLocks/>
          </p:cNvSpPr>
          <p:nvPr/>
        </p:nvSpPr>
        <p:spPr>
          <a:xfrm>
            <a:off x="16378995" y="1898665"/>
            <a:ext cx="2234754" cy="5218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</a:rPr>
              <a:t>High Net Worth Alts</a:t>
            </a:r>
          </a:p>
          <a:p>
            <a:pPr>
              <a:spcBef>
                <a:spcPts val="400"/>
              </a:spcBef>
            </a:pPr>
            <a:endParaRPr lang="en-AU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649376-100B-74FA-6DE9-CE7354AF8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610" y="474407"/>
            <a:ext cx="5366272" cy="60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8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F256-EF4B-272D-0745-2E13E479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A209F2-0480-F8AB-6000-2424C8F69B98}"/>
              </a:ext>
            </a:extLst>
          </p:cNvPr>
          <p:cNvSpPr txBox="1"/>
          <p:nvPr/>
        </p:nvSpPr>
        <p:spPr>
          <a:xfrm>
            <a:off x="628071" y="605042"/>
            <a:ext cx="8580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chemeClr val="bg1"/>
                </a:solidFill>
              </a:rPr>
              <a:t>Framework &amp; Product Offerings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3827918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3F88-A982-5E67-8031-0D9C6137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5F799-5826-3CE9-02F2-D2A21F164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38B46B2-8012-E89B-DBF2-8A735D08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0500" y="176081"/>
            <a:ext cx="11946700" cy="672001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AA34ED2-E57E-A07A-0E76-741278DE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 dirty="0"/>
              <a:t>Investment Framework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992406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1E34-FBA9-A059-CD63-E2387C1E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BA6B5-7034-7925-D4E5-42BCB6261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7" name="Picture 16" descr="A chart of different types of stocks&#10;&#10;AI-generated content may be incorrect.">
            <a:extLst>
              <a:ext uri="{FF2B5EF4-FFF2-40B4-BE49-F238E27FC236}">
                <a16:creationId xmlns:a16="http://schemas.microsoft.com/office/drawing/2014/main" id="{6D65B2F4-7292-9ECD-57C6-C33345B7C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12" r="50280"/>
          <a:stretch>
            <a:fillRect/>
          </a:stretch>
        </p:blipFill>
        <p:spPr>
          <a:xfrm>
            <a:off x="5380800" y="269847"/>
            <a:ext cx="5274500" cy="649925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7F83EC6-E71C-7C39-97B0-119348D4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4982400" cy="1318155"/>
          </a:xfrm>
        </p:spPr>
        <p:txBody>
          <a:bodyPr/>
          <a:lstStyle/>
          <a:p>
            <a:r>
              <a:rPr lang="en-US" b="1" dirty="0"/>
              <a:t>Active &amp; Dynamic </a:t>
            </a:r>
            <a:br>
              <a:rPr lang="en-US" b="1" dirty="0"/>
            </a:br>
            <a:r>
              <a:rPr lang="en-US" b="1" dirty="0"/>
              <a:t>ETF SMAs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620832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C59D-1544-1223-1147-4057F9EE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30FF9-6BC1-BFCF-62EC-36AA6C7FBE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A239CD8-7E57-BA3A-27FB-4EFBBFBB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4982400" cy="1318155"/>
          </a:xfrm>
        </p:spPr>
        <p:txBody>
          <a:bodyPr/>
          <a:lstStyle/>
          <a:p>
            <a:r>
              <a:rPr lang="en-US" b="1" dirty="0"/>
              <a:t>Individual Asset Class Sleeves</a:t>
            </a:r>
            <a:endParaRPr lang="en-AU" b="1" dirty="0"/>
          </a:p>
        </p:txBody>
      </p:sp>
      <p:pic>
        <p:nvPicPr>
          <p:cNvPr id="3" name="Picture 2" descr="A chart of different types of stocks&#10;&#10;AI-generated content may be incorrect.">
            <a:extLst>
              <a:ext uri="{FF2B5EF4-FFF2-40B4-BE49-F238E27FC236}">
                <a16:creationId xmlns:a16="http://schemas.microsoft.com/office/drawing/2014/main" id="{A9B9215E-51D5-B156-6EDF-A8E4C5A5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80" t="13312"/>
          <a:stretch>
            <a:fillRect/>
          </a:stretch>
        </p:blipFill>
        <p:spPr>
          <a:xfrm>
            <a:off x="5427249" y="269847"/>
            <a:ext cx="5274501" cy="649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48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3463-1B24-20C6-CA51-CF70D7B3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98C1D4-2206-F99A-DF7C-1457F3BE324A}"/>
              </a:ext>
            </a:extLst>
          </p:cNvPr>
          <p:cNvSpPr txBox="1"/>
          <p:nvPr/>
        </p:nvSpPr>
        <p:spPr>
          <a:xfrm>
            <a:off x="628071" y="605042"/>
            <a:ext cx="8580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chemeClr val="bg1"/>
                </a:solidFill>
              </a:rPr>
              <a:t>Philosophy &amp; Process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373627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76BF1C6-A8A0-49D6-C0F1-10586265211C}"/>
              </a:ext>
            </a:extLst>
          </p:cNvPr>
          <p:cNvSpPr txBox="1">
            <a:spLocks/>
          </p:cNvSpPr>
          <p:nvPr/>
        </p:nvSpPr>
        <p:spPr>
          <a:xfrm>
            <a:off x="335127" y="1370477"/>
            <a:ext cx="11521746" cy="47635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lvl="0" indent="-274638">
              <a:buFont typeface="+mj-lt"/>
              <a:buAutoNum type="arabicPeriod"/>
            </a:pPr>
            <a:r>
              <a:rPr lang="en-US" b="1" dirty="0"/>
              <a:t>Start and end with risk</a:t>
            </a:r>
            <a:r>
              <a:rPr lang="en-AU" b="1" dirty="0">
                <a:cs typeface="Arial"/>
              </a:rPr>
              <a:t>: </a:t>
            </a:r>
            <a:r>
              <a:rPr lang="en-US" dirty="0"/>
              <a:t>Focus on compensated risk only; avoid hidden or style-based risks that don’t add value. </a:t>
            </a:r>
            <a:endParaRPr lang="en-AU" dirty="0">
              <a:cs typeface="Arial"/>
            </a:endParaRPr>
          </a:p>
          <a:p>
            <a:pPr marL="358775" lvl="0" indent="-274638">
              <a:buFont typeface="+mj-lt"/>
              <a:buAutoNum type="arabicPeriod"/>
            </a:pPr>
            <a:r>
              <a:rPr lang="en-US" b="1" dirty="0"/>
              <a:t>Asset allocation is the key return driver: </a:t>
            </a:r>
            <a:r>
              <a:rPr lang="en-US" dirty="0"/>
              <a:t>Strategic and dynamic allocation decisions drive ~90% of long-term performance.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US" b="1" dirty="0"/>
              <a:t>Active management has a role: </a:t>
            </a:r>
            <a:r>
              <a:rPr lang="en-US" dirty="0"/>
              <a:t>Select true active managers (with high active share) who can improve returns and </a:t>
            </a:r>
            <a:br>
              <a:rPr lang="en-US" dirty="0"/>
            </a:br>
            <a:r>
              <a:rPr lang="en-US" dirty="0"/>
              <a:t>reduce volatility.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AU" b="1" dirty="0"/>
              <a:t>Automated rebalancing matters: </a:t>
            </a:r>
            <a:r>
              <a:rPr lang="en-US" dirty="0"/>
              <a:t>Rebalancing should be systematic and rules-based to enforce discipline (buy low, sell high) and </a:t>
            </a:r>
            <a:r>
              <a:rPr lang="en-US" dirty="0" err="1"/>
              <a:t>minimise</a:t>
            </a:r>
            <a:r>
              <a:rPr lang="en-US" dirty="0"/>
              <a:t> </a:t>
            </a:r>
            <a:r>
              <a:rPr lang="en-US" dirty="0" err="1"/>
              <a:t>behavioural</a:t>
            </a:r>
            <a:r>
              <a:rPr lang="en-US" dirty="0"/>
              <a:t> risk.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AU" b="1" dirty="0"/>
              <a:t>Liquidity adds value: </a:t>
            </a:r>
            <a:r>
              <a:rPr lang="en-US" dirty="0"/>
              <a:t>Liquidity enables rebalancing, adaptability, and resilience — especially in higher rate environments.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AU" b="1" dirty="0"/>
              <a:t>Trust in mean reversion: </a:t>
            </a:r>
            <a:r>
              <a:rPr lang="en-US" dirty="0"/>
              <a:t>Markets revert to long-term trends over time — portfolios should not overreact to short-term themes or extrapolated narratives.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US" b="1" dirty="0"/>
              <a:t>Costs and turnover matter: </a:t>
            </a:r>
            <a:r>
              <a:rPr lang="en-US" dirty="0"/>
              <a:t>Long-term returns are impacted by excessive trading, fees, and tax drag — avoid unnecessary churn.</a:t>
            </a:r>
          </a:p>
          <a:p>
            <a:pPr marL="358775" lvl="0" indent="-274638">
              <a:buFont typeface="+mj-lt"/>
              <a:buAutoNum type="arabicPeriod"/>
            </a:pPr>
            <a:r>
              <a:rPr lang="en-US" b="1" dirty="0"/>
              <a:t>Always have an exit strategy: </a:t>
            </a:r>
            <a:r>
              <a:rPr lang="en-US" dirty="0"/>
              <a:t>Every investment decision must have a clear exit framework — avoid emotion-driven decisions.</a:t>
            </a:r>
          </a:p>
          <a:p>
            <a:pPr marL="358775" lvl="0" indent="-274638">
              <a:buFont typeface="+mj-lt"/>
              <a:buAutoNum type="arabicPeriod"/>
            </a:pPr>
            <a:endParaRPr lang="en-US" b="1" dirty="0"/>
          </a:p>
          <a:p>
            <a:pPr marL="358775" lvl="0" indent="-274638">
              <a:buFont typeface="+mj-lt"/>
              <a:buAutoNum type="arabicPeriod"/>
            </a:pPr>
            <a:endParaRPr lang="en-US" b="1" dirty="0"/>
          </a:p>
          <a:p>
            <a:pPr marL="358775" lvl="0" indent="-274638">
              <a:buFont typeface="+mj-lt"/>
              <a:buAutoNum type="arabicPeriod"/>
            </a:pPr>
            <a:endParaRPr lang="en-US" b="1" dirty="0"/>
          </a:p>
          <a:p>
            <a:pPr marL="358775" lvl="0" indent="-274638">
              <a:buFont typeface="+mj-lt"/>
              <a:buAutoNum type="arabicPeriod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2D5DDA3-165C-AAB9-A57A-E26CDC18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66477"/>
          </a:xfrm>
        </p:spPr>
        <p:txBody>
          <a:bodyPr/>
          <a:lstStyle/>
          <a:p>
            <a:r>
              <a:rPr lang="en-US" b="1"/>
              <a:t>Atchison’s Guiding Lights</a:t>
            </a:r>
            <a:endParaRPr lang="en-AU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01861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8A5DC9-4C21-8364-A38C-93011287CCE0}"/>
              </a:ext>
            </a:extLst>
          </p:cNvPr>
          <p:cNvSpPr/>
          <p:nvPr/>
        </p:nvSpPr>
        <p:spPr>
          <a:xfrm>
            <a:off x="504000" y="1363634"/>
            <a:ext cx="6306111" cy="4795119"/>
          </a:xfrm>
          <a:prstGeom prst="roundRect">
            <a:avLst>
              <a:gd name="adj" fmla="val 16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77FDE35-2EB4-9CFA-A8BF-D7894D6C0BF8}"/>
              </a:ext>
            </a:extLst>
          </p:cNvPr>
          <p:cNvSpPr txBox="1">
            <a:spLocks/>
          </p:cNvSpPr>
          <p:nvPr/>
        </p:nvSpPr>
        <p:spPr>
          <a:xfrm>
            <a:off x="7115999" y="1369115"/>
            <a:ext cx="4572001" cy="48895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Short and long-term views of the market through SAA and TAA. </a:t>
            </a:r>
            <a:endParaRPr lang="en-US"/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Set Return, Vol/Risk and Horizon targets.</a:t>
            </a:r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In-house python models testing thousands of different portfolio scenarios and outcomes.</a:t>
            </a:r>
          </a:p>
          <a:p>
            <a:pPr marL="426720" lvl="0" indent="-342900">
              <a:buFont typeface="+mj-lt"/>
              <a:buAutoNum type="arabicPeriod"/>
            </a:pPr>
            <a:r>
              <a:rPr lang="en-US"/>
              <a:t>Select specialist managers or ETFs for each asset class.</a:t>
            </a:r>
            <a:endParaRPr lang="en-AU">
              <a:solidFill>
                <a:schemeClr val="tx1"/>
              </a:solidFill>
              <a:cs typeface="Arial"/>
            </a:endParaRPr>
          </a:p>
          <a:p>
            <a:pPr marL="426720" lvl="0" indent="-342900">
              <a:buFont typeface="+mj-lt"/>
              <a:buAutoNum type="arabicPeriod"/>
            </a:pPr>
            <a:r>
              <a:rPr lang="en-US"/>
              <a:t>Each asset is measured and combined using our stress testing framework, assessing risk/return and correlation metrics. </a:t>
            </a:r>
            <a:endParaRPr lang="en-US">
              <a:cs typeface="Arial" panose="020B0604020202020204"/>
            </a:endParaRPr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Final positions are overlayed to best meet whole of portfolio top-down and bottom-up constraints.</a:t>
            </a:r>
          </a:p>
          <a:p>
            <a:pPr marL="426720" indent="-342900">
              <a:buFont typeface="+mj-lt"/>
              <a:buAutoNum type="arabicPeriod"/>
            </a:pPr>
            <a:r>
              <a:rPr lang="en-US"/>
              <a:t>We track performance daily and alert you of any important changes.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 sz="100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>
              <a:cs typeface="Arial"/>
            </a:endParaRPr>
          </a:p>
          <a:p>
            <a:endParaRPr lang="en-US" sz="11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958930-77CF-2E61-C89D-89F39247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59633"/>
          </a:xfrm>
        </p:spPr>
        <p:txBody>
          <a:bodyPr/>
          <a:lstStyle/>
          <a:p>
            <a:r>
              <a:rPr lang="en-US" b="1"/>
              <a:t>Atchison’s Investment Process</a:t>
            </a:r>
            <a:endParaRPr lang="en-AU" b="1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7C57241-22BD-B9A2-07A3-085C3F2889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477690"/>
              </p:ext>
            </p:extLst>
          </p:nvPr>
        </p:nvGraphicFramePr>
        <p:xfrm>
          <a:off x="554014" y="1580815"/>
          <a:ext cx="6098506" cy="4360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833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8A5DC9-4C21-8364-A38C-93011287CCE0}"/>
              </a:ext>
            </a:extLst>
          </p:cNvPr>
          <p:cNvSpPr/>
          <p:nvPr/>
        </p:nvSpPr>
        <p:spPr>
          <a:xfrm>
            <a:off x="504000" y="1363634"/>
            <a:ext cx="6306111" cy="4795119"/>
          </a:xfrm>
          <a:prstGeom prst="roundRect">
            <a:avLst>
              <a:gd name="adj" fmla="val 16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77FDE35-2EB4-9CFA-A8BF-D7894D6C0BF8}"/>
              </a:ext>
            </a:extLst>
          </p:cNvPr>
          <p:cNvSpPr txBox="1">
            <a:spLocks/>
          </p:cNvSpPr>
          <p:nvPr/>
        </p:nvSpPr>
        <p:spPr>
          <a:xfrm>
            <a:off x="7115999" y="1369115"/>
            <a:ext cx="4572001" cy="48895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7037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Market Outlook </a:t>
            </a:r>
          </a:p>
          <a:p>
            <a:pPr marL="427037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Portfolio Objectives</a:t>
            </a:r>
          </a:p>
          <a:p>
            <a:pPr marL="427037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Stress Test and Optimise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 sz="100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>
              <a:cs typeface="Arial"/>
            </a:endParaRPr>
          </a:p>
          <a:p>
            <a:endParaRPr lang="en-US" sz="11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958930-77CF-2E61-C89D-89F39247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59633"/>
          </a:xfrm>
        </p:spPr>
        <p:txBody>
          <a:bodyPr/>
          <a:lstStyle/>
          <a:p>
            <a:r>
              <a:rPr lang="en-US" b="1"/>
              <a:t>Atchison SMA: Top-Down Design</a:t>
            </a:r>
            <a:endParaRPr lang="en-AU" b="1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553230-B915-BB6E-2352-624D5BE4E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355249"/>
              </p:ext>
            </p:extLst>
          </p:nvPr>
        </p:nvGraphicFramePr>
        <p:xfrm>
          <a:off x="630962" y="1632294"/>
          <a:ext cx="6052185" cy="436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5744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B9DD-B339-0E2A-1078-37367BC2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5AB2-1FED-A96E-8953-9C73D89EC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463C59-95BF-11B2-9D81-DDC013B5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038493" cy="1790021"/>
          </a:xfrm>
        </p:spPr>
        <p:txBody>
          <a:bodyPr/>
          <a:lstStyle/>
          <a:p>
            <a:r>
              <a:rPr lang="en-US" b="1"/>
              <a:t>Top-Down: Long Term Forecasts</a:t>
            </a:r>
            <a:endParaRPr lang="en-AU" b="1"/>
          </a:p>
        </p:txBody>
      </p:sp>
      <p:pic>
        <p:nvPicPr>
          <p:cNvPr id="10" name="Picture 9" descr="Graphical user interface, chart, scatter chart&#10;&#10;Description automatically generated">
            <a:extLst>
              <a:ext uri="{FF2B5EF4-FFF2-40B4-BE49-F238E27FC236}">
                <a16:creationId xmlns:a16="http://schemas.microsoft.com/office/drawing/2014/main" id="{C3F09689-F150-20CA-7318-379654D28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87" y="1369115"/>
            <a:ext cx="3466836" cy="2565251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C603F-506B-FF0D-BAA1-4CB5F9F130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65" t="15993" r="66941" b="9768"/>
          <a:stretch/>
        </p:blipFill>
        <p:spPr>
          <a:xfrm>
            <a:off x="8155377" y="1369115"/>
            <a:ext cx="3443001" cy="257040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2" name="Picture 11" descr="Graphical user interface, chart, scatter chart&#10;&#10;Description automatically generated">
            <a:extLst>
              <a:ext uri="{FF2B5EF4-FFF2-40B4-BE49-F238E27FC236}">
                <a16:creationId xmlns:a16="http://schemas.microsoft.com/office/drawing/2014/main" id="{3C07C2A9-C63B-F290-EBD6-30AAFD3EA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731" y="1369115"/>
            <a:ext cx="3750217" cy="257040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125B85-8399-1D3B-6155-0A182D649C31}"/>
              </a:ext>
            </a:extLst>
          </p:cNvPr>
          <p:cNvSpPr txBox="1"/>
          <p:nvPr/>
        </p:nvSpPr>
        <p:spPr>
          <a:xfrm>
            <a:off x="504000" y="4981686"/>
            <a:ext cx="83992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Capital Market Assumption Process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2025 Capital Market Forecasts</a:t>
            </a:r>
            <a:endParaRPr lang="en-AU" dirty="0">
              <a:solidFill>
                <a:schemeClr val="accent2"/>
              </a:solidFill>
            </a:endParaRP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648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B9DD-B339-0E2A-1078-37367BC2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5AB2-1FED-A96E-8953-9C73D89EC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463C59-95BF-11B2-9D81-DDC013B5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895743" cy="1790021"/>
          </a:xfrm>
        </p:spPr>
        <p:txBody>
          <a:bodyPr/>
          <a:lstStyle/>
          <a:p>
            <a:r>
              <a:rPr lang="en-US" b="1" dirty="0"/>
              <a:t>Top-Down: Objectives, Portfolio Optimisation &amp; Stress Testing</a:t>
            </a:r>
            <a:endParaRPr lang="en-AU" b="1" dirty="0"/>
          </a:p>
        </p:txBody>
      </p:sp>
      <p:pic>
        <p:nvPicPr>
          <p:cNvPr id="5" name="Picture 4" descr="Chart, table, Excel&#10;&#10;Description automatically generated">
            <a:extLst>
              <a:ext uri="{FF2B5EF4-FFF2-40B4-BE49-F238E27FC236}">
                <a16:creationId xmlns:a16="http://schemas.microsoft.com/office/drawing/2014/main" id="{93026BFA-567F-980B-48BE-4A295FC5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71" y="1701348"/>
            <a:ext cx="5452876" cy="380378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9A56CF6-37CB-5734-6BF2-EA68E9CD5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701348"/>
            <a:ext cx="5262997" cy="3812749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7873B03-4B2F-786C-4F14-FCE6909BA18C}"/>
              </a:ext>
            </a:extLst>
          </p:cNvPr>
          <p:cNvSpPr txBox="1">
            <a:spLocks/>
          </p:cNvSpPr>
          <p:nvPr/>
        </p:nvSpPr>
        <p:spPr>
          <a:xfrm>
            <a:off x="503999" y="5908026"/>
            <a:ext cx="6189031" cy="3493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Portfolio SAA Optimisation &amp; Stress Testing</a:t>
            </a:r>
            <a:endParaRPr lang="en-AU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1000" dirty="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 dirty="0">
              <a:cs typeface="Arial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7404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B9DD-B339-0E2A-1078-37367BC2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5AB2-1FED-A96E-8953-9C73D89EC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C01182-D7E0-F2D7-C2A1-5EA299BC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59633"/>
          </a:xfrm>
        </p:spPr>
        <p:txBody>
          <a:bodyPr/>
          <a:lstStyle/>
          <a:p>
            <a:r>
              <a:rPr lang="en-US" b="1"/>
              <a:t>Top-Down: Tactical Asset Allocation (TAA)</a:t>
            </a:r>
            <a:endParaRPr lang="en-AU" b="1">
              <a:cs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32F7F6-4934-EF17-9453-7442809231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9" t="16389" r="61172" b="11944"/>
          <a:stretch/>
        </p:blipFill>
        <p:spPr>
          <a:xfrm>
            <a:off x="409733" y="1363633"/>
            <a:ext cx="5614136" cy="3219337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E5A435-8935-A6E3-99AD-4AF43D0F044B}"/>
              </a:ext>
            </a:extLst>
          </p:cNvPr>
          <p:cNvSpPr txBox="1"/>
          <p:nvPr/>
        </p:nvSpPr>
        <p:spPr>
          <a:xfrm>
            <a:off x="504000" y="5222450"/>
            <a:ext cx="8512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Country Economic Regime Analysis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To: Tactical Asset Allocation Outlook</a:t>
            </a:r>
            <a:endParaRPr lang="en-AU" dirty="0">
              <a:solidFill>
                <a:schemeClr val="accent2"/>
              </a:solidFill>
            </a:endParaRP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B9E29-13F8-BCBB-A027-89E6D391E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136" y="1363632"/>
            <a:ext cx="5519868" cy="374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54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8A5DC9-4C21-8364-A38C-93011287CCE0}"/>
              </a:ext>
            </a:extLst>
          </p:cNvPr>
          <p:cNvSpPr/>
          <p:nvPr/>
        </p:nvSpPr>
        <p:spPr>
          <a:xfrm>
            <a:off x="504000" y="1363634"/>
            <a:ext cx="6306111" cy="4795119"/>
          </a:xfrm>
          <a:prstGeom prst="roundRect">
            <a:avLst>
              <a:gd name="adj" fmla="val 16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77FDE35-2EB4-9CFA-A8BF-D7894D6C0BF8}"/>
              </a:ext>
            </a:extLst>
          </p:cNvPr>
          <p:cNvSpPr txBox="1">
            <a:spLocks/>
          </p:cNvSpPr>
          <p:nvPr/>
        </p:nvSpPr>
        <p:spPr>
          <a:xfrm>
            <a:off x="7115999" y="1369115"/>
            <a:ext cx="4572001" cy="48895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820" lvl="0" indent="0">
              <a:buNone/>
            </a:pPr>
            <a:r>
              <a:rPr lang="en-AU" b="1">
                <a:solidFill>
                  <a:schemeClr val="tx1"/>
                </a:solidFill>
                <a:cs typeface="Arial"/>
              </a:rPr>
              <a:t>Bottom-Up Risk Framework:</a:t>
            </a:r>
            <a:endParaRPr lang="en-US">
              <a:solidFill>
                <a:schemeClr val="tx1"/>
              </a:solidFill>
            </a:endParaRPr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Once top-down Betas are allocated across preferred ETFs / Managers, retest objectives and risk metrics build back up from component assets.</a:t>
            </a:r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The purpose is to identify if in the allocation of beta bias and manager selection – a level of unintended basis risk / tracking error has built back into the portfolio outcome.</a:t>
            </a:r>
          </a:p>
          <a:p>
            <a:pPr marL="426720" lvl="0" indent="-342900">
              <a:buFont typeface="+mj-lt"/>
              <a:buAutoNum type="arabicPeriod"/>
            </a:pPr>
            <a:r>
              <a:rPr lang="en-AU">
                <a:solidFill>
                  <a:schemeClr val="tx1"/>
                </a:solidFill>
                <a:cs typeface="Arial"/>
              </a:rPr>
              <a:t>A sense check that the portfolio constructed by applying Steps 3 and 4; still sees an outcome that meets the requirements set in Step 2.</a:t>
            </a:r>
          </a:p>
          <a:p>
            <a:pPr marL="426720" lvl="0" indent="-342900">
              <a:buFont typeface="+mj-lt"/>
              <a:buAutoNum type="arabicPeriod"/>
            </a:pPr>
            <a:endParaRPr lang="en-AU">
              <a:solidFill>
                <a:schemeClr val="tx1"/>
              </a:solidFill>
              <a:cs typeface="Arial"/>
            </a:endParaRPr>
          </a:p>
          <a:p>
            <a:pPr marL="0" indent="0">
              <a:buNone/>
            </a:pPr>
            <a:endParaRPr lang="en-US" sz="100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>
              <a:cs typeface="Arial"/>
            </a:endParaRPr>
          </a:p>
          <a:p>
            <a:endParaRPr lang="en-US" sz="11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958930-77CF-2E61-C89D-89F39247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59633"/>
          </a:xfrm>
        </p:spPr>
        <p:txBody>
          <a:bodyPr/>
          <a:lstStyle/>
          <a:p>
            <a:r>
              <a:rPr lang="en-US" b="1"/>
              <a:t>Atchison SMA: Bottom-Up Design</a:t>
            </a:r>
            <a:endParaRPr lang="en-AU" b="1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F3FD03-1D48-949B-2301-9E1EDAA4A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899832"/>
              </p:ext>
            </p:extLst>
          </p:nvPr>
        </p:nvGraphicFramePr>
        <p:xfrm>
          <a:off x="504000" y="1580853"/>
          <a:ext cx="6098400" cy="4360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230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80C6-19BD-3A17-4976-924D1DCF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15C47-9744-2438-896A-AF7058118C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C7FC04-6A44-2E4A-751C-FAC71A4EA486}"/>
              </a:ext>
            </a:extLst>
          </p:cNvPr>
          <p:cNvSpPr txBox="1">
            <a:spLocks/>
          </p:cNvSpPr>
          <p:nvPr/>
        </p:nvSpPr>
        <p:spPr>
          <a:xfrm>
            <a:off x="504000" y="504000"/>
            <a:ext cx="10038493" cy="17900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rgbClr val="3D5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Style / Factor Analytics Engine</a:t>
            </a:r>
            <a:endParaRPr lang="en-AU" b="1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540D4919-D7F3-D2F0-AE5B-89071D2EF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020907"/>
            <a:ext cx="5313853" cy="3750141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E59F6CEE-108B-FA2B-8752-5105772C3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104" y="2020907"/>
            <a:ext cx="5313854" cy="3794278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39386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8A5DC9-4C21-8364-A38C-93011287CCE0}"/>
              </a:ext>
            </a:extLst>
          </p:cNvPr>
          <p:cNvSpPr/>
          <p:nvPr/>
        </p:nvSpPr>
        <p:spPr>
          <a:xfrm>
            <a:off x="504000" y="1363634"/>
            <a:ext cx="6306111" cy="4795119"/>
          </a:xfrm>
          <a:prstGeom prst="roundRect">
            <a:avLst>
              <a:gd name="adj" fmla="val 16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77FDE35-2EB4-9CFA-A8BF-D7894D6C0BF8}"/>
              </a:ext>
            </a:extLst>
          </p:cNvPr>
          <p:cNvSpPr txBox="1">
            <a:spLocks/>
          </p:cNvSpPr>
          <p:nvPr/>
        </p:nvSpPr>
        <p:spPr>
          <a:xfrm>
            <a:off x="7115999" y="1463555"/>
            <a:ext cx="4572001" cy="4795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rgbClr val="3D555E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9570" indent="-285750"/>
            <a:r>
              <a:rPr lang="en-AU" dirty="0">
                <a:cs typeface="Arial"/>
              </a:rPr>
              <a:t>Where 5 and 2 conflict, refine via iteration or overlay beta/factor hedges.</a:t>
            </a:r>
          </a:p>
          <a:p>
            <a:pPr marL="369570" indent="-285750"/>
            <a:r>
              <a:rPr lang="en-AU" dirty="0">
                <a:cs typeface="Arial"/>
              </a:rPr>
              <a:t>Utilise our APL monitoring program as the core for ongoing monitoring:</a:t>
            </a:r>
          </a:p>
          <a:p>
            <a:pPr marL="826770" lvl="1" indent="-285750"/>
            <a:r>
              <a:rPr lang="en-AU" dirty="0">
                <a:cs typeface="Arial"/>
              </a:rPr>
              <a:t>Risk-adjusted returns</a:t>
            </a:r>
          </a:p>
          <a:p>
            <a:pPr marL="826770" lvl="1" indent="-285750"/>
            <a:r>
              <a:rPr lang="en-AU" dirty="0">
                <a:cs typeface="Arial"/>
              </a:rPr>
              <a:t>Factor regression model</a:t>
            </a:r>
          </a:p>
          <a:p>
            <a:pPr marL="426720" lvl="0" indent="-342900">
              <a:buFont typeface="+mj-lt"/>
              <a:buAutoNum type="arabicPeriod"/>
            </a:pPr>
            <a:endParaRPr lang="en-AU" dirty="0">
              <a:solidFill>
                <a:schemeClr val="tx1"/>
              </a:solidFill>
              <a:cs typeface="Arial"/>
            </a:endParaRPr>
          </a:p>
          <a:p>
            <a:pPr marL="0" indent="0">
              <a:buNone/>
            </a:pPr>
            <a:endParaRPr lang="en-US" sz="1000" dirty="0">
              <a:cs typeface="Arial"/>
            </a:endParaRPr>
          </a:p>
          <a:p>
            <a:pPr>
              <a:buFont typeface="Arial" panose="020B0604020202020204" pitchFamily="34" charset="0"/>
              <a:buChar char="●"/>
            </a:pPr>
            <a:endParaRPr lang="en-US" sz="1000" dirty="0">
              <a:cs typeface="Arial"/>
            </a:endParaRPr>
          </a:p>
          <a:p>
            <a:endParaRPr lang="en-US" sz="11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958930-77CF-2E61-C89D-89F39247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59633"/>
          </a:xfrm>
        </p:spPr>
        <p:txBody>
          <a:bodyPr/>
          <a:lstStyle/>
          <a:p>
            <a:r>
              <a:rPr lang="en-US" b="1"/>
              <a:t>Atchison SMA: Portfolio Construction</a:t>
            </a:r>
            <a:endParaRPr lang="en-AU" b="1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F3FD03-1D48-949B-2301-9E1EDAA4A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371222"/>
              </p:ext>
            </p:extLst>
          </p:nvPr>
        </p:nvGraphicFramePr>
        <p:xfrm>
          <a:off x="504000" y="1580853"/>
          <a:ext cx="6098400" cy="4360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35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FE27-F25B-5F41-8D66-F4C7653ED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30BDC80A-174E-C647-7D08-425987A8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553929"/>
            <a:ext cx="5281757" cy="3750141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2A8D86FE-70D4-8D5E-A0F6-388448BE4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251" y="1553929"/>
            <a:ext cx="5281757" cy="3753438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4DF3A9E-534A-5F37-981E-0958C3A3A0C5}"/>
              </a:ext>
            </a:extLst>
          </p:cNvPr>
          <p:cNvSpPr txBox="1">
            <a:spLocks/>
          </p:cNvSpPr>
          <p:nvPr/>
        </p:nvSpPr>
        <p:spPr>
          <a:xfrm>
            <a:off x="504000" y="504000"/>
            <a:ext cx="10038493" cy="17900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rgbClr val="3D5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APL Monitoring System</a:t>
            </a:r>
            <a:endParaRPr lang="en-AU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1437D-854D-44D6-85EA-C445ED2BB763}"/>
              </a:ext>
            </a:extLst>
          </p:cNvPr>
          <p:cNvSpPr txBox="1"/>
          <p:nvPr/>
        </p:nvSpPr>
        <p:spPr>
          <a:xfrm>
            <a:off x="504000" y="5588000"/>
            <a:ext cx="83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Link To: APL Monitoring Report Q1 2025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9022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8FF1-AEF1-12B5-AC4C-53F72E22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9AE8D-E87F-DFF1-CFA4-92AF7E5C1D00}"/>
              </a:ext>
            </a:extLst>
          </p:cNvPr>
          <p:cNvSpPr txBox="1"/>
          <p:nvPr/>
        </p:nvSpPr>
        <p:spPr>
          <a:xfrm>
            <a:off x="628072" y="605042"/>
            <a:ext cx="92135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chemeClr val="bg1"/>
                </a:solidFill>
              </a:rPr>
              <a:t>Communication: </a:t>
            </a:r>
          </a:p>
          <a:p>
            <a:r>
              <a:rPr lang="en-AU" sz="4000" b="1" dirty="0">
                <a:solidFill>
                  <a:schemeClr val="bg1"/>
                </a:solidFill>
              </a:rPr>
              <a:t>Supporting </a:t>
            </a:r>
            <a:r>
              <a:rPr lang="en-AU" sz="4000" b="1">
                <a:solidFill>
                  <a:schemeClr val="bg1"/>
                </a:solidFill>
              </a:rPr>
              <a:t>Client &amp; </a:t>
            </a:r>
            <a:r>
              <a:rPr lang="en-AU" sz="4000" b="1" dirty="0">
                <a:solidFill>
                  <a:schemeClr val="bg1"/>
                </a:solidFill>
              </a:rPr>
              <a:t>Adviser Journey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3831754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A108-9194-E137-0F47-BA29B35C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3B5D6-F4A0-A7E8-BFF5-DDE1B6951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A77237-3C84-3FCA-6B91-C71D629480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7142332"/>
              </p:ext>
            </p:extLst>
          </p:nvPr>
        </p:nvGraphicFramePr>
        <p:xfrm>
          <a:off x="460954" y="1031032"/>
          <a:ext cx="11227046" cy="5222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4BF4A93-524B-1366-B236-E94477F3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66477"/>
          </a:xfrm>
        </p:spPr>
        <p:txBody>
          <a:bodyPr/>
          <a:lstStyle/>
          <a:p>
            <a:r>
              <a:rPr lang="en-US" b="1" dirty="0"/>
              <a:t>Communication: Client </a:t>
            </a:r>
            <a:r>
              <a:rPr lang="en-US" b="1"/>
              <a:t>&amp; Adviser </a:t>
            </a:r>
            <a:r>
              <a:rPr lang="en-US" b="1" dirty="0"/>
              <a:t>Journey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659344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6DC2-AFB8-1AC6-2D1E-FED19D34A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6394C9E-6E47-A1CF-F8DD-E84C42F3C2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523509"/>
              </p:ext>
            </p:extLst>
          </p:nvPr>
        </p:nvGraphicFramePr>
        <p:xfrm>
          <a:off x="415348" y="1083243"/>
          <a:ext cx="11272651" cy="5222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B5D286C-3EC5-2B49-B154-A62E4912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866477"/>
          </a:xfrm>
        </p:spPr>
        <p:txBody>
          <a:bodyPr/>
          <a:lstStyle/>
          <a:p>
            <a:r>
              <a:rPr lang="en-US" b="1" dirty="0"/>
              <a:t>Communication: Client</a:t>
            </a:r>
            <a:r>
              <a:rPr lang="en-US" b="1"/>
              <a:t> &amp; Adviser</a:t>
            </a:r>
            <a:r>
              <a:rPr lang="en-US" b="1" dirty="0"/>
              <a:t> Journey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6003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CA5C-2A74-FE2D-3BFC-7303C97C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A010F-F663-A9DC-6791-7B4D65C9A5FC}"/>
              </a:ext>
            </a:extLst>
          </p:cNvPr>
          <p:cNvSpPr txBox="1"/>
          <p:nvPr/>
        </p:nvSpPr>
        <p:spPr>
          <a:xfrm>
            <a:off x="628072" y="60504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>
                <a:solidFill>
                  <a:schemeClr val="bg1"/>
                </a:solidFill>
              </a:rPr>
              <a:t>Appendix</a:t>
            </a:r>
            <a:endParaRPr lang="en-AU" sz="4000" b="1"/>
          </a:p>
        </p:txBody>
      </p:sp>
    </p:spTree>
    <p:extLst>
      <p:ext uri="{BB962C8B-B14F-4D97-AF65-F5344CB8AC3E}">
        <p14:creationId xmlns:p14="http://schemas.microsoft.com/office/powerpoint/2010/main" val="4217068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DCC2-1375-E986-1CC0-A6DBCA37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AF555-66F8-4B8C-E7F6-1DD9A659F9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A45E481-2F64-4555-7606-AB3E893A1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9580412"/>
              </p:ext>
            </p:extLst>
          </p:nvPr>
        </p:nvGraphicFramePr>
        <p:xfrm>
          <a:off x="430109" y="1168857"/>
          <a:ext cx="11183999" cy="4957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06A3CAF-9822-EEE3-E233-A68B82F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 dirty="0"/>
              <a:t>Governance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92076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F78B-F5CA-1493-4063-A5961CF1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7D646-034A-64DC-4D78-D2C8C275A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53C8509-1762-E13D-09F3-AAB2D04F78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34977"/>
              </p:ext>
            </p:extLst>
          </p:nvPr>
        </p:nvGraphicFramePr>
        <p:xfrm>
          <a:off x="464168" y="1160830"/>
          <a:ext cx="11183999" cy="4957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3BCF64D-6788-FC9A-180C-163A385B5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/>
              <a:t>Solutions</a:t>
            </a:r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2066964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04D3-8CEB-B55C-3563-FAB64A35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023B-F7E9-DAC9-A180-9AF2DCF3E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AFA3866-DC1A-2C7D-FA12-2A92B6888D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968699"/>
              </p:ext>
            </p:extLst>
          </p:nvPr>
        </p:nvGraphicFramePr>
        <p:xfrm>
          <a:off x="427800" y="1203549"/>
          <a:ext cx="11183999" cy="4957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6087AC5-E46E-8380-BD48-87E5E858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 dirty="0"/>
              <a:t>Consulting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650580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2ECF5-12E5-32DC-9B13-FB399DCB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7F8B8-0317-2501-EAA7-C28FE2AE0E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4000" y="6253193"/>
            <a:ext cx="381826" cy="201613"/>
          </a:xfrm>
        </p:spPr>
        <p:txBody>
          <a:bodyPr/>
          <a:lstStyle/>
          <a:p>
            <a:fld id="{C88128C6-A6A3-394B-86F9-39BAF5F56AAC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AAB02AD-3B78-9ACC-A31A-021D5342326A}"/>
              </a:ext>
            </a:extLst>
          </p:cNvPr>
          <p:cNvGraphicFramePr/>
          <p:nvPr/>
        </p:nvGraphicFramePr>
        <p:xfrm>
          <a:off x="427800" y="1203549"/>
          <a:ext cx="11183999" cy="536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50ED0CE-FE61-C943-E485-DBF83D5C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 dirty="0"/>
              <a:t>Trusted by Leading Institutions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440130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419E-C0FC-D423-FC68-19DA9743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6C49-EFB0-F1DF-605A-DB9F9BFCF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C76E92-7E44-5892-25E2-AF424880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363579"/>
            <a:ext cx="3496401" cy="48938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DCE8F7-7704-E961-56AD-36D8A1F3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811" y="1363579"/>
            <a:ext cx="3532164" cy="48938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CC88721-8380-4645-709D-27CE31EA1969}"/>
              </a:ext>
            </a:extLst>
          </p:cNvPr>
          <p:cNvSpPr txBox="1">
            <a:spLocks/>
          </p:cNvSpPr>
          <p:nvPr/>
        </p:nvSpPr>
        <p:spPr>
          <a:xfrm>
            <a:off x="504000" y="504001"/>
            <a:ext cx="10298679" cy="6874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rgbClr val="3D555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Monthly Indices &amp; Market Update </a:t>
            </a:r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3835501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444E-F04D-85E4-6A91-823C33D4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9F9A9-C367-F99A-504A-53A791524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8128C6-A6A3-394B-86F9-39BAF5F56AAC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06132-957C-2F02-5DF6-F4757E1F6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7" t="20902" r="2893" b="5629"/>
          <a:stretch>
            <a:fillRect/>
          </a:stretch>
        </p:blipFill>
        <p:spPr>
          <a:xfrm>
            <a:off x="455874" y="1704884"/>
            <a:ext cx="8771706" cy="47541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9325EA9-C5BB-17DC-241E-C527F1CC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04000"/>
            <a:ext cx="10298679" cy="1318155"/>
          </a:xfrm>
        </p:spPr>
        <p:txBody>
          <a:bodyPr/>
          <a:lstStyle/>
          <a:p>
            <a:r>
              <a:rPr lang="en-US" b="1" dirty="0"/>
              <a:t>Semi-Liquid Strategy</a:t>
            </a:r>
            <a:endParaRPr lang="en-AU" b="1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0271342C-D5D0-9B88-CC42-27243AD2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200233"/>
            <a:ext cx="10773600" cy="1469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Quarterly – Annual liquidity. May include private equity, venture capital, real assets, hedge funds. 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76687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D51662-FEAB-80C7-82DA-8EB2DD1154C0}"/>
              </a:ext>
            </a:extLst>
          </p:cNvPr>
          <p:cNvSpPr txBox="1"/>
          <p:nvPr/>
        </p:nvSpPr>
        <p:spPr>
          <a:xfrm>
            <a:off x="363793" y="5164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u="sng" dirty="0">
                <a:solidFill>
                  <a:srgbClr val="3D555E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2"/>
              </a:rPr>
              <a:t>Atchison - Adviser Materials</a:t>
            </a:r>
            <a:endParaRPr lang="en-A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621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6">
      <a:dk1>
        <a:srgbClr val="3D545E"/>
      </a:dk1>
      <a:lt1>
        <a:srgbClr val="FFFFFF"/>
      </a:lt1>
      <a:dk2>
        <a:srgbClr val="63777E"/>
      </a:dk2>
      <a:lt2>
        <a:srgbClr val="D7DDDE"/>
      </a:lt2>
      <a:accent1>
        <a:srgbClr val="A8F436"/>
      </a:accent1>
      <a:accent2>
        <a:srgbClr val="F17C11"/>
      </a:accent2>
      <a:accent3>
        <a:srgbClr val="8A999D"/>
      </a:accent3>
      <a:accent4>
        <a:srgbClr val="77DEF7"/>
      </a:accent4>
      <a:accent5>
        <a:srgbClr val="1DC8F1"/>
      </a:accent5>
      <a:accent6>
        <a:srgbClr val="75C104"/>
      </a:accent6>
      <a:hlink>
        <a:srgbClr val="75C104"/>
      </a:hlink>
      <a:folHlink>
        <a:srgbClr val="C1630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789f30-979e-497b-8344-faefb3987540" xsi:nil="true"/>
    <lcf76f155ced4ddcb4097134ff3c332f xmlns="df76e320-99cb-4a11-b59f-8bf32867ab7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6577D0C3AE724BBB504F46D5A19401" ma:contentTypeVersion="18" ma:contentTypeDescription="Create a new document." ma:contentTypeScope="" ma:versionID="17afb16e0fbe716d3dcf2481b32b5550">
  <xsd:schema xmlns:xsd="http://www.w3.org/2001/XMLSchema" xmlns:xs="http://www.w3.org/2001/XMLSchema" xmlns:p="http://schemas.microsoft.com/office/2006/metadata/properties" xmlns:ns2="df76e320-99cb-4a11-b59f-8bf32867ab70" xmlns:ns3="c0789f30-979e-497b-8344-faefb3987540" targetNamespace="http://schemas.microsoft.com/office/2006/metadata/properties" ma:root="true" ma:fieldsID="f6d0bb8d4e6a5d6b988ea2ed2503dbb5" ns2:_="" ns3:_="">
    <xsd:import namespace="df76e320-99cb-4a11-b59f-8bf32867ab70"/>
    <xsd:import namespace="c0789f30-979e-497b-8344-faefb3987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6e320-99cb-4a11-b59f-8bf32867ab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ea5f6a7-5373-4784-9cd5-4ca8be386d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89f30-979e-497b-8344-faefb3987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1100522-260f-4f17-9a31-47a12622b1e0}" ma:internalName="TaxCatchAll" ma:showField="CatchAllData" ma:web="c0789f30-979e-497b-8344-faefb3987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CE86D-0326-42B9-8174-542E4344D1C0}">
  <ds:schemaRefs>
    <ds:schemaRef ds:uri="7be5c8de-27e5-4a53-9210-c636e1ab15e0"/>
    <ds:schemaRef ds:uri="b7ee071c-2402-4c83-9d71-fbc907334932"/>
    <ds:schemaRef ds:uri="c0789f30-979e-497b-8344-faefb3987540"/>
    <ds:schemaRef ds:uri="df76e320-99cb-4a11-b59f-8bf32867ab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4026468-0DB9-4085-9D0C-F371E8E140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76e320-99cb-4a11-b59f-8bf32867ab70"/>
    <ds:schemaRef ds:uri="c0789f30-979e-497b-8344-faefb3987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1396F9-6F99-4A89-BC43-48935BB13B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AtchisonTheme</Template>
  <TotalTime>2168</TotalTime>
  <Words>2211</Words>
  <Application>Microsoft Office PowerPoint</Application>
  <PresentationFormat>Widescreen</PresentationFormat>
  <Paragraphs>330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Calibri</vt:lpstr>
      <vt:lpstr>Wingdings</vt:lpstr>
      <vt:lpstr>Office Theme</vt:lpstr>
      <vt:lpstr>Atchison  Presentation to KeyInvest Management Committee</vt:lpstr>
      <vt:lpstr>Atchison</vt:lpstr>
      <vt:lpstr>Atchison – Value-add and Differentiation</vt:lpstr>
      <vt:lpstr>Our Team</vt:lpstr>
      <vt:lpstr>Planned Outcomes &amp; Priorities</vt:lpstr>
      <vt:lpstr>CIO Functions  </vt:lpstr>
      <vt:lpstr>Direct Loan Portfolio</vt:lpstr>
      <vt:lpstr>KIMI Project</vt:lpstr>
      <vt:lpstr>Example </vt:lpstr>
      <vt:lpstr>PowerPoint Presentation</vt:lpstr>
      <vt:lpstr>Investment Framework</vt:lpstr>
      <vt:lpstr>Active &amp; Dynamic  ETF SMAs</vt:lpstr>
      <vt:lpstr>Individual Asset Class Sleeves</vt:lpstr>
      <vt:lpstr>PowerPoint Presentation</vt:lpstr>
      <vt:lpstr>Atchison’s Guiding Lights</vt:lpstr>
      <vt:lpstr>Atchison’s Investment Process</vt:lpstr>
      <vt:lpstr>Atchison SMA: Top-Down Design</vt:lpstr>
      <vt:lpstr>Top-Down: Long Term Forecasts</vt:lpstr>
      <vt:lpstr>Top-Down: Objectives, Portfolio Optimisation &amp; Stress Testing</vt:lpstr>
      <vt:lpstr>Top-Down: Tactical Asset Allocation (TAA)</vt:lpstr>
      <vt:lpstr>Atchison SMA: Bottom-Up Design</vt:lpstr>
      <vt:lpstr>PowerPoint Presentation</vt:lpstr>
      <vt:lpstr>Atchison SMA: Portfolio Construction</vt:lpstr>
      <vt:lpstr>PowerPoint Presentation</vt:lpstr>
      <vt:lpstr>PowerPoint Presentation</vt:lpstr>
      <vt:lpstr>Communication: Client &amp; Adviser Journey</vt:lpstr>
      <vt:lpstr>Communication: Client &amp; Adviser Journey</vt:lpstr>
      <vt:lpstr>PowerPoint Presentation</vt:lpstr>
      <vt:lpstr>Governance</vt:lpstr>
      <vt:lpstr>Solutions</vt:lpstr>
      <vt:lpstr>Consulting</vt:lpstr>
      <vt:lpstr>Trusted by Leading Institutions</vt:lpstr>
      <vt:lpstr>PowerPoint Presentation</vt:lpstr>
      <vt:lpstr>Semi-Liquid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Tucker</dc:creator>
  <cp:lastModifiedBy>Kevin Toohey</cp:lastModifiedBy>
  <cp:revision>4</cp:revision>
  <cp:lastPrinted>2025-06-24T00:54:36Z</cp:lastPrinted>
  <dcterms:created xsi:type="dcterms:W3CDTF">2022-03-27T23:04:02Z</dcterms:created>
  <dcterms:modified xsi:type="dcterms:W3CDTF">2025-07-08T05:44:41Z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0x0101005C6577D0C3AE724BBB504F46D5A19401</vt:lpwstr>
  </property>
  <property fmtid="{D5CDD505-2E9C-101B-9397-08002B2CF9AE}" pid="3" name="MediaServiceImageTags">
    <vt:lpwstr/>
  </property>
  <property fmtid="{D5CDD505-2E9C-101B-9397-08002B2CF9AE}" pid="4" name="_dlc_DocIdItemGuid">
    <vt:lpwstr>0653f337-cf42-433c-b027-c7e1fed1f07f</vt:lpwstr>
  </property>
</Properties>
</file>